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8"/>
  </p:notesMasterIdLst>
  <p:handoutMasterIdLst>
    <p:handoutMasterId r:id="rId29"/>
  </p:handoutMasterIdLst>
  <p:sldIdLst>
    <p:sldId id="267" r:id="rId5"/>
    <p:sldId id="282" r:id="rId6"/>
    <p:sldId id="280" r:id="rId7"/>
    <p:sldId id="270" r:id="rId8"/>
    <p:sldId id="258" r:id="rId9"/>
    <p:sldId id="261" r:id="rId10"/>
    <p:sldId id="262" r:id="rId11"/>
    <p:sldId id="272" r:id="rId12"/>
    <p:sldId id="273" r:id="rId13"/>
    <p:sldId id="287" r:id="rId14"/>
    <p:sldId id="277" r:id="rId15"/>
    <p:sldId id="276" r:id="rId16"/>
    <p:sldId id="283" r:id="rId17"/>
    <p:sldId id="265" r:id="rId18"/>
    <p:sldId id="281" r:id="rId19"/>
    <p:sldId id="284" r:id="rId20"/>
    <p:sldId id="285" r:id="rId21"/>
    <p:sldId id="278" r:id="rId22"/>
    <p:sldId id="279" r:id="rId23"/>
    <p:sldId id="274" r:id="rId24"/>
    <p:sldId id="286" r:id="rId25"/>
    <p:sldId id="271" r:id="rId26"/>
    <p:sldId id="2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E355E"/>
    <a:srgbClr val="F5B535"/>
    <a:srgbClr val="73CF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503AC6-CD83-F843-4AF3-9BFC99C47947}" v="1041" dt="2026-04-17T17:26:51.1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C79414-BBB1-44E4-83D7-8C59E63A8098}"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en-US"/>
        </a:p>
      </dgm:t>
    </dgm:pt>
    <dgm:pt modelId="{B26ECCEB-45B3-4DE0-AAEF-B7F8C5B5C760}">
      <dgm:prSet phldrT="[Text]" phldr="0" custT="1"/>
      <dgm:spPr/>
      <dgm:t>
        <a:bodyPr/>
        <a:lstStyle/>
        <a:p>
          <a:r>
            <a:rPr lang="en-US" sz="2400" b="1"/>
            <a:t>UW Rules</a:t>
          </a:r>
        </a:p>
      </dgm:t>
    </dgm:pt>
    <dgm:pt modelId="{7F9BEBCC-F014-4760-B4D7-38D202AFA636}" type="parTrans" cxnId="{47AE7701-79B2-4819-9517-40C912897C09}">
      <dgm:prSet/>
      <dgm:spPr/>
      <dgm:t>
        <a:bodyPr/>
        <a:lstStyle/>
        <a:p>
          <a:endParaRPr lang="en-US"/>
        </a:p>
      </dgm:t>
    </dgm:pt>
    <dgm:pt modelId="{B94BD77C-4F5A-412F-82B4-689AC1E44652}" type="sibTrans" cxnId="{47AE7701-79B2-4819-9517-40C912897C09}">
      <dgm:prSet/>
      <dgm:spPr/>
      <dgm:t>
        <a:bodyPr/>
        <a:lstStyle/>
        <a:p>
          <a:endParaRPr lang="en-US"/>
        </a:p>
      </dgm:t>
    </dgm:pt>
    <dgm:pt modelId="{741722C4-F77A-4DBA-8BF6-5A5C8994C6D7}">
      <dgm:prSet phldrT="[Text]" phldr="0" custT="1"/>
      <dgm:spPr/>
      <dgm:t>
        <a:bodyPr/>
        <a:lstStyle/>
        <a:p>
          <a:r>
            <a:rPr lang="en-US" sz="2400" b="1"/>
            <a:t>Referrals</a:t>
          </a:r>
        </a:p>
        <a:p>
          <a:r>
            <a:rPr lang="en-US" sz="1200" i="1"/>
            <a:t>Requires an UW referral and approval to proceed</a:t>
          </a:r>
        </a:p>
      </dgm:t>
    </dgm:pt>
    <dgm:pt modelId="{CE30ADDB-295F-4C6D-9A54-C20A9CD9C80B}" type="parTrans" cxnId="{E5447A9D-C637-47DA-B545-C1C1D71AEF63}">
      <dgm:prSet/>
      <dgm:spPr/>
      <dgm:t>
        <a:bodyPr/>
        <a:lstStyle/>
        <a:p>
          <a:endParaRPr lang="en-US"/>
        </a:p>
      </dgm:t>
    </dgm:pt>
    <dgm:pt modelId="{680F03A1-6600-49CE-AD33-46F944E024B4}" type="sibTrans" cxnId="{E5447A9D-C637-47DA-B545-C1C1D71AEF63}">
      <dgm:prSet/>
      <dgm:spPr/>
      <dgm:t>
        <a:bodyPr/>
        <a:lstStyle/>
        <a:p>
          <a:endParaRPr lang="en-US"/>
        </a:p>
      </dgm:t>
    </dgm:pt>
    <dgm:pt modelId="{57C43DEF-4A3C-4668-9E2C-D0743EFE12FE}">
      <dgm:prSet phldrT="[Text]" phldr="0" custT="1"/>
      <dgm:spPr/>
      <dgm:t>
        <a:bodyPr/>
        <a:lstStyle/>
        <a:p>
          <a:r>
            <a:rPr lang="en-US" sz="2400" b="1"/>
            <a:t>Hard Stop</a:t>
          </a:r>
        </a:p>
        <a:p>
          <a:r>
            <a:rPr lang="en-US" sz="1200" i="1"/>
            <a:t>Requires user to resolve the message, to proceed</a:t>
          </a:r>
        </a:p>
      </dgm:t>
    </dgm:pt>
    <dgm:pt modelId="{70279581-1295-4EB3-8BAF-6D64633BDDF7}" type="parTrans" cxnId="{32FAECED-7100-4688-B760-2754A5B12C78}">
      <dgm:prSet/>
      <dgm:spPr/>
      <dgm:t>
        <a:bodyPr/>
        <a:lstStyle/>
        <a:p>
          <a:endParaRPr lang="en-US"/>
        </a:p>
      </dgm:t>
    </dgm:pt>
    <dgm:pt modelId="{6F2769D3-08B1-4152-AEDF-41A45096ACC4}" type="sibTrans" cxnId="{32FAECED-7100-4688-B760-2754A5B12C78}">
      <dgm:prSet/>
      <dgm:spPr/>
      <dgm:t>
        <a:bodyPr/>
        <a:lstStyle/>
        <a:p>
          <a:endParaRPr lang="en-US"/>
        </a:p>
      </dgm:t>
    </dgm:pt>
    <dgm:pt modelId="{A0E1ED87-1178-4743-9DCA-B3C3F1606472}">
      <dgm:prSet phldrT="[Text]" phldr="0" custT="1"/>
      <dgm:spPr/>
      <dgm:t>
        <a:bodyPr/>
        <a:lstStyle/>
        <a:p>
          <a:r>
            <a:rPr lang="en-US" sz="2400" b="1"/>
            <a:t>Informational</a:t>
          </a:r>
        </a:p>
        <a:p>
          <a:r>
            <a:rPr lang="en-US" sz="1200" i="1"/>
            <a:t>Does not require the user to address the message, for information only</a:t>
          </a:r>
        </a:p>
      </dgm:t>
    </dgm:pt>
    <dgm:pt modelId="{C29B0CB9-6858-4A00-BD33-145A1A73C14C}" type="parTrans" cxnId="{1245F94A-56FA-4C21-ADAD-2825C244DA06}">
      <dgm:prSet/>
      <dgm:spPr/>
      <dgm:t>
        <a:bodyPr/>
        <a:lstStyle/>
        <a:p>
          <a:endParaRPr lang="en-US"/>
        </a:p>
      </dgm:t>
    </dgm:pt>
    <dgm:pt modelId="{4FCC6462-A75A-4EC4-B30B-61120565AEAA}" type="sibTrans" cxnId="{1245F94A-56FA-4C21-ADAD-2825C244DA06}">
      <dgm:prSet/>
      <dgm:spPr/>
      <dgm:t>
        <a:bodyPr/>
        <a:lstStyle/>
        <a:p>
          <a:endParaRPr lang="en-US"/>
        </a:p>
      </dgm:t>
    </dgm:pt>
    <dgm:pt modelId="{8D7171E0-85E0-47DB-BAFF-4FF7F1822BB2}">
      <dgm:prSet phldrT="[Text]" phldr="0" custT="1"/>
      <dgm:spPr/>
      <dgm:t>
        <a:bodyPr/>
        <a:lstStyle/>
        <a:p>
          <a:pPr>
            <a:buNone/>
          </a:pPr>
          <a:r>
            <a:rPr lang="en-US" sz="2400" b="1"/>
            <a:t>Existing referrals</a:t>
          </a:r>
        </a:p>
        <a:p>
          <a:pPr>
            <a:buNone/>
          </a:pPr>
          <a:r>
            <a:rPr lang="en-US" sz="1200" i="1"/>
            <a:t>Applicable across multiple transactions – NB, REN, REW, END</a:t>
          </a:r>
        </a:p>
        <a:p>
          <a:pPr>
            <a:buNone/>
          </a:pPr>
          <a:r>
            <a:rPr lang="en-US" sz="1200" i="1"/>
            <a:t>Rule will not re-trigger, unless the approved conditions change</a:t>
          </a:r>
        </a:p>
      </dgm:t>
    </dgm:pt>
    <dgm:pt modelId="{A0B1FCD5-E534-4DFE-BB69-B887F75C4308}" type="parTrans" cxnId="{E2DCBE69-5F19-44B7-813D-1D01C3C9A570}">
      <dgm:prSet/>
      <dgm:spPr/>
      <dgm:t>
        <a:bodyPr/>
        <a:lstStyle/>
        <a:p>
          <a:endParaRPr lang="en-US"/>
        </a:p>
      </dgm:t>
    </dgm:pt>
    <dgm:pt modelId="{A45308E5-54A5-46C2-9308-A4C54AB3FCA8}" type="sibTrans" cxnId="{E2DCBE69-5F19-44B7-813D-1D01C3C9A570}">
      <dgm:prSet/>
      <dgm:spPr/>
      <dgm:t>
        <a:bodyPr/>
        <a:lstStyle/>
        <a:p>
          <a:endParaRPr lang="en-US"/>
        </a:p>
      </dgm:t>
    </dgm:pt>
    <dgm:pt modelId="{44048AFA-D5DF-4C4B-A76F-C59711DD12F3}">
      <dgm:prSet phldrT="[Text]" phldr="0" custT="1"/>
      <dgm:spPr/>
      <dgm:t>
        <a:bodyPr/>
        <a:lstStyle/>
        <a:p>
          <a:r>
            <a:rPr lang="en-US" sz="2400" b="1"/>
            <a:t>Automated REN UW rules</a:t>
          </a:r>
        </a:p>
        <a:p>
          <a:r>
            <a:rPr lang="en-US" sz="1200" i="1"/>
            <a:t>Applicable to REN transaction only</a:t>
          </a:r>
        </a:p>
        <a:p>
          <a:r>
            <a:rPr lang="en-US" sz="1200" i="1"/>
            <a:t>Rule will re-trigger every renewal, irrespective of prior term’s approval</a:t>
          </a:r>
        </a:p>
      </dgm:t>
    </dgm:pt>
    <dgm:pt modelId="{98A62288-03B7-47CD-856F-68067606A274}" type="parTrans" cxnId="{E5B4AF00-65BC-4A85-A89A-AD610C658AFC}">
      <dgm:prSet/>
      <dgm:spPr/>
      <dgm:t>
        <a:bodyPr/>
        <a:lstStyle/>
        <a:p>
          <a:endParaRPr lang="en-US"/>
        </a:p>
      </dgm:t>
    </dgm:pt>
    <dgm:pt modelId="{C6F386E8-A013-4411-91C5-297B9F93F8D3}" type="sibTrans" cxnId="{E5B4AF00-65BC-4A85-A89A-AD610C658AFC}">
      <dgm:prSet/>
      <dgm:spPr/>
    </dgm:pt>
    <dgm:pt modelId="{F3DB601B-A118-46EF-9D95-407D5D49CEC4}" type="pres">
      <dgm:prSet presAssocID="{07C79414-BBB1-44E4-83D7-8C59E63A8098}" presName="hierChild1" presStyleCnt="0">
        <dgm:presLayoutVars>
          <dgm:orgChart val="1"/>
          <dgm:chPref val="1"/>
          <dgm:dir/>
          <dgm:animOne val="branch"/>
          <dgm:animLvl val="lvl"/>
          <dgm:resizeHandles/>
        </dgm:presLayoutVars>
      </dgm:prSet>
      <dgm:spPr/>
    </dgm:pt>
    <dgm:pt modelId="{5E012778-398F-4B3E-A476-38AE0ED39E37}" type="pres">
      <dgm:prSet presAssocID="{B26ECCEB-45B3-4DE0-AAEF-B7F8C5B5C760}" presName="hierRoot1" presStyleCnt="0">
        <dgm:presLayoutVars>
          <dgm:hierBranch val="init"/>
        </dgm:presLayoutVars>
      </dgm:prSet>
      <dgm:spPr/>
    </dgm:pt>
    <dgm:pt modelId="{44EDC9A0-5847-4125-86B7-069D9E92D313}" type="pres">
      <dgm:prSet presAssocID="{B26ECCEB-45B3-4DE0-AAEF-B7F8C5B5C760}" presName="rootComposite1" presStyleCnt="0"/>
      <dgm:spPr/>
    </dgm:pt>
    <dgm:pt modelId="{73294046-5995-4768-A823-E952999145C1}" type="pres">
      <dgm:prSet presAssocID="{B26ECCEB-45B3-4DE0-AAEF-B7F8C5B5C760}" presName="rootText1" presStyleLbl="node0" presStyleIdx="0" presStyleCnt="1" custScaleY="140039">
        <dgm:presLayoutVars>
          <dgm:chPref val="3"/>
        </dgm:presLayoutVars>
      </dgm:prSet>
      <dgm:spPr/>
    </dgm:pt>
    <dgm:pt modelId="{A8FFA07B-02A6-4D76-9C5D-DC3CEC345C34}" type="pres">
      <dgm:prSet presAssocID="{B26ECCEB-45B3-4DE0-AAEF-B7F8C5B5C760}" presName="rootConnector1" presStyleLbl="node1" presStyleIdx="0" presStyleCnt="0"/>
      <dgm:spPr/>
    </dgm:pt>
    <dgm:pt modelId="{D3A6C826-F0CE-43DE-8F17-A151905BFCC9}" type="pres">
      <dgm:prSet presAssocID="{B26ECCEB-45B3-4DE0-AAEF-B7F8C5B5C760}" presName="hierChild2" presStyleCnt="0"/>
      <dgm:spPr/>
    </dgm:pt>
    <dgm:pt modelId="{292BFCDF-A792-4179-AE80-B672B28C1D37}" type="pres">
      <dgm:prSet presAssocID="{CE30ADDB-295F-4C6D-9A54-C20A9CD9C80B}" presName="Name64" presStyleLbl="parChTrans1D2" presStyleIdx="0" presStyleCnt="3"/>
      <dgm:spPr/>
    </dgm:pt>
    <dgm:pt modelId="{A90A92C0-5596-495E-8B6A-859127403A91}" type="pres">
      <dgm:prSet presAssocID="{741722C4-F77A-4DBA-8BF6-5A5C8994C6D7}" presName="hierRoot2" presStyleCnt="0">
        <dgm:presLayoutVars>
          <dgm:hierBranch val="init"/>
        </dgm:presLayoutVars>
      </dgm:prSet>
      <dgm:spPr/>
    </dgm:pt>
    <dgm:pt modelId="{EF7609E1-6B2E-44CC-8F5B-BB635AC3DC0A}" type="pres">
      <dgm:prSet presAssocID="{741722C4-F77A-4DBA-8BF6-5A5C8994C6D7}" presName="rootComposite" presStyleCnt="0"/>
      <dgm:spPr/>
    </dgm:pt>
    <dgm:pt modelId="{C3F6A5C6-117F-480D-8686-EA2830472BE5}" type="pres">
      <dgm:prSet presAssocID="{741722C4-F77A-4DBA-8BF6-5A5C8994C6D7}" presName="rootText" presStyleLbl="node2" presStyleIdx="0" presStyleCnt="3" custScaleY="135822">
        <dgm:presLayoutVars>
          <dgm:chPref val="3"/>
        </dgm:presLayoutVars>
      </dgm:prSet>
      <dgm:spPr/>
    </dgm:pt>
    <dgm:pt modelId="{7C10C16F-B8E7-477E-BBA9-A7264D93C8E4}" type="pres">
      <dgm:prSet presAssocID="{741722C4-F77A-4DBA-8BF6-5A5C8994C6D7}" presName="rootConnector" presStyleLbl="node2" presStyleIdx="0" presStyleCnt="3"/>
      <dgm:spPr/>
    </dgm:pt>
    <dgm:pt modelId="{A7CD225D-9D90-4F3D-9718-208229691A29}" type="pres">
      <dgm:prSet presAssocID="{741722C4-F77A-4DBA-8BF6-5A5C8994C6D7}" presName="hierChild4" presStyleCnt="0"/>
      <dgm:spPr/>
    </dgm:pt>
    <dgm:pt modelId="{14D90749-F73F-40B0-B420-085BC9A654EF}" type="pres">
      <dgm:prSet presAssocID="{A0B1FCD5-E534-4DFE-BB69-B887F75C4308}" presName="Name64" presStyleLbl="parChTrans1D3" presStyleIdx="0" presStyleCnt="2"/>
      <dgm:spPr/>
    </dgm:pt>
    <dgm:pt modelId="{3A5A7C47-1F8F-448D-AF8E-31DEAF1E8678}" type="pres">
      <dgm:prSet presAssocID="{8D7171E0-85E0-47DB-BAFF-4FF7F1822BB2}" presName="hierRoot2" presStyleCnt="0">
        <dgm:presLayoutVars>
          <dgm:hierBranch val="init"/>
        </dgm:presLayoutVars>
      </dgm:prSet>
      <dgm:spPr/>
    </dgm:pt>
    <dgm:pt modelId="{DB8F2456-53CD-4FA5-8C4F-E2C3FF2C88AF}" type="pres">
      <dgm:prSet presAssocID="{8D7171E0-85E0-47DB-BAFF-4FF7F1822BB2}" presName="rootComposite" presStyleCnt="0"/>
      <dgm:spPr/>
    </dgm:pt>
    <dgm:pt modelId="{DD7E1BE3-7642-4C2B-8F5D-9C7A0C94D365}" type="pres">
      <dgm:prSet presAssocID="{8D7171E0-85E0-47DB-BAFF-4FF7F1822BB2}" presName="rootText" presStyleLbl="node3" presStyleIdx="0" presStyleCnt="2" custScaleX="113667" custScaleY="136080">
        <dgm:presLayoutVars>
          <dgm:chPref val="3"/>
        </dgm:presLayoutVars>
      </dgm:prSet>
      <dgm:spPr/>
    </dgm:pt>
    <dgm:pt modelId="{D6467BA5-0C91-4D20-ACE0-3B6F7DBBF906}" type="pres">
      <dgm:prSet presAssocID="{8D7171E0-85E0-47DB-BAFF-4FF7F1822BB2}" presName="rootConnector" presStyleLbl="node3" presStyleIdx="0" presStyleCnt="2"/>
      <dgm:spPr/>
    </dgm:pt>
    <dgm:pt modelId="{9FDB90F5-C182-4922-A550-2AB0601A12E4}" type="pres">
      <dgm:prSet presAssocID="{8D7171E0-85E0-47DB-BAFF-4FF7F1822BB2}" presName="hierChild4" presStyleCnt="0"/>
      <dgm:spPr/>
    </dgm:pt>
    <dgm:pt modelId="{AB24955C-F4FC-4329-B751-16D7AA834E0D}" type="pres">
      <dgm:prSet presAssocID="{8D7171E0-85E0-47DB-BAFF-4FF7F1822BB2}" presName="hierChild5" presStyleCnt="0"/>
      <dgm:spPr/>
    </dgm:pt>
    <dgm:pt modelId="{9A02E214-75EC-40F7-8816-3F31E8642AB2}" type="pres">
      <dgm:prSet presAssocID="{98A62288-03B7-47CD-856F-68067606A274}" presName="Name64" presStyleLbl="parChTrans1D3" presStyleIdx="1" presStyleCnt="2"/>
      <dgm:spPr/>
    </dgm:pt>
    <dgm:pt modelId="{41521534-7D86-4A0C-9C01-33DBF3A7E11F}" type="pres">
      <dgm:prSet presAssocID="{44048AFA-D5DF-4C4B-A76F-C59711DD12F3}" presName="hierRoot2" presStyleCnt="0">
        <dgm:presLayoutVars>
          <dgm:hierBranch val="init"/>
        </dgm:presLayoutVars>
      </dgm:prSet>
      <dgm:spPr/>
    </dgm:pt>
    <dgm:pt modelId="{E9E4DF58-2A7F-4BB8-86F5-5375EAE932B9}" type="pres">
      <dgm:prSet presAssocID="{44048AFA-D5DF-4C4B-A76F-C59711DD12F3}" presName="rootComposite" presStyleCnt="0"/>
      <dgm:spPr/>
    </dgm:pt>
    <dgm:pt modelId="{B8491503-2397-4803-AF0E-13B56B2986ED}" type="pres">
      <dgm:prSet presAssocID="{44048AFA-D5DF-4C4B-A76F-C59711DD12F3}" presName="rootText" presStyleLbl="node3" presStyleIdx="1" presStyleCnt="2" custScaleX="113773" custScaleY="135676">
        <dgm:presLayoutVars>
          <dgm:chPref val="3"/>
        </dgm:presLayoutVars>
      </dgm:prSet>
      <dgm:spPr/>
    </dgm:pt>
    <dgm:pt modelId="{001676B9-FBB8-436D-9657-422B05AC9944}" type="pres">
      <dgm:prSet presAssocID="{44048AFA-D5DF-4C4B-A76F-C59711DD12F3}" presName="rootConnector" presStyleLbl="node3" presStyleIdx="1" presStyleCnt="2"/>
      <dgm:spPr/>
    </dgm:pt>
    <dgm:pt modelId="{0C82A754-1BD4-415D-9933-933FA998F13A}" type="pres">
      <dgm:prSet presAssocID="{44048AFA-D5DF-4C4B-A76F-C59711DD12F3}" presName="hierChild4" presStyleCnt="0"/>
      <dgm:spPr/>
    </dgm:pt>
    <dgm:pt modelId="{5891CF07-ABB1-4987-BA5F-2976A7EDB813}" type="pres">
      <dgm:prSet presAssocID="{44048AFA-D5DF-4C4B-A76F-C59711DD12F3}" presName="hierChild5" presStyleCnt="0"/>
      <dgm:spPr/>
    </dgm:pt>
    <dgm:pt modelId="{5A515CD6-559D-4A86-A98B-855F9A7253C0}" type="pres">
      <dgm:prSet presAssocID="{741722C4-F77A-4DBA-8BF6-5A5C8994C6D7}" presName="hierChild5" presStyleCnt="0"/>
      <dgm:spPr/>
    </dgm:pt>
    <dgm:pt modelId="{A1C98753-8FC1-41BF-9D68-7703C8167B5F}" type="pres">
      <dgm:prSet presAssocID="{70279581-1295-4EB3-8BAF-6D64633BDDF7}" presName="Name64" presStyleLbl="parChTrans1D2" presStyleIdx="1" presStyleCnt="3"/>
      <dgm:spPr/>
    </dgm:pt>
    <dgm:pt modelId="{517B7EB3-9F0E-4DDC-93CD-7CF8E63D95D1}" type="pres">
      <dgm:prSet presAssocID="{57C43DEF-4A3C-4668-9E2C-D0743EFE12FE}" presName="hierRoot2" presStyleCnt="0">
        <dgm:presLayoutVars>
          <dgm:hierBranch val="init"/>
        </dgm:presLayoutVars>
      </dgm:prSet>
      <dgm:spPr/>
    </dgm:pt>
    <dgm:pt modelId="{7C28946C-984D-4AD1-9B97-1E964753D162}" type="pres">
      <dgm:prSet presAssocID="{57C43DEF-4A3C-4668-9E2C-D0743EFE12FE}" presName="rootComposite" presStyleCnt="0"/>
      <dgm:spPr/>
    </dgm:pt>
    <dgm:pt modelId="{178735FE-C517-4093-BF38-71837CE9E112}" type="pres">
      <dgm:prSet presAssocID="{57C43DEF-4A3C-4668-9E2C-D0743EFE12FE}" presName="rootText" presStyleLbl="node2" presStyleIdx="1" presStyleCnt="3" custScaleY="135822">
        <dgm:presLayoutVars>
          <dgm:chPref val="3"/>
        </dgm:presLayoutVars>
      </dgm:prSet>
      <dgm:spPr/>
    </dgm:pt>
    <dgm:pt modelId="{12D16208-4293-4887-A451-CDE5CF1397D8}" type="pres">
      <dgm:prSet presAssocID="{57C43DEF-4A3C-4668-9E2C-D0743EFE12FE}" presName="rootConnector" presStyleLbl="node2" presStyleIdx="1" presStyleCnt="3"/>
      <dgm:spPr/>
    </dgm:pt>
    <dgm:pt modelId="{C9DCF1C0-520F-4554-8206-E3D2F3AEBC6E}" type="pres">
      <dgm:prSet presAssocID="{57C43DEF-4A3C-4668-9E2C-D0743EFE12FE}" presName="hierChild4" presStyleCnt="0"/>
      <dgm:spPr/>
    </dgm:pt>
    <dgm:pt modelId="{CD4E3B2B-8214-4632-8211-73F1E26FA381}" type="pres">
      <dgm:prSet presAssocID="{57C43DEF-4A3C-4668-9E2C-D0743EFE12FE}" presName="hierChild5" presStyleCnt="0"/>
      <dgm:spPr/>
    </dgm:pt>
    <dgm:pt modelId="{95E38CF1-1D06-4D71-98EA-67ADBC6640E6}" type="pres">
      <dgm:prSet presAssocID="{C29B0CB9-6858-4A00-BD33-145A1A73C14C}" presName="Name64" presStyleLbl="parChTrans1D2" presStyleIdx="2" presStyleCnt="3"/>
      <dgm:spPr/>
    </dgm:pt>
    <dgm:pt modelId="{0158E7D8-2B34-4EE7-AA1D-B0FB87D3685A}" type="pres">
      <dgm:prSet presAssocID="{A0E1ED87-1178-4743-9DCA-B3C3F1606472}" presName="hierRoot2" presStyleCnt="0">
        <dgm:presLayoutVars>
          <dgm:hierBranch val="init"/>
        </dgm:presLayoutVars>
      </dgm:prSet>
      <dgm:spPr/>
    </dgm:pt>
    <dgm:pt modelId="{A049F2CB-6D5C-437F-A330-2A257B20C6F2}" type="pres">
      <dgm:prSet presAssocID="{A0E1ED87-1178-4743-9DCA-B3C3F1606472}" presName="rootComposite" presStyleCnt="0"/>
      <dgm:spPr/>
    </dgm:pt>
    <dgm:pt modelId="{D3A27648-256C-4A0B-BFF0-C73967DF081D}" type="pres">
      <dgm:prSet presAssocID="{A0E1ED87-1178-4743-9DCA-B3C3F1606472}" presName="rootText" presStyleLbl="node2" presStyleIdx="2" presStyleCnt="3" custScaleY="135822">
        <dgm:presLayoutVars>
          <dgm:chPref val="3"/>
        </dgm:presLayoutVars>
      </dgm:prSet>
      <dgm:spPr/>
    </dgm:pt>
    <dgm:pt modelId="{74AB92C4-F795-425A-9218-322322815E8B}" type="pres">
      <dgm:prSet presAssocID="{A0E1ED87-1178-4743-9DCA-B3C3F1606472}" presName="rootConnector" presStyleLbl="node2" presStyleIdx="2" presStyleCnt="3"/>
      <dgm:spPr/>
    </dgm:pt>
    <dgm:pt modelId="{4E9F0C9B-43BB-46F2-A891-9E4F7EE0A2A7}" type="pres">
      <dgm:prSet presAssocID="{A0E1ED87-1178-4743-9DCA-B3C3F1606472}" presName="hierChild4" presStyleCnt="0"/>
      <dgm:spPr/>
    </dgm:pt>
    <dgm:pt modelId="{4F468FFE-5AB3-4C28-B7E7-C5F81E0301C2}" type="pres">
      <dgm:prSet presAssocID="{A0E1ED87-1178-4743-9DCA-B3C3F1606472}" presName="hierChild5" presStyleCnt="0"/>
      <dgm:spPr/>
    </dgm:pt>
    <dgm:pt modelId="{324FE9A3-E51B-473B-B04A-5F2780B83E39}" type="pres">
      <dgm:prSet presAssocID="{B26ECCEB-45B3-4DE0-AAEF-B7F8C5B5C760}" presName="hierChild3" presStyleCnt="0"/>
      <dgm:spPr/>
    </dgm:pt>
  </dgm:ptLst>
  <dgm:cxnLst>
    <dgm:cxn modelId="{E5B4AF00-65BC-4A85-A89A-AD610C658AFC}" srcId="{741722C4-F77A-4DBA-8BF6-5A5C8994C6D7}" destId="{44048AFA-D5DF-4C4B-A76F-C59711DD12F3}" srcOrd="1" destOrd="0" parTransId="{98A62288-03B7-47CD-856F-68067606A274}" sibTransId="{C6F386E8-A013-4411-91C5-297B9F93F8D3}"/>
    <dgm:cxn modelId="{47AE7701-79B2-4819-9517-40C912897C09}" srcId="{07C79414-BBB1-44E4-83D7-8C59E63A8098}" destId="{B26ECCEB-45B3-4DE0-AAEF-B7F8C5B5C760}" srcOrd="0" destOrd="0" parTransId="{7F9BEBCC-F014-4760-B4D7-38D202AFA636}" sibTransId="{B94BD77C-4F5A-412F-82B4-689AC1E44652}"/>
    <dgm:cxn modelId="{68D05215-47C3-4375-8E03-BE97F70FFBA9}" type="presOf" srcId="{A0E1ED87-1178-4743-9DCA-B3C3F1606472}" destId="{D3A27648-256C-4A0B-BFF0-C73967DF081D}" srcOrd="0" destOrd="0" presId="urn:microsoft.com/office/officeart/2009/3/layout/HorizontalOrganizationChart"/>
    <dgm:cxn modelId="{196D8A3B-BFFD-4F7A-A5DE-78218A6ABC6D}" type="presOf" srcId="{44048AFA-D5DF-4C4B-A76F-C59711DD12F3}" destId="{001676B9-FBB8-436D-9657-422B05AC9944}" srcOrd="1" destOrd="0" presId="urn:microsoft.com/office/officeart/2009/3/layout/HorizontalOrganizationChart"/>
    <dgm:cxn modelId="{B6ACC144-2C32-4CD6-AB29-2A58219EC3A5}" type="presOf" srcId="{44048AFA-D5DF-4C4B-A76F-C59711DD12F3}" destId="{B8491503-2397-4803-AF0E-13B56B2986ED}" srcOrd="0" destOrd="0" presId="urn:microsoft.com/office/officeart/2009/3/layout/HorizontalOrganizationChart"/>
    <dgm:cxn modelId="{E2DCBE69-5F19-44B7-813D-1D01C3C9A570}" srcId="{741722C4-F77A-4DBA-8BF6-5A5C8994C6D7}" destId="{8D7171E0-85E0-47DB-BAFF-4FF7F1822BB2}" srcOrd="0" destOrd="0" parTransId="{A0B1FCD5-E534-4DFE-BB69-B887F75C4308}" sibTransId="{A45308E5-54A5-46C2-9308-A4C54AB3FCA8}"/>
    <dgm:cxn modelId="{1245F94A-56FA-4C21-ADAD-2825C244DA06}" srcId="{B26ECCEB-45B3-4DE0-AAEF-B7F8C5B5C760}" destId="{A0E1ED87-1178-4743-9DCA-B3C3F1606472}" srcOrd="2" destOrd="0" parTransId="{C29B0CB9-6858-4A00-BD33-145A1A73C14C}" sibTransId="{4FCC6462-A75A-4EC4-B30B-61120565AEAA}"/>
    <dgm:cxn modelId="{27488675-2AAA-44EC-8538-08497A1E2E26}" type="presOf" srcId="{57C43DEF-4A3C-4668-9E2C-D0743EFE12FE}" destId="{178735FE-C517-4093-BF38-71837CE9E112}" srcOrd="0" destOrd="0" presId="urn:microsoft.com/office/officeart/2009/3/layout/HorizontalOrganizationChart"/>
    <dgm:cxn modelId="{EE7AD475-587D-46DA-A46D-387544C095E3}" type="presOf" srcId="{A0E1ED87-1178-4743-9DCA-B3C3F1606472}" destId="{74AB92C4-F795-425A-9218-322322815E8B}" srcOrd="1" destOrd="0" presId="urn:microsoft.com/office/officeart/2009/3/layout/HorizontalOrganizationChart"/>
    <dgm:cxn modelId="{0E291F79-8AB3-45EF-8D57-99F8DC91C656}" type="presOf" srcId="{741722C4-F77A-4DBA-8BF6-5A5C8994C6D7}" destId="{C3F6A5C6-117F-480D-8686-EA2830472BE5}" srcOrd="0" destOrd="0" presId="urn:microsoft.com/office/officeart/2009/3/layout/HorizontalOrganizationChart"/>
    <dgm:cxn modelId="{B9FD7679-0CC8-4EB1-BB18-7740482BF882}" type="presOf" srcId="{CE30ADDB-295F-4C6D-9A54-C20A9CD9C80B}" destId="{292BFCDF-A792-4179-AE80-B672B28C1D37}" srcOrd="0" destOrd="0" presId="urn:microsoft.com/office/officeart/2009/3/layout/HorizontalOrganizationChart"/>
    <dgm:cxn modelId="{DEB85D7B-2193-4CF1-BA77-D01FD7A37A54}" type="presOf" srcId="{07C79414-BBB1-44E4-83D7-8C59E63A8098}" destId="{F3DB601B-A118-46EF-9D95-407D5D49CEC4}" srcOrd="0" destOrd="0" presId="urn:microsoft.com/office/officeart/2009/3/layout/HorizontalOrganizationChart"/>
    <dgm:cxn modelId="{D2709E7E-EE71-4C53-9597-04CCA0FCFAC6}" type="presOf" srcId="{B26ECCEB-45B3-4DE0-AAEF-B7F8C5B5C760}" destId="{A8FFA07B-02A6-4D76-9C5D-DC3CEC345C34}" srcOrd="1" destOrd="0" presId="urn:microsoft.com/office/officeart/2009/3/layout/HorizontalOrganizationChart"/>
    <dgm:cxn modelId="{CFC9A487-160E-4743-8EC7-3954EE070F2B}" type="presOf" srcId="{8D7171E0-85E0-47DB-BAFF-4FF7F1822BB2}" destId="{DD7E1BE3-7642-4C2B-8F5D-9C7A0C94D365}" srcOrd="0" destOrd="0" presId="urn:microsoft.com/office/officeart/2009/3/layout/HorizontalOrganizationChart"/>
    <dgm:cxn modelId="{85DB3088-2B65-4719-BA88-B29C34A59018}" type="presOf" srcId="{B26ECCEB-45B3-4DE0-AAEF-B7F8C5B5C760}" destId="{73294046-5995-4768-A823-E952999145C1}" srcOrd="0" destOrd="0" presId="urn:microsoft.com/office/officeart/2009/3/layout/HorizontalOrganizationChart"/>
    <dgm:cxn modelId="{B7A4DA95-5191-4113-BC3A-B55F4697F191}" type="presOf" srcId="{57C43DEF-4A3C-4668-9E2C-D0743EFE12FE}" destId="{12D16208-4293-4887-A451-CDE5CF1397D8}" srcOrd="1" destOrd="0" presId="urn:microsoft.com/office/officeart/2009/3/layout/HorizontalOrganizationChart"/>
    <dgm:cxn modelId="{E5447A9D-C637-47DA-B545-C1C1D71AEF63}" srcId="{B26ECCEB-45B3-4DE0-AAEF-B7F8C5B5C760}" destId="{741722C4-F77A-4DBA-8BF6-5A5C8994C6D7}" srcOrd="0" destOrd="0" parTransId="{CE30ADDB-295F-4C6D-9A54-C20A9CD9C80B}" sibTransId="{680F03A1-6600-49CE-AD33-46F944E024B4}"/>
    <dgm:cxn modelId="{A6B7DBA6-76D1-44EA-8E9D-30B035F9CAE0}" type="presOf" srcId="{98A62288-03B7-47CD-856F-68067606A274}" destId="{9A02E214-75EC-40F7-8816-3F31E8642AB2}" srcOrd="0" destOrd="0" presId="urn:microsoft.com/office/officeart/2009/3/layout/HorizontalOrganizationChart"/>
    <dgm:cxn modelId="{AF2E80A8-9036-4A1C-BB9C-2CF1EC1154BD}" type="presOf" srcId="{70279581-1295-4EB3-8BAF-6D64633BDDF7}" destId="{A1C98753-8FC1-41BF-9D68-7703C8167B5F}" srcOrd="0" destOrd="0" presId="urn:microsoft.com/office/officeart/2009/3/layout/HorizontalOrganizationChart"/>
    <dgm:cxn modelId="{306BF5B7-DBE4-4B07-AE3C-E2AD0AC8B60C}" type="presOf" srcId="{8D7171E0-85E0-47DB-BAFF-4FF7F1822BB2}" destId="{D6467BA5-0C91-4D20-ACE0-3B6F7DBBF906}" srcOrd="1" destOrd="0" presId="urn:microsoft.com/office/officeart/2009/3/layout/HorizontalOrganizationChart"/>
    <dgm:cxn modelId="{C5FBDDC9-2601-4E36-86F8-F0DCD920D728}" type="presOf" srcId="{C29B0CB9-6858-4A00-BD33-145A1A73C14C}" destId="{95E38CF1-1D06-4D71-98EA-67ADBC6640E6}" srcOrd="0" destOrd="0" presId="urn:microsoft.com/office/officeart/2009/3/layout/HorizontalOrganizationChart"/>
    <dgm:cxn modelId="{BF5E42D3-E635-41B8-8DB9-C273081E792E}" type="presOf" srcId="{A0B1FCD5-E534-4DFE-BB69-B887F75C4308}" destId="{14D90749-F73F-40B0-B420-085BC9A654EF}" srcOrd="0" destOrd="0" presId="urn:microsoft.com/office/officeart/2009/3/layout/HorizontalOrganizationChart"/>
    <dgm:cxn modelId="{5AC0CAEA-5064-4E56-A3F4-51BFF56FC74E}" type="presOf" srcId="{741722C4-F77A-4DBA-8BF6-5A5C8994C6D7}" destId="{7C10C16F-B8E7-477E-BBA9-A7264D93C8E4}" srcOrd="1" destOrd="0" presId="urn:microsoft.com/office/officeart/2009/3/layout/HorizontalOrganizationChart"/>
    <dgm:cxn modelId="{32FAECED-7100-4688-B760-2754A5B12C78}" srcId="{B26ECCEB-45B3-4DE0-AAEF-B7F8C5B5C760}" destId="{57C43DEF-4A3C-4668-9E2C-D0743EFE12FE}" srcOrd="1" destOrd="0" parTransId="{70279581-1295-4EB3-8BAF-6D64633BDDF7}" sibTransId="{6F2769D3-08B1-4152-AEDF-41A45096ACC4}"/>
    <dgm:cxn modelId="{FAE2A43A-1E4A-4BB1-93ED-E7F2724922BD}" type="presParOf" srcId="{F3DB601B-A118-46EF-9D95-407D5D49CEC4}" destId="{5E012778-398F-4B3E-A476-38AE0ED39E37}" srcOrd="0" destOrd="0" presId="urn:microsoft.com/office/officeart/2009/3/layout/HorizontalOrganizationChart"/>
    <dgm:cxn modelId="{2706457D-50CA-4BBB-9CC4-1DD9FB664A0A}" type="presParOf" srcId="{5E012778-398F-4B3E-A476-38AE0ED39E37}" destId="{44EDC9A0-5847-4125-86B7-069D9E92D313}" srcOrd="0" destOrd="0" presId="urn:microsoft.com/office/officeart/2009/3/layout/HorizontalOrganizationChart"/>
    <dgm:cxn modelId="{C09AD28F-EE0D-4EE6-A423-318319DA4F0B}" type="presParOf" srcId="{44EDC9A0-5847-4125-86B7-069D9E92D313}" destId="{73294046-5995-4768-A823-E952999145C1}" srcOrd="0" destOrd="0" presId="urn:microsoft.com/office/officeart/2009/3/layout/HorizontalOrganizationChart"/>
    <dgm:cxn modelId="{2E47F1CA-A538-4220-BEB3-EC8E0204D39C}" type="presParOf" srcId="{44EDC9A0-5847-4125-86B7-069D9E92D313}" destId="{A8FFA07B-02A6-4D76-9C5D-DC3CEC345C34}" srcOrd="1" destOrd="0" presId="urn:microsoft.com/office/officeart/2009/3/layout/HorizontalOrganizationChart"/>
    <dgm:cxn modelId="{308D6C25-EEEB-4E43-8B61-5C25A3CD5798}" type="presParOf" srcId="{5E012778-398F-4B3E-A476-38AE0ED39E37}" destId="{D3A6C826-F0CE-43DE-8F17-A151905BFCC9}" srcOrd="1" destOrd="0" presId="urn:microsoft.com/office/officeart/2009/3/layout/HorizontalOrganizationChart"/>
    <dgm:cxn modelId="{9EF84B51-37C0-4188-A3F7-370A39C24080}" type="presParOf" srcId="{D3A6C826-F0CE-43DE-8F17-A151905BFCC9}" destId="{292BFCDF-A792-4179-AE80-B672B28C1D37}" srcOrd="0" destOrd="0" presId="urn:microsoft.com/office/officeart/2009/3/layout/HorizontalOrganizationChart"/>
    <dgm:cxn modelId="{5523E6CD-C4EA-4F68-9F2C-E139D05A95B9}" type="presParOf" srcId="{D3A6C826-F0CE-43DE-8F17-A151905BFCC9}" destId="{A90A92C0-5596-495E-8B6A-859127403A91}" srcOrd="1" destOrd="0" presId="urn:microsoft.com/office/officeart/2009/3/layout/HorizontalOrganizationChart"/>
    <dgm:cxn modelId="{33107196-1288-4D77-BFDA-D70B3DAF9E9C}" type="presParOf" srcId="{A90A92C0-5596-495E-8B6A-859127403A91}" destId="{EF7609E1-6B2E-44CC-8F5B-BB635AC3DC0A}" srcOrd="0" destOrd="0" presId="urn:microsoft.com/office/officeart/2009/3/layout/HorizontalOrganizationChart"/>
    <dgm:cxn modelId="{0AD435E1-7197-4473-97C2-E25C28275B09}" type="presParOf" srcId="{EF7609E1-6B2E-44CC-8F5B-BB635AC3DC0A}" destId="{C3F6A5C6-117F-480D-8686-EA2830472BE5}" srcOrd="0" destOrd="0" presId="urn:microsoft.com/office/officeart/2009/3/layout/HorizontalOrganizationChart"/>
    <dgm:cxn modelId="{52682889-C114-45FC-B63D-922405B55ABE}" type="presParOf" srcId="{EF7609E1-6B2E-44CC-8F5B-BB635AC3DC0A}" destId="{7C10C16F-B8E7-477E-BBA9-A7264D93C8E4}" srcOrd="1" destOrd="0" presId="urn:microsoft.com/office/officeart/2009/3/layout/HorizontalOrganizationChart"/>
    <dgm:cxn modelId="{1CEF2978-30E5-4730-AAB3-B131E550A8F8}" type="presParOf" srcId="{A90A92C0-5596-495E-8B6A-859127403A91}" destId="{A7CD225D-9D90-4F3D-9718-208229691A29}" srcOrd="1" destOrd="0" presId="urn:microsoft.com/office/officeart/2009/3/layout/HorizontalOrganizationChart"/>
    <dgm:cxn modelId="{69A30FAA-377D-4E49-B20D-27876F15CF38}" type="presParOf" srcId="{A7CD225D-9D90-4F3D-9718-208229691A29}" destId="{14D90749-F73F-40B0-B420-085BC9A654EF}" srcOrd="0" destOrd="0" presId="urn:microsoft.com/office/officeart/2009/3/layout/HorizontalOrganizationChart"/>
    <dgm:cxn modelId="{3D8CFBF7-2911-4B6D-9339-73202334BE27}" type="presParOf" srcId="{A7CD225D-9D90-4F3D-9718-208229691A29}" destId="{3A5A7C47-1F8F-448D-AF8E-31DEAF1E8678}" srcOrd="1" destOrd="0" presId="urn:microsoft.com/office/officeart/2009/3/layout/HorizontalOrganizationChart"/>
    <dgm:cxn modelId="{3BCA7717-7252-4902-AF50-B9BF740FF8C7}" type="presParOf" srcId="{3A5A7C47-1F8F-448D-AF8E-31DEAF1E8678}" destId="{DB8F2456-53CD-4FA5-8C4F-E2C3FF2C88AF}" srcOrd="0" destOrd="0" presId="urn:microsoft.com/office/officeart/2009/3/layout/HorizontalOrganizationChart"/>
    <dgm:cxn modelId="{EB8E9B13-B5AB-40D9-A15A-FFA81C6CDCFA}" type="presParOf" srcId="{DB8F2456-53CD-4FA5-8C4F-E2C3FF2C88AF}" destId="{DD7E1BE3-7642-4C2B-8F5D-9C7A0C94D365}" srcOrd="0" destOrd="0" presId="urn:microsoft.com/office/officeart/2009/3/layout/HorizontalOrganizationChart"/>
    <dgm:cxn modelId="{BEA86F8F-E78A-418A-91A5-4CEC86F665EF}" type="presParOf" srcId="{DB8F2456-53CD-4FA5-8C4F-E2C3FF2C88AF}" destId="{D6467BA5-0C91-4D20-ACE0-3B6F7DBBF906}" srcOrd="1" destOrd="0" presId="urn:microsoft.com/office/officeart/2009/3/layout/HorizontalOrganizationChart"/>
    <dgm:cxn modelId="{86D3AA69-2F92-4D73-BC96-8249E3524AC9}" type="presParOf" srcId="{3A5A7C47-1F8F-448D-AF8E-31DEAF1E8678}" destId="{9FDB90F5-C182-4922-A550-2AB0601A12E4}" srcOrd="1" destOrd="0" presId="urn:microsoft.com/office/officeart/2009/3/layout/HorizontalOrganizationChart"/>
    <dgm:cxn modelId="{3E09417B-A1C5-4F7F-97F7-C2F5A795ED56}" type="presParOf" srcId="{3A5A7C47-1F8F-448D-AF8E-31DEAF1E8678}" destId="{AB24955C-F4FC-4329-B751-16D7AA834E0D}" srcOrd="2" destOrd="0" presId="urn:microsoft.com/office/officeart/2009/3/layout/HorizontalOrganizationChart"/>
    <dgm:cxn modelId="{406AFFA6-7AC8-4B9E-9058-313DD51519F4}" type="presParOf" srcId="{A7CD225D-9D90-4F3D-9718-208229691A29}" destId="{9A02E214-75EC-40F7-8816-3F31E8642AB2}" srcOrd="2" destOrd="0" presId="urn:microsoft.com/office/officeart/2009/3/layout/HorizontalOrganizationChart"/>
    <dgm:cxn modelId="{E681E9D0-BB94-4AE1-BB2F-7782050BAF6E}" type="presParOf" srcId="{A7CD225D-9D90-4F3D-9718-208229691A29}" destId="{41521534-7D86-4A0C-9C01-33DBF3A7E11F}" srcOrd="3" destOrd="0" presId="urn:microsoft.com/office/officeart/2009/3/layout/HorizontalOrganizationChart"/>
    <dgm:cxn modelId="{6A81854E-5DEA-4019-9AA4-99F89234470A}" type="presParOf" srcId="{41521534-7D86-4A0C-9C01-33DBF3A7E11F}" destId="{E9E4DF58-2A7F-4BB8-86F5-5375EAE932B9}" srcOrd="0" destOrd="0" presId="urn:microsoft.com/office/officeart/2009/3/layout/HorizontalOrganizationChart"/>
    <dgm:cxn modelId="{570EDD2B-39DD-4C79-A1FF-2E999835B3E0}" type="presParOf" srcId="{E9E4DF58-2A7F-4BB8-86F5-5375EAE932B9}" destId="{B8491503-2397-4803-AF0E-13B56B2986ED}" srcOrd="0" destOrd="0" presId="urn:microsoft.com/office/officeart/2009/3/layout/HorizontalOrganizationChart"/>
    <dgm:cxn modelId="{504B8FBB-DDDD-4431-8574-BD4F532CD0F3}" type="presParOf" srcId="{E9E4DF58-2A7F-4BB8-86F5-5375EAE932B9}" destId="{001676B9-FBB8-436D-9657-422B05AC9944}" srcOrd="1" destOrd="0" presId="urn:microsoft.com/office/officeart/2009/3/layout/HorizontalOrganizationChart"/>
    <dgm:cxn modelId="{259A8A82-688B-45AB-AE83-112B709D3233}" type="presParOf" srcId="{41521534-7D86-4A0C-9C01-33DBF3A7E11F}" destId="{0C82A754-1BD4-415D-9933-933FA998F13A}" srcOrd="1" destOrd="0" presId="urn:microsoft.com/office/officeart/2009/3/layout/HorizontalOrganizationChart"/>
    <dgm:cxn modelId="{7A36E496-C2CD-48AF-A4C3-BCAA30B37CC0}" type="presParOf" srcId="{41521534-7D86-4A0C-9C01-33DBF3A7E11F}" destId="{5891CF07-ABB1-4987-BA5F-2976A7EDB813}" srcOrd="2" destOrd="0" presId="urn:microsoft.com/office/officeart/2009/3/layout/HorizontalOrganizationChart"/>
    <dgm:cxn modelId="{FB6570FF-ACBC-48C5-BBF4-A13527A60F3E}" type="presParOf" srcId="{A90A92C0-5596-495E-8B6A-859127403A91}" destId="{5A515CD6-559D-4A86-A98B-855F9A7253C0}" srcOrd="2" destOrd="0" presId="urn:microsoft.com/office/officeart/2009/3/layout/HorizontalOrganizationChart"/>
    <dgm:cxn modelId="{AE49AB1C-1E6B-4FDA-BE45-80098E36C5B3}" type="presParOf" srcId="{D3A6C826-F0CE-43DE-8F17-A151905BFCC9}" destId="{A1C98753-8FC1-41BF-9D68-7703C8167B5F}" srcOrd="2" destOrd="0" presId="urn:microsoft.com/office/officeart/2009/3/layout/HorizontalOrganizationChart"/>
    <dgm:cxn modelId="{7779641A-CD5F-45D3-BD51-04863B4489C8}" type="presParOf" srcId="{D3A6C826-F0CE-43DE-8F17-A151905BFCC9}" destId="{517B7EB3-9F0E-4DDC-93CD-7CF8E63D95D1}" srcOrd="3" destOrd="0" presId="urn:microsoft.com/office/officeart/2009/3/layout/HorizontalOrganizationChart"/>
    <dgm:cxn modelId="{A925ECE0-1E23-4C6F-B6B3-C38BF50487B2}" type="presParOf" srcId="{517B7EB3-9F0E-4DDC-93CD-7CF8E63D95D1}" destId="{7C28946C-984D-4AD1-9B97-1E964753D162}" srcOrd="0" destOrd="0" presId="urn:microsoft.com/office/officeart/2009/3/layout/HorizontalOrganizationChart"/>
    <dgm:cxn modelId="{0787EAA7-BF7B-4073-8E72-2F19869AD376}" type="presParOf" srcId="{7C28946C-984D-4AD1-9B97-1E964753D162}" destId="{178735FE-C517-4093-BF38-71837CE9E112}" srcOrd="0" destOrd="0" presId="urn:microsoft.com/office/officeart/2009/3/layout/HorizontalOrganizationChart"/>
    <dgm:cxn modelId="{76DE39FB-6C8E-45ED-9C51-7AA13D56C9F3}" type="presParOf" srcId="{7C28946C-984D-4AD1-9B97-1E964753D162}" destId="{12D16208-4293-4887-A451-CDE5CF1397D8}" srcOrd="1" destOrd="0" presId="urn:microsoft.com/office/officeart/2009/3/layout/HorizontalOrganizationChart"/>
    <dgm:cxn modelId="{ACA6DA3D-796C-4C4D-A649-AA032DFA52B6}" type="presParOf" srcId="{517B7EB3-9F0E-4DDC-93CD-7CF8E63D95D1}" destId="{C9DCF1C0-520F-4554-8206-E3D2F3AEBC6E}" srcOrd="1" destOrd="0" presId="urn:microsoft.com/office/officeart/2009/3/layout/HorizontalOrganizationChart"/>
    <dgm:cxn modelId="{055E44C9-E1DB-459E-9245-0B44AC0ACD33}" type="presParOf" srcId="{517B7EB3-9F0E-4DDC-93CD-7CF8E63D95D1}" destId="{CD4E3B2B-8214-4632-8211-73F1E26FA381}" srcOrd="2" destOrd="0" presId="urn:microsoft.com/office/officeart/2009/3/layout/HorizontalOrganizationChart"/>
    <dgm:cxn modelId="{0304D9C9-92CB-452C-BE16-87844AE1E315}" type="presParOf" srcId="{D3A6C826-F0CE-43DE-8F17-A151905BFCC9}" destId="{95E38CF1-1D06-4D71-98EA-67ADBC6640E6}" srcOrd="4" destOrd="0" presId="urn:microsoft.com/office/officeart/2009/3/layout/HorizontalOrganizationChart"/>
    <dgm:cxn modelId="{CC7334A9-31BC-4982-9574-94886D198D34}" type="presParOf" srcId="{D3A6C826-F0CE-43DE-8F17-A151905BFCC9}" destId="{0158E7D8-2B34-4EE7-AA1D-B0FB87D3685A}" srcOrd="5" destOrd="0" presId="urn:microsoft.com/office/officeart/2009/3/layout/HorizontalOrganizationChart"/>
    <dgm:cxn modelId="{BC9AB467-7933-4BCF-A4F2-2B89CC853EEE}" type="presParOf" srcId="{0158E7D8-2B34-4EE7-AA1D-B0FB87D3685A}" destId="{A049F2CB-6D5C-437F-A330-2A257B20C6F2}" srcOrd="0" destOrd="0" presId="urn:microsoft.com/office/officeart/2009/3/layout/HorizontalOrganizationChart"/>
    <dgm:cxn modelId="{B92F4CA8-E163-43D4-B8D4-1B09BE34DEB9}" type="presParOf" srcId="{A049F2CB-6D5C-437F-A330-2A257B20C6F2}" destId="{D3A27648-256C-4A0B-BFF0-C73967DF081D}" srcOrd="0" destOrd="0" presId="urn:microsoft.com/office/officeart/2009/3/layout/HorizontalOrganizationChart"/>
    <dgm:cxn modelId="{4A228710-5FC1-4A25-BD6A-8D900BB5B208}" type="presParOf" srcId="{A049F2CB-6D5C-437F-A330-2A257B20C6F2}" destId="{74AB92C4-F795-425A-9218-322322815E8B}" srcOrd="1" destOrd="0" presId="urn:microsoft.com/office/officeart/2009/3/layout/HorizontalOrganizationChart"/>
    <dgm:cxn modelId="{5733200A-AB13-4523-B48E-00785814C13F}" type="presParOf" srcId="{0158E7D8-2B34-4EE7-AA1D-B0FB87D3685A}" destId="{4E9F0C9B-43BB-46F2-A891-9E4F7EE0A2A7}" srcOrd="1" destOrd="0" presId="urn:microsoft.com/office/officeart/2009/3/layout/HorizontalOrganizationChart"/>
    <dgm:cxn modelId="{DFB70C7D-C506-4CB8-8252-32E5767ACF6D}" type="presParOf" srcId="{0158E7D8-2B34-4EE7-AA1D-B0FB87D3685A}" destId="{4F468FFE-5AB3-4C28-B7E7-C5F81E0301C2}" srcOrd="2" destOrd="0" presId="urn:microsoft.com/office/officeart/2009/3/layout/HorizontalOrganizationChart"/>
    <dgm:cxn modelId="{8B56B40C-6F57-43B5-9A45-713CFC20BB2B}" type="presParOf" srcId="{5E012778-398F-4B3E-A476-38AE0ED39E37}" destId="{324FE9A3-E51B-473B-B04A-5F2780B83E39}"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39D8DC-8B21-4027-B8F5-FD05FF00CE29}"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B374747E-716B-4D48-94A4-E5FBD3FCBDF2}">
      <dgm:prSet/>
      <dgm:spPr/>
      <dgm:t>
        <a:bodyPr/>
        <a:lstStyle/>
        <a:p>
          <a:pPr>
            <a:lnSpc>
              <a:spcPct val="100000"/>
            </a:lnSpc>
          </a:pPr>
          <a:r>
            <a:rPr lang="en-US" u="sng"/>
            <a:t>Existing</a:t>
          </a:r>
          <a:r>
            <a:rPr lang="en-US"/>
            <a:t> </a:t>
          </a:r>
        </a:p>
        <a:p>
          <a:pPr>
            <a:lnSpc>
              <a:spcPct val="100000"/>
            </a:lnSpc>
          </a:pPr>
          <a:r>
            <a:rPr lang="en-US"/>
            <a:t>Referral</a:t>
          </a:r>
        </a:p>
      </dgm:t>
    </dgm:pt>
    <dgm:pt modelId="{11712F7E-1DF7-4AFE-A84D-93B3DCA42BE9}" type="parTrans" cxnId="{34B37194-FA1C-4FF5-9B66-C54776EF2734}">
      <dgm:prSet/>
      <dgm:spPr/>
      <dgm:t>
        <a:bodyPr/>
        <a:lstStyle/>
        <a:p>
          <a:endParaRPr lang="en-US"/>
        </a:p>
      </dgm:t>
    </dgm:pt>
    <dgm:pt modelId="{315335AB-6883-40AC-9225-43B6E34D3887}" type="sibTrans" cxnId="{34B37194-FA1C-4FF5-9B66-C54776EF2734}">
      <dgm:prSet/>
      <dgm:spPr/>
      <dgm:t>
        <a:bodyPr/>
        <a:lstStyle/>
        <a:p>
          <a:endParaRPr lang="en-US"/>
        </a:p>
      </dgm:t>
    </dgm:pt>
    <dgm:pt modelId="{64152806-A0E4-4923-81C6-72D5FB2CBAFF}">
      <dgm:prSet/>
      <dgm:spPr/>
      <dgm:t>
        <a:bodyPr/>
        <a:lstStyle/>
        <a:p>
          <a:pPr>
            <a:lnSpc>
              <a:spcPct val="100000"/>
            </a:lnSpc>
            <a:buNone/>
          </a:pPr>
          <a:r>
            <a:rPr lang="en-US"/>
            <a:t>NB:</a:t>
          </a:r>
          <a:endParaRPr lang="en-US" b="1"/>
        </a:p>
      </dgm:t>
    </dgm:pt>
    <dgm:pt modelId="{DEE5AAC8-0DDE-4D63-AA33-DECC31AB10D4}" type="parTrans" cxnId="{91206F6E-9C54-4D5C-AC6B-74CF517B2A5D}">
      <dgm:prSet/>
      <dgm:spPr/>
      <dgm:t>
        <a:bodyPr/>
        <a:lstStyle/>
        <a:p>
          <a:endParaRPr lang="en-US"/>
        </a:p>
      </dgm:t>
    </dgm:pt>
    <dgm:pt modelId="{DFD54524-247A-44CE-9B11-7FE94217356E}" type="sibTrans" cxnId="{91206F6E-9C54-4D5C-AC6B-74CF517B2A5D}">
      <dgm:prSet/>
      <dgm:spPr/>
      <dgm:t>
        <a:bodyPr/>
        <a:lstStyle/>
        <a:p>
          <a:endParaRPr lang="en-US"/>
        </a:p>
      </dgm:t>
    </dgm:pt>
    <dgm:pt modelId="{CEA97ED5-5C8C-4413-B39E-7DAF96B700D3}">
      <dgm:prSet/>
      <dgm:spPr/>
      <dgm:t>
        <a:bodyPr/>
        <a:lstStyle/>
        <a:p>
          <a:pPr>
            <a:lnSpc>
              <a:spcPct val="100000"/>
            </a:lnSpc>
          </a:pPr>
          <a:r>
            <a:rPr lang="en-US"/>
            <a:t>UW approves the referral</a:t>
          </a:r>
        </a:p>
      </dgm:t>
    </dgm:pt>
    <dgm:pt modelId="{58684378-DDED-444E-9715-542875B5591D}" type="parTrans" cxnId="{6CE3242E-B2F5-4480-B1DB-AE95FE01EC5C}">
      <dgm:prSet/>
      <dgm:spPr/>
      <dgm:t>
        <a:bodyPr/>
        <a:lstStyle/>
        <a:p>
          <a:endParaRPr lang="en-US"/>
        </a:p>
      </dgm:t>
    </dgm:pt>
    <dgm:pt modelId="{A6532883-7FE0-462A-86AE-E1AF74020076}" type="sibTrans" cxnId="{6CE3242E-B2F5-4480-B1DB-AE95FE01EC5C}">
      <dgm:prSet/>
      <dgm:spPr/>
      <dgm:t>
        <a:bodyPr/>
        <a:lstStyle/>
        <a:p>
          <a:endParaRPr lang="en-US"/>
        </a:p>
      </dgm:t>
    </dgm:pt>
    <dgm:pt modelId="{B0BEE4EC-2787-4FC3-BB91-881F24D08037}">
      <dgm:prSet/>
      <dgm:spPr/>
      <dgm:t>
        <a:bodyPr/>
        <a:lstStyle/>
        <a:p>
          <a:pPr>
            <a:lnSpc>
              <a:spcPct val="100000"/>
            </a:lnSpc>
          </a:pPr>
          <a:r>
            <a:rPr lang="en-US"/>
            <a:t>Wholesale agent -&gt; Quotes, Binds and Issues the policy</a:t>
          </a:r>
        </a:p>
      </dgm:t>
    </dgm:pt>
    <dgm:pt modelId="{46BFFBFF-A43B-49F8-AD79-FC3BE5EBE04B}" type="parTrans" cxnId="{9582565A-E5DD-4E4F-AD38-73395D96FE72}">
      <dgm:prSet/>
      <dgm:spPr/>
      <dgm:t>
        <a:bodyPr/>
        <a:lstStyle/>
        <a:p>
          <a:endParaRPr lang="en-US"/>
        </a:p>
      </dgm:t>
    </dgm:pt>
    <dgm:pt modelId="{5B2135E7-F514-4982-A2F0-14D0E79CEB76}" type="sibTrans" cxnId="{9582565A-E5DD-4E4F-AD38-73395D96FE72}">
      <dgm:prSet/>
      <dgm:spPr/>
      <dgm:t>
        <a:bodyPr/>
        <a:lstStyle/>
        <a:p>
          <a:endParaRPr lang="en-US"/>
        </a:p>
      </dgm:t>
    </dgm:pt>
    <dgm:pt modelId="{4C7A508F-CB7B-4C1D-A266-C3D00F872329}">
      <dgm:prSet/>
      <dgm:spPr/>
      <dgm:t>
        <a:bodyPr/>
        <a:lstStyle/>
        <a:p>
          <a:pPr>
            <a:lnSpc>
              <a:spcPct val="100000"/>
            </a:lnSpc>
            <a:buNone/>
          </a:pPr>
          <a:r>
            <a:rPr lang="en-US"/>
            <a:t>REN 01: </a:t>
          </a:r>
        </a:p>
      </dgm:t>
    </dgm:pt>
    <dgm:pt modelId="{66E0D484-0262-4AF0-A429-67C139A6DBC6}" type="parTrans" cxnId="{A1DDE1D6-6CCB-4049-B18E-63C08988E20F}">
      <dgm:prSet/>
      <dgm:spPr/>
      <dgm:t>
        <a:bodyPr/>
        <a:lstStyle/>
        <a:p>
          <a:endParaRPr lang="en-US"/>
        </a:p>
      </dgm:t>
    </dgm:pt>
    <dgm:pt modelId="{F0D41F63-48B6-4863-97B8-B72C1A0C9CC3}" type="sibTrans" cxnId="{A1DDE1D6-6CCB-4049-B18E-63C08988E20F}">
      <dgm:prSet/>
      <dgm:spPr/>
      <dgm:t>
        <a:bodyPr/>
        <a:lstStyle/>
        <a:p>
          <a:endParaRPr lang="en-US"/>
        </a:p>
      </dgm:t>
    </dgm:pt>
    <dgm:pt modelId="{4E3E961F-0BE0-4601-B8EB-0953D768A3E7}">
      <dgm:prSet/>
      <dgm:spPr/>
      <dgm:t>
        <a:bodyPr/>
        <a:lstStyle/>
        <a:p>
          <a:pPr>
            <a:lnSpc>
              <a:spcPct val="100000"/>
            </a:lnSpc>
          </a:pPr>
          <a:r>
            <a:rPr lang="en-US" u="sng"/>
            <a:t>New</a:t>
          </a:r>
          <a:r>
            <a:rPr lang="en-US" u="none"/>
            <a:t> </a:t>
          </a:r>
        </a:p>
        <a:p>
          <a:pPr>
            <a:lnSpc>
              <a:spcPct val="100000"/>
            </a:lnSpc>
          </a:pPr>
          <a:r>
            <a:rPr lang="en-US"/>
            <a:t>Automated Renewal UW Rule</a:t>
          </a:r>
        </a:p>
      </dgm:t>
    </dgm:pt>
    <dgm:pt modelId="{CEE31679-6890-4DF0-9C8E-43062C8C361C}" type="parTrans" cxnId="{5D178930-9B42-41FB-A60B-A8D001D99092}">
      <dgm:prSet/>
      <dgm:spPr/>
      <dgm:t>
        <a:bodyPr/>
        <a:lstStyle/>
        <a:p>
          <a:endParaRPr lang="en-US"/>
        </a:p>
      </dgm:t>
    </dgm:pt>
    <dgm:pt modelId="{AB3B17F6-A2E9-4C63-B900-F8CD59F8BAE5}" type="sibTrans" cxnId="{5D178930-9B42-41FB-A60B-A8D001D99092}">
      <dgm:prSet/>
      <dgm:spPr/>
      <dgm:t>
        <a:bodyPr/>
        <a:lstStyle/>
        <a:p>
          <a:endParaRPr lang="en-US"/>
        </a:p>
      </dgm:t>
    </dgm:pt>
    <dgm:pt modelId="{6CCA5CA5-CFAB-4994-A46F-E3AB80BB9423}">
      <dgm:prSet/>
      <dgm:spPr/>
      <dgm:t>
        <a:bodyPr/>
        <a:lstStyle/>
        <a:p>
          <a:pPr>
            <a:lnSpc>
              <a:spcPct val="100000"/>
            </a:lnSpc>
            <a:buNone/>
          </a:pPr>
          <a:r>
            <a:rPr lang="en-US"/>
            <a:t>NB:</a:t>
          </a:r>
        </a:p>
      </dgm:t>
    </dgm:pt>
    <dgm:pt modelId="{ECAF0FA8-4866-41EB-9924-1F6CD15FE688}" type="parTrans" cxnId="{B1EC0720-39EF-485D-A950-D7192AD73057}">
      <dgm:prSet/>
      <dgm:spPr/>
      <dgm:t>
        <a:bodyPr/>
        <a:lstStyle/>
        <a:p>
          <a:endParaRPr lang="en-US"/>
        </a:p>
      </dgm:t>
    </dgm:pt>
    <dgm:pt modelId="{93BBFDDC-9FE1-436D-BE9A-04BB65DE6230}" type="sibTrans" cxnId="{B1EC0720-39EF-485D-A950-D7192AD73057}">
      <dgm:prSet/>
      <dgm:spPr/>
      <dgm:t>
        <a:bodyPr/>
        <a:lstStyle/>
        <a:p>
          <a:endParaRPr lang="en-US"/>
        </a:p>
      </dgm:t>
    </dgm:pt>
    <dgm:pt modelId="{DA2670CC-CE64-43E6-B821-A5D8233A0D64}">
      <dgm:prSet/>
      <dgm:spPr/>
      <dgm:t>
        <a:bodyPr/>
        <a:lstStyle/>
        <a:p>
          <a:pPr>
            <a:lnSpc>
              <a:spcPct val="100000"/>
            </a:lnSpc>
          </a:pPr>
          <a:r>
            <a:rPr lang="en-US"/>
            <a:t>UW approves the referral</a:t>
          </a:r>
        </a:p>
      </dgm:t>
    </dgm:pt>
    <dgm:pt modelId="{67C5023F-F515-4F1B-AD9A-91DBDC79C4E9}" type="parTrans" cxnId="{57B47E5C-5C2C-4F65-9C3B-CFC4331B0E02}">
      <dgm:prSet/>
      <dgm:spPr/>
      <dgm:t>
        <a:bodyPr/>
        <a:lstStyle/>
        <a:p>
          <a:endParaRPr lang="en-US"/>
        </a:p>
      </dgm:t>
    </dgm:pt>
    <dgm:pt modelId="{87D9A3E2-203A-48C7-AF5E-1F45A747FC17}" type="sibTrans" cxnId="{57B47E5C-5C2C-4F65-9C3B-CFC4331B0E02}">
      <dgm:prSet/>
      <dgm:spPr/>
      <dgm:t>
        <a:bodyPr/>
        <a:lstStyle/>
        <a:p>
          <a:endParaRPr lang="en-US"/>
        </a:p>
      </dgm:t>
    </dgm:pt>
    <dgm:pt modelId="{5669DEE1-CE80-4787-AEBA-D5F0C13C5E1D}">
      <dgm:prSet/>
      <dgm:spPr/>
      <dgm:t>
        <a:bodyPr/>
        <a:lstStyle/>
        <a:p>
          <a:pPr>
            <a:lnSpc>
              <a:spcPct val="100000"/>
            </a:lnSpc>
          </a:pPr>
          <a:r>
            <a:rPr lang="en-US"/>
            <a:t>Wholesale agent receives the renewal at 61 days prior to expiry -&gt; Quotes, Binds and Issues the policy</a:t>
          </a:r>
        </a:p>
      </dgm:t>
    </dgm:pt>
    <dgm:pt modelId="{64532348-D14A-41C7-B8A5-0F39EDE7956A}" type="parTrans" cxnId="{CA8621B9-3005-4311-9715-8A43962E2A6A}">
      <dgm:prSet/>
      <dgm:spPr/>
      <dgm:t>
        <a:bodyPr/>
        <a:lstStyle/>
        <a:p>
          <a:endParaRPr lang="en-US"/>
        </a:p>
      </dgm:t>
    </dgm:pt>
    <dgm:pt modelId="{8739D281-4611-409C-8051-3485DCE98EE7}" type="sibTrans" cxnId="{CA8621B9-3005-4311-9715-8A43962E2A6A}">
      <dgm:prSet/>
      <dgm:spPr/>
      <dgm:t>
        <a:bodyPr/>
        <a:lstStyle/>
        <a:p>
          <a:endParaRPr lang="en-US"/>
        </a:p>
      </dgm:t>
    </dgm:pt>
    <dgm:pt modelId="{BFBF2820-3312-4F83-838D-F9BEE15A19C1}">
      <dgm:prSet/>
      <dgm:spPr/>
      <dgm:t>
        <a:bodyPr/>
        <a:lstStyle/>
        <a:p>
          <a:pPr>
            <a:lnSpc>
              <a:spcPct val="100000"/>
            </a:lnSpc>
            <a:buNone/>
          </a:pPr>
          <a:r>
            <a:rPr lang="en-US"/>
            <a:t>REN 02:</a:t>
          </a:r>
        </a:p>
      </dgm:t>
    </dgm:pt>
    <dgm:pt modelId="{A666DDCE-1186-476B-8869-1917647E9875}" type="parTrans" cxnId="{06DB5B0F-5B64-4741-AD8E-4E551AC61B00}">
      <dgm:prSet/>
      <dgm:spPr/>
      <dgm:t>
        <a:bodyPr/>
        <a:lstStyle/>
        <a:p>
          <a:endParaRPr lang="en-US"/>
        </a:p>
      </dgm:t>
    </dgm:pt>
    <dgm:pt modelId="{F6668BD4-571B-4789-81E8-C83B00E18462}" type="sibTrans" cxnId="{06DB5B0F-5B64-4741-AD8E-4E551AC61B00}">
      <dgm:prSet/>
      <dgm:spPr/>
      <dgm:t>
        <a:bodyPr/>
        <a:lstStyle/>
        <a:p>
          <a:endParaRPr lang="en-US"/>
        </a:p>
      </dgm:t>
    </dgm:pt>
    <dgm:pt modelId="{C1D69062-FBC8-43E5-A995-B91A770F2C30}">
      <dgm:prSet/>
      <dgm:spPr/>
      <dgm:t>
        <a:bodyPr/>
        <a:lstStyle/>
        <a:p>
          <a:pPr>
            <a:lnSpc>
              <a:spcPct val="100000"/>
            </a:lnSpc>
          </a:pPr>
          <a:r>
            <a:rPr lang="en-US" u="sng"/>
            <a:t>Hybrid</a:t>
          </a:r>
          <a:r>
            <a:rPr lang="en-US" u="none"/>
            <a:t> </a:t>
          </a:r>
        </a:p>
        <a:p>
          <a:pPr>
            <a:lnSpc>
              <a:spcPct val="100000"/>
            </a:lnSpc>
          </a:pPr>
          <a:r>
            <a:rPr lang="en-US"/>
            <a:t>Existing Referral converted to Automated Renewal UW Rule</a:t>
          </a:r>
        </a:p>
      </dgm:t>
    </dgm:pt>
    <dgm:pt modelId="{A82EAD01-82FD-45D2-BE52-739D90635709}" type="parTrans" cxnId="{82A9BB6C-085B-4F3D-8223-F4DC607913E7}">
      <dgm:prSet/>
      <dgm:spPr/>
      <dgm:t>
        <a:bodyPr/>
        <a:lstStyle/>
        <a:p>
          <a:endParaRPr lang="en-US"/>
        </a:p>
      </dgm:t>
    </dgm:pt>
    <dgm:pt modelId="{6FD79696-460E-4464-A3B5-47F6F32A5C55}" type="sibTrans" cxnId="{82A9BB6C-085B-4F3D-8223-F4DC607913E7}">
      <dgm:prSet/>
      <dgm:spPr/>
      <dgm:t>
        <a:bodyPr/>
        <a:lstStyle/>
        <a:p>
          <a:endParaRPr lang="en-US"/>
        </a:p>
      </dgm:t>
    </dgm:pt>
    <dgm:pt modelId="{5B169A58-0A57-442E-AC5A-47D88A54CA7D}">
      <dgm:prSet/>
      <dgm:spPr/>
      <dgm:t>
        <a:bodyPr/>
        <a:lstStyle/>
        <a:p>
          <a:pPr>
            <a:lnSpc>
              <a:spcPct val="100000"/>
            </a:lnSpc>
            <a:buNone/>
          </a:pPr>
          <a:r>
            <a:rPr lang="en-US"/>
            <a:t>NB:</a:t>
          </a:r>
          <a:endParaRPr lang="en-US" b="1"/>
        </a:p>
      </dgm:t>
    </dgm:pt>
    <dgm:pt modelId="{972CC04A-62AC-4BCB-A389-6FA8DFB57D03}" type="parTrans" cxnId="{0123B8A1-4F79-4E10-9D74-565E85C468B0}">
      <dgm:prSet/>
      <dgm:spPr/>
      <dgm:t>
        <a:bodyPr/>
        <a:lstStyle/>
        <a:p>
          <a:endParaRPr lang="en-US"/>
        </a:p>
      </dgm:t>
    </dgm:pt>
    <dgm:pt modelId="{896DCA38-2C54-41B4-9144-336C627A84E9}" type="sibTrans" cxnId="{0123B8A1-4F79-4E10-9D74-565E85C468B0}">
      <dgm:prSet/>
      <dgm:spPr/>
      <dgm:t>
        <a:bodyPr/>
        <a:lstStyle/>
        <a:p>
          <a:endParaRPr lang="en-US"/>
        </a:p>
      </dgm:t>
    </dgm:pt>
    <dgm:pt modelId="{4D5E32AC-5800-45AF-936C-895F75BC36D4}">
      <dgm:prSet/>
      <dgm:spPr/>
      <dgm:t>
        <a:bodyPr/>
        <a:lstStyle/>
        <a:p>
          <a:pPr>
            <a:lnSpc>
              <a:spcPct val="100000"/>
            </a:lnSpc>
          </a:pPr>
          <a:r>
            <a:rPr lang="en-US"/>
            <a:t>UW approves the referral</a:t>
          </a:r>
        </a:p>
      </dgm:t>
    </dgm:pt>
    <dgm:pt modelId="{3618161F-AD83-403E-8E7F-5DB43C1916E7}" type="parTrans" cxnId="{13C3AB9C-946F-48F4-8A13-BDD56D7E8C84}">
      <dgm:prSet/>
      <dgm:spPr/>
      <dgm:t>
        <a:bodyPr/>
        <a:lstStyle/>
        <a:p>
          <a:endParaRPr lang="en-US"/>
        </a:p>
      </dgm:t>
    </dgm:pt>
    <dgm:pt modelId="{07B924BA-CD32-4775-B180-892D5B73186E}" type="sibTrans" cxnId="{13C3AB9C-946F-48F4-8A13-BDD56D7E8C84}">
      <dgm:prSet/>
      <dgm:spPr/>
      <dgm:t>
        <a:bodyPr/>
        <a:lstStyle/>
        <a:p>
          <a:endParaRPr lang="en-US"/>
        </a:p>
      </dgm:t>
    </dgm:pt>
    <dgm:pt modelId="{8E25A560-C6D9-4DB6-B1FB-D40A89DE3B86}">
      <dgm:prSet/>
      <dgm:spPr/>
      <dgm:t>
        <a:bodyPr/>
        <a:lstStyle/>
        <a:p>
          <a:pPr>
            <a:lnSpc>
              <a:spcPct val="100000"/>
            </a:lnSpc>
          </a:pPr>
          <a:r>
            <a:rPr lang="en-US"/>
            <a:t>Wholesale agent -&gt; Quotes, Binds and Issues the policy</a:t>
          </a:r>
        </a:p>
      </dgm:t>
    </dgm:pt>
    <dgm:pt modelId="{03C0342E-C54E-4060-9875-B27E91FAA220}" type="parTrans" cxnId="{B1F6775D-B5E3-4D74-A3B0-C49F213A30B1}">
      <dgm:prSet/>
      <dgm:spPr/>
      <dgm:t>
        <a:bodyPr/>
        <a:lstStyle/>
        <a:p>
          <a:endParaRPr lang="en-US"/>
        </a:p>
      </dgm:t>
    </dgm:pt>
    <dgm:pt modelId="{A485C75E-2BC2-48DC-A6B5-17356CCC897F}" type="sibTrans" cxnId="{B1F6775D-B5E3-4D74-A3B0-C49F213A30B1}">
      <dgm:prSet/>
      <dgm:spPr/>
      <dgm:t>
        <a:bodyPr/>
        <a:lstStyle/>
        <a:p>
          <a:endParaRPr lang="en-US"/>
        </a:p>
      </dgm:t>
    </dgm:pt>
    <dgm:pt modelId="{CF87483A-A851-47C8-AA5B-76472A0297E3}">
      <dgm:prSet/>
      <dgm:spPr/>
      <dgm:t>
        <a:bodyPr/>
        <a:lstStyle/>
        <a:p>
          <a:pPr>
            <a:lnSpc>
              <a:spcPct val="100000"/>
            </a:lnSpc>
            <a:buNone/>
          </a:pPr>
          <a:r>
            <a:rPr lang="en-US"/>
            <a:t>REN 01:</a:t>
          </a:r>
        </a:p>
      </dgm:t>
    </dgm:pt>
    <dgm:pt modelId="{D47868C8-007B-4A46-93CE-C0C98DBF2796}" type="parTrans" cxnId="{C3DEB3C1-73C2-4BFA-96D9-E3A15A94C7C9}">
      <dgm:prSet/>
      <dgm:spPr/>
      <dgm:t>
        <a:bodyPr/>
        <a:lstStyle/>
        <a:p>
          <a:endParaRPr lang="en-US"/>
        </a:p>
      </dgm:t>
    </dgm:pt>
    <dgm:pt modelId="{B835692E-8469-481B-9BDA-6BD8DDAB9C60}" type="sibTrans" cxnId="{C3DEB3C1-73C2-4BFA-96D9-E3A15A94C7C9}">
      <dgm:prSet/>
      <dgm:spPr/>
      <dgm:t>
        <a:bodyPr/>
        <a:lstStyle/>
        <a:p>
          <a:endParaRPr lang="en-US"/>
        </a:p>
      </dgm:t>
    </dgm:pt>
    <dgm:pt modelId="{E0054551-462F-4449-86A5-85374429143C}">
      <dgm:prSet/>
      <dgm:spPr/>
      <dgm:t>
        <a:bodyPr/>
        <a:lstStyle/>
        <a:p>
          <a:pPr>
            <a:lnSpc>
              <a:spcPct val="100000"/>
            </a:lnSpc>
          </a:pPr>
          <a:r>
            <a:rPr lang="en-US"/>
            <a:t>Referral only </a:t>
          </a:r>
          <a:r>
            <a:rPr lang="en-US" b="1"/>
            <a:t>if New Claim with &gt; 150k</a:t>
          </a:r>
        </a:p>
      </dgm:t>
    </dgm:pt>
    <dgm:pt modelId="{05D90661-6226-43DE-A826-E6DFDF9C03FD}" type="parTrans" cxnId="{4E798B4A-0076-4C8A-A4F5-221A904EAFA9}">
      <dgm:prSet/>
      <dgm:spPr/>
      <dgm:t>
        <a:bodyPr/>
        <a:lstStyle/>
        <a:p>
          <a:endParaRPr lang="en-US"/>
        </a:p>
      </dgm:t>
    </dgm:pt>
    <dgm:pt modelId="{5A4F7C43-FBC0-4450-B4A0-A5220F6545DE}" type="sibTrans" cxnId="{4E798B4A-0076-4C8A-A4F5-221A904EAFA9}">
      <dgm:prSet/>
      <dgm:spPr/>
      <dgm:t>
        <a:bodyPr/>
        <a:lstStyle/>
        <a:p>
          <a:endParaRPr lang="en-US"/>
        </a:p>
      </dgm:t>
    </dgm:pt>
    <dgm:pt modelId="{71B0FD0D-E8DD-45C2-B425-3E7EDBA0602B}">
      <dgm:prSet/>
      <dgm:spPr/>
      <dgm:t>
        <a:bodyPr/>
        <a:lstStyle/>
        <a:p>
          <a:pPr>
            <a:lnSpc>
              <a:spcPct val="100000"/>
            </a:lnSpc>
          </a:pPr>
          <a:r>
            <a:rPr lang="en-US" b="1"/>
            <a:t>No referral for existing Claim</a:t>
          </a:r>
          <a:r>
            <a:rPr lang="en-US"/>
            <a:t>; Wholesale agent receives the renewal at 61 days prior to expiry -&gt; Quotes, Binds and Issues the policy</a:t>
          </a:r>
        </a:p>
      </dgm:t>
    </dgm:pt>
    <dgm:pt modelId="{874DCB2E-4F9E-41FA-BCBC-1DB4504CBBCC}" type="parTrans" cxnId="{D9D077BD-B89C-4F7A-A5CF-18DBA98436FF}">
      <dgm:prSet/>
      <dgm:spPr/>
      <dgm:t>
        <a:bodyPr/>
        <a:lstStyle/>
        <a:p>
          <a:endParaRPr lang="en-US"/>
        </a:p>
      </dgm:t>
    </dgm:pt>
    <dgm:pt modelId="{3A7DE478-A5F1-49FF-BFFA-A8B0CB0F3958}" type="sibTrans" cxnId="{D9D077BD-B89C-4F7A-A5CF-18DBA98436FF}">
      <dgm:prSet/>
      <dgm:spPr/>
      <dgm:t>
        <a:bodyPr/>
        <a:lstStyle/>
        <a:p>
          <a:endParaRPr lang="en-US"/>
        </a:p>
      </dgm:t>
    </dgm:pt>
    <dgm:pt modelId="{EA1B89E2-2546-47D0-A499-A6A3BFD1F649}">
      <dgm:prSet/>
      <dgm:spPr/>
      <dgm:t>
        <a:bodyPr/>
        <a:lstStyle/>
        <a:p>
          <a:pPr>
            <a:lnSpc>
              <a:spcPct val="100000"/>
            </a:lnSpc>
          </a:pPr>
          <a:r>
            <a:rPr lang="en-US"/>
            <a:t>Processor to UW; </a:t>
          </a:r>
          <a:r>
            <a:rPr lang="en-US" b="1"/>
            <a:t>Re-refers for Claim &gt; 150k (Existing prior approved claim and new ones)</a:t>
          </a:r>
        </a:p>
      </dgm:t>
    </dgm:pt>
    <dgm:pt modelId="{A6358B0F-837E-4163-BF8D-0B23268E7BC9}" type="parTrans" cxnId="{D54F537B-C973-4893-BFE8-683B4D1F174B}">
      <dgm:prSet/>
      <dgm:spPr/>
      <dgm:t>
        <a:bodyPr/>
        <a:lstStyle/>
        <a:p>
          <a:endParaRPr lang="en-US"/>
        </a:p>
      </dgm:t>
    </dgm:pt>
    <dgm:pt modelId="{8A04AAB4-D815-41CD-9868-571EC14687A8}" type="sibTrans" cxnId="{D54F537B-C973-4893-BFE8-683B4D1F174B}">
      <dgm:prSet/>
      <dgm:spPr/>
      <dgm:t>
        <a:bodyPr/>
        <a:lstStyle/>
        <a:p>
          <a:endParaRPr lang="en-US"/>
        </a:p>
      </dgm:t>
    </dgm:pt>
    <dgm:pt modelId="{942412AE-85B8-4A04-A553-6292CECBE80C}">
      <dgm:prSet/>
      <dgm:spPr/>
      <dgm:t>
        <a:bodyPr/>
        <a:lstStyle/>
        <a:p>
          <a:pPr>
            <a:lnSpc>
              <a:spcPct val="100000"/>
            </a:lnSpc>
          </a:pPr>
          <a:endParaRPr lang="en-US" b="1"/>
        </a:p>
      </dgm:t>
    </dgm:pt>
    <dgm:pt modelId="{84FB0CFC-9724-4000-8F4C-F72FB30A905A}" type="parTrans" cxnId="{F108099D-CE03-4278-A964-69CF7C5EA13B}">
      <dgm:prSet/>
      <dgm:spPr/>
      <dgm:t>
        <a:bodyPr/>
        <a:lstStyle/>
        <a:p>
          <a:endParaRPr lang="en-US"/>
        </a:p>
      </dgm:t>
    </dgm:pt>
    <dgm:pt modelId="{B67F393F-45DE-486A-9D48-C3DA1185F0AB}" type="sibTrans" cxnId="{F108099D-CE03-4278-A964-69CF7C5EA13B}">
      <dgm:prSet/>
      <dgm:spPr/>
      <dgm:t>
        <a:bodyPr/>
        <a:lstStyle/>
        <a:p>
          <a:endParaRPr lang="en-US"/>
        </a:p>
      </dgm:t>
    </dgm:pt>
    <dgm:pt modelId="{7A2138EA-21C1-4250-8F2C-691EBE0AD61C}">
      <dgm:prSet/>
      <dgm:spPr/>
      <dgm:t>
        <a:bodyPr/>
        <a:lstStyle/>
        <a:p>
          <a:pPr>
            <a:lnSpc>
              <a:spcPct val="100000"/>
            </a:lnSpc>
          </a:pPr>
          <a:r>
            <a:rPr lang="en-US"/>
            <a:t>Processor to UW; </a:t>
          </a:r>
          <a:r>
            <a:rPr lang="en-US" b="1"/>
            <a:t>Re-refers for Claim &gt; 150k (Existing prior approved claim and new ones)</a:t>
          </a:r>
        </a:p>
      </dgm:t>
    </dgm:pt>
    <dgm:pt modelId="{03BC6C8E-2E42-4AA4-A87A-F69FB2FB609D}" type="parTrans" cxnId="{8C244CA4-BA76-4DB4-B88E-0E569202E6BD}">
      <dgm:prSet/>
      <dgm:spPr/>
      <dgm:t>
        <a:bodyPr/>
        <a:lstStyle/>
        <a:p>
          <a:endParaRPr lang="en-US"/>
        </a:p>
      </dgm:t>
    </dgm:pt>
    <dgm:pt modelId="{3304B893-7747-46DD-A80A-AF10D5021FB4}" type="sibTrans" cxnId="{8C244CA4-BA76-4DB4-B88E-0E569202E6BD}">
      <dgm:prSet/>
      <dgm:spPr/>
      <dgm:t>
        <a:bodyPr/>
        <a:lstStyle/>
        <a:p>
          <a:endParaRPr lang="en-US"/>
        </a:p>
      </dgm:t>
    </dgm:pt>
    <dgm:pt modelId="{1EE66CC5-BDA6-45BC-B8CA-1263D2E589AE}">
      <dgm:prSet/>
      <dgm:spPr/>
      <dgm:t>
        <a:bodyPr/>
        <a:lstStyle/>
        <a:p>
          <a:pPr>
            <a:lnSpc>
              <a:spcPct val="100000"/>
            </a:lnSpc>
            <a:buNone/>
          </a:pPr>
          <a:r>
            <a:rPr lang="en-US" b="0"/>
            <a:t>REN 02:</a:t>
          </a:r>
        </a:p>
      </dgm:t>
    </dgm:pt>
    <dgm:pt modelId="{96FB7A19-EB8B-473C-A389-B3D8C3D754B8}" type="parTrans" cxnId="{7D3A1247-0FBE-4FF3-B3AD-5FF5EFE83E61}">
      <dgm:prSet/>
      <dgm:spPr/>
      <dgm:t>
        <a:bodyPr/>
        <a:lstStyle/>
        <a:p>
          <a:endParaRPr lang="en-US"/>
        </a:p>
      </dgm:t>
    </dgm:pt>
    <dgm:pt modelId="{2ADAD888-4B31-4FE6-AC8F-5B73C8D72CCB}" type="sibTrans" cxnId="{7D3A1247-0FBE-4FF3-B3AD-5FF5EFE83E61}">
      <dgm:prSet/>
      <dgm:spPr/>
      <dgm:t>
        <a:bodyPr/>
        <a:lstStyle/>
        <a:p>
          <a:endParaRPr lang="en-US"/>
        </a:p>
      </dgm:t>
    </dgm:pt>
    <dgm:pt modelId="{E16F89ED-B633-4B72-8505-FCCDE443E05A}">
      <dgm:prSet/>
      <dgm:spPr/>
      <dgm:t>
        <a:bodyPr/>
        <a:lstStyle/>
        <a:p>
          <a:pPr>
            <a:lnSpc>
              <a:spcPct val="100000"/>
            </a:lnSpc>
          </a:pPr>
          <a:r>
            <a:rPr lang="en-US"/>
            <a:t>Processor to UW; </a:t>
          </a:r>
          <a:r>
            <a:rPr lang="en-US" b="1"/>
            <a:t>Re-refers for Claim &gt; 150k (Existing prior approved claim and new ones)</a:t>
          </a:r>
        </a:p>
      </dgm:t>
    </dgm:pt>
    <dgm:pt modelId="{1F67D97E-17F4-4EF5-BA2F-01164EE5660F}" type="parTrans" cxnId="{4661B22F-A061-44B7-B8A5-01BED33C9ED8}">
      <dgm:prSet/>
      <dgm:spPr/>
      <dgm:t>
        <a:bodyPr/>
        <a:lstStyle/>
        <a:p>
          <a:endParaRPr lang="en-US"/>
        </a:p>
      </dgm:t>
    </dgm:pt>
    <dgm:pt modelId="{4F99024C-50EB-4120-981E-9E9C179E709D}" type="sibTrans" cxnId="{4661B22F-A061-44B7-B8A5-01BED33C9ED8}">
      <dgm:prSet/>
      <dgm:spPr/>
      <dgm:t>
        <a:bodyPr/>
        <a:lstStyle/>
        <a:p>
          <a:endParaRPr lang="en-US"/>
        </a:p>
      </dgm:t>
    </dgm:pt>
    <dgm:pt modelId="{C17D0619-43D7-41D2-A815-AB6A75B8F962}">
      <dgm:prSet/>
      <dgm:spPr/>
      <dgm:t>
        <a:bodyPr/>
        <a:lstStyle/>
        <a:p>
          <a:pPr>
            <a:lnSpc>
              <a:spcPct val="100000"/>
            </a:lnSpc>
          </a:pPr>
          <a:r>
            <a:rPr lang="en-US"/>
            <a:t>Wholesale Agent to UW; </a:t>
          </a:r>
          <a:r>
            <a:rPr lang="en-US" b="1"/>
            <a:t>Referral for Claim &gt; 150k</a:t>
          </a:r>
        </a:p>
      </dgm:t>
    </dgm:pt>
    <dgm:pt modelId="{FC98F3F1-FA8A-4DED-BA5C-DEFEBF8FB3C2}" type="parTrans" cxnId="{3C652056-92F8-475B-A413-7CF7EEF7C862}">
      <dgm:prSet/>
      <dgm:spPr/>
      <dgm:t>
        <a:bodyPr/>
        <a:lstStyle/>
        <a:p>
          <a:endParaRPr lang="en-US"/>
        </a:p>
      </dgm:t>
    </dgm:pt>
    <dgm:pt modelId="{C33E61A3-A465-4825-A4DB-B078554909C5}" type="sibTrans" cxnId="{3C652056-92F8-475B-A413-7CF7EEF7C862}">
      <dgm:prSet/>
      <dgm:spPr/>
      <dgm:t>
        <a:bodyPr/>
        <a:lstStyle/>
        <a:p>
          <a:endParaRPr lang="en-US"/>
        </a:p>
      </dgm:t>
    </dgm:pt>
    <dgm:pt modelId="{98FFCE08-3ABC-48A9-8DA3-8CEADAF13735}">
      <dgm:prSet/>
      <dgm:spPr/>
      <dgm:t>
        <a:bodyPr/>
        <a:lstStyle/>
        <a:p>
          <a:pPr>
            <a:lnSpc>
              <a:spcPct val="100000"/>
            </a:lnSpc>
          </a:pPr>
          <a:r>
            <a:rPr lang="en-US"/>
            <a:t>Processor to UW; </a:t>
          </a:r>
          <a:r>
            <a:rPr lang="en-US" b="1"/>
            <a:t>Referral for Claim &gt; 150k</a:t>
          </a:r>
          <a:endParaRPr lang="en-US"/>
        </a:p>
      </dgm:t>
    </dgm:pt>
    <dgm:pt modelId="{D2654BE9-2843-42A5-BECD-6A74FCE68349}" type="parTrans" cxnId="{8B83B9D8-57C7-4B31-903C-8D7CCA839212}">
      <dgm:prSet/>
      <dgm:spPr/>
      <dgm:t>
        <a:bodyPr/>
        <a:lstStyle/>
        <a:p>
          <a:endParaRPr lang="en-US"/>
        </a:p>
      </dgm:t>
    </dgm:pt>
    <dgm:pt modelId="{3AD0C630-C41D-45BE-99BB-C16A18A20181}" type="sibTrans" cxnId="{8B83B9D8-57C7-4B31-903C-8D7CCA839212}">
      <dgm:prSet/>
      <dgm:spPr/>
      <dgm:t>
        <a:bodyPr/>
        <a:lstStyle/>
        <a:p>
          <a:endParaRPr lang="en-US"/>
        </a:p>
      </dgm:t>
    </dgm:pt>
    <dgm:pt modelId="{845AC8A9-02B5-490A-B763-662582751FED}">
      <dgm:prSet/>
      <dgm:spPr/>
      <dgm:t>
        <a:bodyPr/>
        <a:lstStyle/>
        <a:p>
          <a:pPr>
            <a:lnSpc>
              <a:spcPct val="100000"/>
            </a:lnSpc>
          </a:pPr>
          <a:r>
            <a:rPr lang="en-US"/>
            <a:t>Wholesale Agent to UW; </a:t>
          </a:r>
          <a:r>
            <a:rPr lang="en-US" b="1"/>
            <a:t>Referral for Claim &gt; 150k</a:t>
          </a:r>
        </a:p>
      </dgm:t>
    </dgm:pt>
    <dgm:pt modelId="{6B7F23B2-0ACD-4EB3-AFF3-60B3DAE0C3C0}" type="parTrans" cxnId="{DCC0EC98-B783-4CEC-9DB3-F4A93C8C0E85}">
      <dgm:prSet/>
      <dgm:spPr/>
      <dgm:t>
        <a:bodyPr/>
        <a:lstStyle/>
        <a:p>
          <a:endParaRPr lang="en-US"/>
        </a:p>
      </dgm:t>
    </dgm:pt>
    <dgm:pt modelId="{22B6FDC8-90AC-482A-AC7B-AD432C3497C3}" type="sibTrans" cxnId="{DCC0EC98-B783-4CEC-9DB3-F4A93C8C0E85}">
      <dgm:prSet/>
      <dgm:spPr/>
      <dgm:t>
        <a:bodyPr/>
        <a:lstStyle/>
        <a:p>
          <a:endParaRPr lang="en-US"/>
        </a:p>
      </dgm:t>
    </dgm:pt>
    <dgm:pt modelId="{133DC5F4-0022-437F-980D-62CC19639157}">
      <dgm:prSet/>
      <dgm:spPr/>
      <dgm:t>
        <a:bodyPr/>
        <a:lstStyle/>
        <a:p>
          <a:pPr>
            <a:lnSpc>
              <a:spcPct val="100000"/>
            </a:lnSpc>
            <a:buNone/>
          </a:pPr>
          <a:r>
            <a:rPr lang="en-US"/>
            <a:t>REN 01:</a:t>
          </a:r>
        </a:p>
      </dgm:t>
    </dgm:pt>
    <dgm:pt modelId="{BDC13F8E-ECE5-4D5C-A64E-147B49340521}" type="parTrans" cxnId="{B65047D4-7948-4877-95AC-11278C2C0BF8}">
      <dgm:prSet/>
      <dgm:spPr/>
      <dgm:t>
        <a:bodyPr/>
        <a:lstStyle/>
        <a:p>
          <a:endParaRPr lang="en-US"/>
        </a:p>
      </dgm:t>
    </dgm:pt>
    <dgm:pt modelId="{14757B01-FCEB-4092-905C-EBE603AF961E}" type="sibTrans" cxnId="{B65047D4-7948-4877-95AC-11278C2C0BF8}">
      <dgm:prSet/>
      <dgm:spPr/>
      <dgm:t>
        <a:bodyPr/>
        <a:lstStyle/>
        <a:p>
          <a:endParaRPr lang="en-US"/>
        </a:p>
      </dgm:t>
    </dgm:pt>
    <dgm:pt modelId="{3A766D87-CD1A-4C1F-9A5D-FE5D6DE2B101}">
      <dgm:prSet/>
      <dgm:spPr/>
      <dgm:t>
        <a:bodyPr/>
        <a:lstStyle/>
        <a:p>
          <a:pPr>
            <a:lnSpc>
              <a:spcPct val="100000"/>
            </a:lnSpc>
            <a:buFont typeface="Arial" panose="020B0604020202020204" pitchFamily="34" charset="0"/>
            <a:buChar char="•"/>
          </a:pPr>
          <a:r>
            <a:rPr lang="en-US" b="1"/>
            <a:t>No referral, since rule is applicable to Renewals only</a:t>
          </a:r>
        </a:p>
      </dgm:t>
    </dgm:pt>
    <dgm:pt modelId="{B8DC6489-7E2A-443E-9B9F-184B35D97579}" type="parTrans" cxnId="{71376EE4-5375-4C80-B4F8-9A38722F07CA}">
      <dgm:prSet/>
      <dgm:spPr/>
      <dgm:t>
        <a:bodyPr/>
        <a:lstStyle/>
        <a:p>
          <a:endParaRPr lang="en-US"/>
        </a:p>
      </dgm:t>
    </dgm:pt>
    <dgm:pt modelId="{56F5AC20-0D8E-4C2E-B990-1CFDFE7A2BE3}" type="sibTrans" cxnId="{71376EE4-5375-4C80-B4F8-9A38722F07CA}">
      <dgm:prSet/>
      <dgm:spPr/>
      <dgm:t>
        <a:bodyPr/>
        <a:lstStyle/>
        <a:p>
          <a:endParaRPr lang="en-US"/>
        </a:p>
      </dgm:t>
    </dgm:pt>
    <dgm:pt modelId="{3538EA7F-F13E-408A-BCC4-632ADEF313B4}" type="pres">
      <dgm:prSet presAssocID="{1039D8DC-8B21-4027-B8F5-FD05FF00CE29}" presName="Name0" presStyleCnt="0">
        <dgm:presLayoutVars>
          <dgm:dir/>
          <dgm:animLvl val="lvl"/>
          <dgm:resizeHandles val="exact"/>
        </dgm:presLayoutVars>
      </dgm:prSet>
      <dgm:spPr/>
    </dgm:pt>
    <dgm:pt modelId="{95B1A86E-76DF-41C1-8702-283CA33747CE}" type="pres">
      <dgm:prSet presAssocID="{B374747E-716B-4D48-94A4-E5FBD3FCBDF2}" presName="composite" presStyleCnt="0"/>
      <dgm:spPr/>
    </dgm:pt>
    <dgm:pt modelId="{A01A0BE7-B64B-4359-A208-44D79434910C}" type="pres">
      <dgm:prSet presAssocID="{B374747E-716B-4D48-94A4-E5FBD3FCBDF2}" presName="parTx" presStyleLbl="alignNode1" presStyleIdx="0" presStyleCnt="3">
        <dgm:presLayoutVars>
          <dgm:chMax val="0"/>
          <dgm:chPref val="0"/>
          <dgm:bulletEnabled val="1"/>
        </dgm:presLayoutVars>
      </dgm:prSet>
      <dgm:spPr/>
    </dgm:pt>
    <dgm:pt modelId="{9D703FC8-C704-4378-B28C-5A978495DA55}" type="pres">
      <dgm:prSet presAssocID="{B374747E-716B-4D48-94A4-E5FBD3FCBDF2}" presName="desTx" presStyleLbl="alignAccFollowNode1" presStyleIdx="0" presStyleCnt="3">
        <dgm:presLayoutVars>
          <dgm:bulletEnabled val="1"/>
        </dgm:presLayoutVars>
      </dgm:prSet>
      <dgm:spPr/>
    </dgm:pt>
    <dgm:pt modelId="{20DFAEFD-FFBE-493F-9D57-7330FCACF066}" type="pres">
      <dgm:prSet presAssocID="{315335AB-6883-40AC-9225-43B6E34D3887}" presName="space" presStyleCnt="0"/>
      <dgm:spPr/>
    </dgm:pt>
    <dgm:pt modelId="{F6F61260-5991-4E1F-957E-0286B5D0C149}" type="pres">
      <dgm:prSet presAssocID="{4E3E961F-0BE0-4601-B8EB-0953D768A3E7}" presName="composite" presStyleCnt="0"/>
      <dgm:spPr/>
    </dgm:pt>
    <dgm:pt modelId="{A6D6369C-AFBB-42FC-9537-61D99DB4EDA2}" type="pres">
      <dgm:prSet presAssocID="{4E3E961F-0BE0-4601-B8EB-0953D768A3E7}" presName="parTx" presStyleLbl="alignNode1" presStyleIdx="1" presStyleCnt="3">
        <dgm:presLayoutVars>
          <dgm:chMax val="0"/>
          <dgm:chPref val="0"/>
          <dgm:bulletEnabled val="1"/>
        </dgm:presLayoutVars>
      </dgm:prSet>
      <dgm:spPr/>
    </dgm:pt>
    <dgm:pt modelId="{A97F7F04-3019-44FC-B470-E9DAC4E3A724}" type="pres">
      <dgm:prSet presAssocID="{4E3E961F-0BE0-4601-B8EB-0953D768A3E7}" presName="desTx" presStyleLbl="alignAccFollowNode1" presStyleIdx="1" presStyleCnt="3">
        <dgm:presLayoutVars>
          <dgm:bulletEnabled val="1"/>
        </dgm:presLayoutVars>
      </dgm:prSet>
      <dgm:spPr/>
    </dgm:pt>
    <dgm:pt modelId="{08EEBC58-010A-4E36-9B37-88E58F67F675}" type="pres">
      <dgm:prSet presAssocID="{AB3B17F6-A2E9-4C63-B900-F8CD59F8BAE5}" presName="space" presStyleCnt="0"/>
      <dgm:spPr/>
    </dgm:pt>
    <dgm:pt modelId="{8BA76D9D-F040-4670-9AA4-33080B3515F1}" type="pres">
      <dgm:prSet presAssocID="{C1D69062-FBC8-43E5-A995-B91A770F2C30}" presName="composite" presStyleCnt="0"/>
      <dgm:spPr/>
    </dgm:pt>
    <dgm:pt modelId="{B404C162-48F8-4D10-ACCF-E11F141BAE8A}" type="pres">
      <dgm:prSet presAssocID="{C1D69062-FBC8-43E5-A995-B91A770F2C30}" presName="parTx" presStyleLbl="alignNode1" presStyleIdx="2" presStyleCnt="3">
        <dgm:presLayoutVars>
          <dgm:chMax val="0"/>
          <dgm:chPref val="0"/>
          <dgm:bulletEnabled val="1"/>
        </dgm:presLayoutVars>
      </dgm:prSet>
      <dgm:spPr/>
    </dgm:pt>
    <dgm:pt modelId="{0B9DD5CA-5AD8-4006-9816-9677E52C77D1}" type="pres">
      <dgm:prSet presAssocID="{C1D69062-FBC8-43E5-A995-B91A770F2C30}" presName="desTx" presStyleLbl="alignAccFollowNode1" presStyleIdx="2" presStyleCnt="3">
        <dgm:presLayoutVars>
          <dgm:bulletEnabled val="1"/>
        </dgm:presLayoutVars>
      </dgm:prSet>
      <dgm:spPr/>
    </dgm:pt>
  </dgm:ptLst>
  <dgm:cxnLst>
    <dgm:cxn modelId="{70917807-E289-40FD-8D41-71EA9C77338A}" type="presOf" srcId="{98FFCE08-3ABC-48A9-8DA3-8CEADAF13735}" destId="{A97F7F04-3019-44FC-B470-E9DAC4E3A724}" srcOrd="0" destOrd="3" presId="urn:microsoft.com/office/officeart/2005/8/layout/hList1"/>
    <dgm:cxn modelId="{06B79607-DF06-4430-B3AD-72E7DFB50F01}" type="presOf" srcId="{4E3E961F-0BE0-4601-B8EB-0953D768A3E7}" destId="{A6D6369C-AFBB-42FC-9537-61D99DB4EDA2}" srcOrd="0" destOrd="0" presId="urn:microsoft.com/office/officeart/2005/8/layout/hList1"/>
    <dgm:cxn modelId="{06DB5B0F-5B64-4741-AD8E-4E551AC61B00}" srcId="{4E3E961F-0BE0-4601-B8EB-0953D768A3E7}" destId="{BFBF2820-3312-4F83-838D-F9BEE15A19C1}" srcOrd="2" destOrd="0" parTransId="{A666DDCE-1186-476B-8869-1917647E9875}" sibTransId="{F6668BD4-571B-4789-81E8-C83B00E18462}"/>
    <dgm:cxn modelId="{CFF80814-437F-44AF-8095-BBB7E8F24E6E}" type="presOf" srcId="{1EE66CC5-BDA6-45BC-B8CA-1263D2E589AE}" destId="{0B9DD5CA-5AD8-4006-9816-9677E52C77D1}" srcOrd="0" destOrd="6" presId="urn:microsoft.com/office/officeart/2005/8/layout/hList1"/>
    <dgm:cxn modelId="{B1EC0720-39EF-485D-A950-D7192AD73057}" srcId="{4E3E961F-0BE0-4601-B8EB-0953D768A3E7}" destId="{6CCA5CA5-CFAB-4994-A46F-E3AB80BB9423}" srcOrd="0" destOrd="0" parTransId="{ECAF0FA8-4866-41EB-9924-1F6CD15FE688}" sibTransId="{93BBFDDC-9FE1-436D-BE9A-04BB65DE6230}"/>
    <dgm:cxn modelId="{61CC2B21-B32F-4EC8-B4A9-4712E92AE6F7}" type="presOf" srcId="{4C7A508F-CB7B-4C1D-A266-C3D00F872329}" destId="{9D703FC8-C704-4378-B28C-5A978495DA55}" srcOrd="0" destOrd="4" presId="urn:microsoft.com/office/officeart/2005/8/layout/hList1"/>
    <dgm:cxn modelId="{00DDAD21-A907-48BC-8647-29D33FA40DC6}" type="presOf" srcId="{133DC5F4-0022-437F-980D-62CC19639157}" destId="{A97F7F04-3019-44FC-B470-E9DAC4E3A724}" srcOrd="0" destOrd="2" presId="urn:microsoft.com/office/officeart/2005/8/layout/hList1"/>
    <dgm:cxn modelId="{5DE5BC26-78FA-4C93-9709-C690D98EAA27}" type="presOf" srcId="{BFBF2820-3312-4F83-838D-F9BEE15A19C1}" destId="{A97F7F04-3019-44FC-B470-E9DAC4E3A724}" srcOrd="0" destOrd="6" presId="urn:microsoft.com/office/officeart/2005/8/layout/hList1"/>
    <dgm:cxn modelId="{6CE3242E-B2F5-4480-B1DB-AE95FE01EC5C}" srcId="{64152806-A0E4-4923-81C6-72D5FB2CBAFF}" destId="{CEA97ED5-5C8C-4413-B39E-7DAF96B700D3}" srcOrd="1" destOrd="0" parTransId="{58684378-DDED-444E-9715-542875B5591D}" sibTransId="{A6532883-7FE0-462A-86AE-E1AF74020076}"/>
    <dgm:cxn modelId="{4661B22F-A061-44B7-B8A5-01BED33C9ED8}" srcId="{1EE66CC5-BDA6-45BC-B8CA-1263D2E589AE}" destId="{E16F89ED-B633-4B72-8505-FCCDE443E05A}" srcOrd="0" destOrd="0" parTransId="{1F67D97E-17F4-4EF5-BA2F-01164EE5660F}" sibTransId="{4F99024C-50EB-4120-981E-9E9C179E709D}"/>
    <dgm:cxn modelId="{5D178930-9B42-41FB-A60B-A8D001D99092}" srcId="{1039D8DC-8B21-4027-B8F5-FD05FF00CE29}" destId="{4E3E961F-0BE0-4601-B8EB-0953D768A3E7}" srcOrd="1" destOrd="0" parTransId="{CEE31679-6890-4DF0-9C8E-43062C8C361C}" sibTransId="{AB3B17F6-A2E9-4C63-B900-F8CD59F8BAE5}"/>
    <dgm:cxn modelId="{ADAB6C3C-BCD3-4E0D-8C18-BD23F732872D}" type="presOf" srcId="{EA1B89E2-2546-47D0-A499-A6A3BFD1F649}" destId="{A97F7F04-3019-44FC-B470-E9DAC4E3A724}" srcOrd="0" destOrd="7" presId="urn:microsoft.com/office/officeart/2005/8/layout/hList1"/>
    <dgm:cxn modelId="{5298EA3C-05BA-494A-AAF0-28702F5713E2}" type="presOf" srcId="{C17D0619-43D7-41D2-A815-AB6A75B8F962}" destId="{9D703FC8-C704-4378-B28C-5A978495DA55}" srcOrd="0" destOrd="1" presId="urn:microsoft.com/office/officeart/2005/8/layout/hList1"/>
    <dgm:cxn modelId="{C38A1F5B-8FC1-4C9D-B88A-DE4977E8E82A}" type="presOf" srcId="{CF87483A-A851-47C8-AA5B-76472A0297E3}" destId="{0B9DD5CA-5AD8-4006-9816-9677E52C77D1}" srcOrd="0" destOrd="4" presId="urn:microsoft.com/office/officeart/2005/8/layout/hList1"/>
    <dgm:cxn modelId="{57B47E5C-5C2C-4F65-9C3B-CFC4331B0E02}" srcId="{133DC5F4-0022-437F-980D-62CC19639157}" destId="{DA2670CC-CE64-43E6-B821-A5D8233A0D64}" srcOrd="1" destOrd="0" parTransId="{67C5023F-F515-4F1B-AD9A-91DBDC79C4E9}" sibTransId="{87D9A3E2-203A-48C7-AF5E-1F45A747FC17}"/>
    <dgm:cxn modelId="{B1F6775D-B5E3-4D74-A3B0-C49F213A30B1}" srcId="{5B169A58-0A57-442E-AC5A-47D88A54CA7D}" destId="{8E25A560-C6D9-4DB6-B1FB-D40A89DE3B86}" srcOrd="2" destOrd="0" parTransId="{03C0342E-C54E-4060-9875-B27E91FAA220}" sibTransId="{A485C75E-2BC2-48DC-A6B5-17356CCC897F}"/>
    <dgm:cxn modelId="{7A3E8343-F05E-4225-BD97-073E42424394}" type="presOf" srcId="{B0BEE4EC-2787-4FC3-BB91-881F24D08037}" destId="{9D703FC8-C704-4378-B28C-5A978495DA55}" srcOrd="0" destOrd="3" presId="urn:microsoft.com/office/officeart/2005/8/layout/hList1"/>
    <dgm:cxn modelId="{92DEE144-8A33-4C1E-9249-F596312460B3}" type="presOf" srcId="{4D5E32AC-5800-45AF-936C-895F75BC36D4}" destId="{0B9DD5CA-5AD8-4006-9816-9677E52C77D1}" srcOrd="0" destOrd="2" presId="urn:microsoft.com/office/officeart/2005/8/layout/hList1"/>
    <dgm:cxn modelId="{7D3A1247-0FBE-4FF3-B3AD-5FF5EFE83E61}" srcId="{C1D69062-FBC8-43E5-A995-B91A770F2C30}" destId="{1EE66CC5-BDA6-45BC-B8CA-1263D2E589AE}" srcOrd="2" destOrd="0" parTransId="{96FB7A19-EB8B-473C-A389-B3D8C3D754B8}" sibTransId="{2ADAD888-4B31-4FE6-AC8F-5B73C8D72CCB}"/>
    <dgm:cxn modelId="{4E798B4A-0076-4C8A-A4F5-221A904EAFA9}" srcId="{4C7A508F-CB7B-4C1D-A266-C3D00F872329}" destId="{E0054551-462F-4449-86A5-85374429143C}" srcOrd="0" destOrd="0" parTransId="{05D90661-6226-43DE-A826-E6DFDF9C03FD}" sibTransId="{5A4F7C43-FBC0-4450-B4A0-A5220F6545DE}"/>
    <dgm:cxn modelId="{B1709D4C-432D-4FFD-BCD6-FF0C54384CD5}" type="presOf" srcId="{71B0FD0D-E8DD-45C2-B425-3E7EDBA0602B}" destId="{9D703FC8-C704-4378-B28C-5A978495DA55}" srcOrd="0" destOrd="6" presId="urn:microsoft.com/office/officeart/2005/8/layout/hList1"/>
    <dgm:cxn modelId="{82A9BB6C-085B-4F3D-8223-F4DC607913E7}" srcId="{1039D8DC-8B21-4027-B8F5-FD05FF00CE29}" destId="{C1D69062-FBC8-43E5-A995-B91A770F2C30}" srcOrd="2" destOrd="0" parTransId="{A82EAD01-82FD-45D2-BE52-739D90635709}" sibTransId="{6FD79696-460E-4464-A3B5-47F6F32A5C55}"/>
    <dgm:cxn modelId="{91206F6E-9C54-4D5C-AC6B-74CF517B2A5D}" srcId="{B374747E-716B-4D48-94A4-E5FBD3FCBDF2}" destId="{64152806-A0E4-4923-81C6-72D5FB2CBAFF}" srcOrd="0" destOrd="0" parTransId="{DEE5AAC8-0DDE-4D63-AA33-DECC31AB10D4}" sibTransId="{DFD54524-247A-44CE-9B11-7FE94217356E}"/>
    <dgm:cxn modelId="{7282FB55-58E6-4968-A063-9625888A5FD7}" type="presOf" srcId="{7A2138EA-21C1-4250-8F2C-691EBE0AD61C}" destId="{0B9DD5CA-5AD8-4006-9816-9677E52C77D1}" srcOrd="0" destOrd="5" presId="urn:microsoft.com/office/officeart/2005/8/layout/hList1"/>
    <dgm:cxn modelId="{D36C1576-CCFE-491F-AB45-2C65AEAA44E9}" type="presOf" srcId="{3A766D87-CD1A-4C1F-9A5D-FE5D6DE2B101}" destId="{A97F7F04-3019-44FC-B470-E9DAC4E3A724}" srcOrd="0" destOrd="1" presId="urn:microsoft.com/office/officeart/2005/8/layout/hList1"/>
    <dgm:cxn modelId="{3C652056-92F8-475B-A413-7CF7EEF7C862}" srcId="{64152806-A0E4-4923-81C6-72D5FB2CBAFF}" destId="{C17D0619-43D7-41D2-A815-AB6A75B8F962}" srcOrd="0" destOrd="0" parTransId="{FC98F3F1-FA8A-4DED-BA5C-DEFEBF8FB3C2}" sibTransId="{C33E61A3-A465-4825-A4DB-B078554909C5}"/>
    <dgm:cxn modelId="{E0B66859-1ACD-4804-BCA5-ABF589726656}" type="presOf" srcId="{C1D69062-FBC8-43E5-A995-B91A770F2C30}" destId="{B404C162-48F8-4D10-ACCF-E11F141BAE8A}" srcOrd="0" destOrd="0" presId="urn:microsoft.com/office/officeart/2005/8/layout/hList1"/>
    <dgm:cxn modelId="{CB91BF59-09BB-4198-B148-DADA0BBA45CD}" type="presOf" srcId="{942412AE-85B8-4A04-A553-6292CECBE80C}" destId="{A97F7F04-3019-44FC-B470-E9DAC4E3A724}" srcOrd="0" destOrd="8" presId="urn:microsoft.com/office/officeart/2005/8/layout/hList1"/>
    <dgm:cxn modelId="{9582565A-E5DD-4E4F-AD38-73395D96FE72}" srcId="{64152806-A0E4-4923-81C6-72D5FB2CBAFF}" destId="{B0BEE4EC-2787-4FC3-BB91-881F24D08037}" srcOrd="2" destOrd="0" parTransId="{46BFFBFF-A43B-49F8-AD79-FC3BE5EBE04B}" sibTransId="{5B2135E7-F514-4982-A2F0-14D0E79CEB76}"/>
    <dgm:cxn modelId="{D54F537B-C973-4893-BFE8-683B4D1F174B}" srcId="{BFBF2820-3312-4F83-838D-F9BEE15A19C1}" destId="{EA1B89E2-2546-47D0-A499-A6A3BFD1F649}" srcOrd="0" destOrd="0" parTransId="{A6358B0F-837E-4163-BF8D-0B23268E7BC9}" sibTransId="{8A04AAB4-D815-41CD-9868-571EC14687A8}"/>
    <dgm:cxn modelId="{35D15F81-A726-48F6-A0A7-A14E6B1C7FAD}" type="presOf" srcId="{B374747E-716B-4D48-94A4-E5FBD3FCBDF2}" destId="{A01A0BE7-B64B-4359-A208-44D79434910C}" srcOrd="0" destOrd="0" presId="urn:microsoft.com/office/officeart/2005/8/layout/hList1"/>
    <dgm:cxn modelId="{4D3F7487-04A9-4A16-A3D7-B8582E45CF80}" type="presOf" srcId="{DA2670CC-CE64-43E6-B821-A5D8233A0D64}" destId="{A97F7F04-3019-44FC-B470-E9DAC4E3A724}" srcOrd="0" destOrd="4" presId="urn:microsoft.com/office/officeart/2005/8/layout/hList1"/>
    <dgm:cxn modelId="{E8DE618D-5DCE-493E-A23C-A9A54C154286}" type="presOf" srcId="{CEA97ED5-5C8C-4413-B39E-7DAF96B700D3}" destId="{9D703FC8-C704-4378-B28C-5A978495DA55}" srcOrd="0" destOrd="2" presId="urn:microsoft.com/office/officeart/2005/8/layout/hList1"/>
    <dgm:cxn modelId="{34B37194-FA1C-4FF5-9B66-C54776EF2734}" srcId="{1039D8DC-8B21-4027-B8F5-FD05FF00CE29}" destId="{B374747E-716B-4D48-94A4-E5FBD3FCBDF2}" srcOrd="0" destOrd="0" parTransId="{11712F7E-1DF7-4AFE-A84D-93B3DCA42BE9}" sibTransId="{315335AB-6883-40AC-9225-43B6E34D3887}"/>
    <dgm:cxn modelId="{A1FFA697-C5C1-4179-A98B-4E68979C710D}" type="presOf" srcId="{8E25A560-C6D9-4DB6-B1FB-D40A89DE3B86}" destId="{0B9DD5CA-5AD8-4006-9816-9677E52C77D1}" srcOrd="0" destOrd="3" presId="urn:microsoft.com/office/officeart/2005/8/layout/hList1"/>
    <dgm:cxn modelId="{DCC0EC98-B783-4CEC-9DB3-F4A93C8C0E85}" srcId="{5B169A58-0A57-442E-AC5A-47D88A54CA7D}" destId="{845AC8A9-02B5-490A-B763-662582751FED}" srcOrd="0" destOrd="0" parTransId="{6B7F23B2-0ACD-4EB3-AFF3-60B3DAE0C3C0}" sibTransId="{22B6FDC8-90AC-482A-AC7B-AD432C3497C3}"/>
    <dgm:cxn modelId="{13C3AB9C-946F-48F4-8A13-BDD56D7E8C84}" srcId="{5B169A58-0A57-442E-AC5A-47D88A54CA7D}" destId="{4D5E32AC-5800-45AF-936C-895F75BC36D4}" srcOrd="1" destOrd="0" parTransId="{3618161F-AD83-403E-8E7F-5DB43C1916E7}" sibTransId="{07B924BA-CD32-4775-B180-892D5B73186E}"/>
    <dgm:cxn modelId="{F108099D-CE03-4278-A964-69CF7C5EA13B}" srcId="{4E3E961F-0BE0-4601-B8EB-0953D768A3E7}" destId="{942412AE-85B8-4A04-A553-6292CECBE80C}" srcOrd="3" destOrd="0" parTransId="{84FB0CFC-9724-4000-8F4C-F72FB30A905A}" sibTransId="{B67F393F-45DE-486A-9D48-C3DA1185F0AB}"/>
    <dgm:cxn modelId="{0123B8A1-4F79-4E10-9D74-565E85C468B0}" srcId="{C1D69062-FBC8-43E5-A995-B91A770F2C30}" destId="{5B169A58-0A57-442E-AC5A-47D88A54CA7D}" srcOrd="0" destOrd="0" parTransId="{972CC04A-62AC-4BCB-A389-6FA8DFB57D03}" sibTransId="{896DCA38-2C54-41B4-9144-336C627A84E9}"/>
    <dgm:cxn modelId="{7B5579A3-EFCA-4838-9578-15E86418EC1C}" type="presOf" srcId="{E0054551-462F-4449-86A5-85374429143C}" destId="{9D703FC8-C704-4378-B28C-5A978495DA55}" srcOrd="0" destOrd="5" presId="urn:microsoft.com/office/officeart/2005/8/layout/hList1"/>
    <dgm:cxn modelId="{8C244CA4-BA76-4DB4-B88E-0E569202E6BD}" srcId="{CF87483A-A851-47C8-AA5B-76472A0297E3}" destId="{7A2138EA-21C1-4250-8F2C-691EBE0AD61C}" srcOrd="0" destOrd="0" parTransId="{03BC6C8E-2E42-4AA4-A87A-F69FB2FB609D}" sibTransId="{3304B893-7747-46DD-A80A-AF10D5021FB4}"/>
    <dgm:cxn modelId="{30F7CBAC-5108-4656-8EB1-50F4E1505347}" type="presOf" srcId="{64152806-A0E4-4923-81C6-72D5FB2CBAFF}" destId="{9D703FC8-C704-4378-B28C-5A978495DA55}" srcOrd="0" destOrd="0" presId="urn:microsoft.com/office/officeart/2005/8/layout/hList1"/>
    <dgm:cxn modelId="{CA8621B9-3005-4311-9715-8A43962E2A6A}" srcId="{133DC5F4-0022-437F-980D-62CC19639157}" destId="{5669DEE1-CE80-4787-AEBA-D5F0C13C5E1D}" srcOrd="2" destOrd="0" parTransId="{64532348-D14A-41C7-B8A5-0F39EDE7956A}" sibTransId="{8739D281-4611-409C-8051-3485DCE98EE7}"/>
    <dgm:cxn modelId="{D9D077BD-B89C-4F7A-A5CF-18DBA98436FF}" srcId="{4C7A508F-CB7B-4C1D-A266-C3D00F872329}" destId="{71B0FD0D-E8DD-45C2-B425-3E7EDBA0602B}" srcOrd="1" destOrd="0" parTransId="{874DCB2E-4F9E-41FA-BCBC-1DB4504CBBCC}" sibTransId="{3A7DE478-A5F1-49FF-BFFA-A8B0CB0F3958}"/>
    <dgm:cxn modelId="{C3DEB3C1-73C2-4BFA-96D9-E3A15A94C7C9}" srcId="{C1D69062-FBC8-43E5-A995-B91A770F2C30}" destId="{CF87483A-A851-47C8-AA5B-76472A0297E3}" srcOrd="1" destOrd="0" parTransId="{D47868C8-007B-4A46-93CE-C0C98DBF2796}" sibTransId="{B835692E-8469-481B-9BDA-6BD8DDAB9C60}"/>
    <dgm:cxn modelId="{BB9B2FCC-EFCE-4E59-BE38-060E1E8D441F}" type="presOf" srcId="{E16F89ED-B633-4B72-8505-FCCDE443E05A}" destId="{0B9DD5CA-5AD8-4006-9816-9677E52C77D1}" srcOrd="0" destOrd="7" presId="urn:microsoft.com/office/officeart/2005/8/layout/hList1"/>
    <dgm:cxn modelId="{6F5A5DCF-525D-4968-BE6C-2580F26A70C3}" type="presOf" srcId="{845AC8A9-02B5-490A-B763-662582751FED}" destId="{0B9DD5CA-5AD8-4006-9816-9677E52C77D1}" srcOrd="0" destOrd="1" presId="urn:microsoft.com/office/officeart/2005/8/layout/hList1"/>
    <dgm:cxn modelId="{B65047D4-7948-4877-95AC-11278C2C0BF8}" srcId="{4E3E961F-0BE0-4601-B8EB-0953D768A3E7}" destId="{133DC5F4-0022-437F-980D-62CC19639157}" srcOrd="1" destOrd="0" parTransId="{BDC13F8E-ECE5-4D5C-A64E-147B49340521}" sibTransId="{14757B01-FCEB-4092-905C-EBE603AF961E}"/>
    <dgm:cxn modelId="{8EBC6ED5-0195-4C63-9706-C107BF53D446}" type="presOf" srcId="{1039D8DC-8B21-4027-B8F5-FD05FF00CE29}" destId="{3538EA7F-F13E-408A-BCC4-632ADEF313B4}" srcOrd="0" destOrd="0" presId="urn:microsoft.com/office/officeart/2005/8/layout/hList1"/>
    <dgm:cxn modelId="{A1DDE1D6-6CCB-4049-B18E-63C08988E20F}" srcId="{B374747E-716B-4D48-94A4-E5FBD3FCBDF2}" destId="{4C7A508F-CB7B-4C1D-A266-C3D00F872329}" srcOrd="1" destOrd="0" parTransId="{66E0D484-0262-4AF0-A429-67C139A6DBC6}" sibTransId="{F0D41F63-48B6-4863-97B8-B72C1A0C9CC3}"/>
    <dgm:cxn modelId="{8B83B9D8-57C7-4B31-903C-8D7CCA839212}" srcId="{133DC5F4-0022-437F-980D-62CC19639157}" destId="{98FFCE08-3ABC-48A9-8DA3-8CEADAF13735}" srcOrd="0" destOrd="0" parTransId="{D2654BE9-2843-42A5-BECD-6A74FCE68349}" sibTransId="{3AD0C630-C41D-45BE-99BB-C16A18A20181}"/>
    <dgm:cxn modelId="{45EA87E2-1E78-4B88-8F9F-04BD231C42D9}" type="presOf" srcId="{5669DEE1-CE80-4787-AEBA-D5F0C13C5E1D}" destId="{A97F7F04-3019-44FC-B470-E9DAC4E3A724}" srcOrd="0" destOrd="5" presId="urn:microsoft.com/office/officeart/2005/8/layout/hList1"/>
    <dgm:cxn modelId="{141E40E3-5746-4A48-BBB0-C6D014B55999}" type="presOf" srcId="{5B169A58-0A57-442E-AC5A-47D88A54CA7D}" destId="{0B9DD5CA-5AD8-4006-9816-9677E52C77D1}" srcOrd="0" destOrd="0" presId="urn:microsoft.com/office/officeart/2005/8/layout/hList1"/>
    <dgm:cxn modelId="{71376EE4-5375-4C80-B4F8-9A38722F07CA}" srcId="{6CCA5CA5-CFAB-4994-A46F-E3AB80BB9423}" destId="{3A766D87-CD1A-4C1F-9A5D-FE5D6DE2B101}" srcOrd="0" destOrd="0" parTransId="{B8DC6489-7E2A-443E-9B9F-184B35D97579}" sibTransId="{56F5AC20-0D8E-4C2E-B990-1CFDFE7A2BE3}"/>
    <dgm:cxn modelId="{0EB80DE9-95C0-4F7E-B560-BB49FB5D1897}" type="presOf" srcId="{6CCA5CA5-CFAB-4994-A46F-E3AB80BB9423}" destId="{A97F7F04-3019-44FC-B470-E9DAC4E3A724}" srcOrd="0" destOrd="0" presId="urn:microsoft.com/office/officeart/2005/8/layout/hList1"/>
    <dgm:cxn modelId="{10499ACA-4B0D-4459-BA27-C94369960AFE}" type="presParOf" srcId="{3538EA7F-F13E-408A-BCC4-632ADEF313B4}" destId="{95B1A86E-76DF-41C1-8702-283CA33747CE}" srcOrd="0" destOrd="0" presId="urn:microsoft.com/office/officeart/2005/8/layout/hList1"/>
    <dgm:cxn modelId="{51D6ED98-D819-47BF-AB40-D833904874F0}" type="presParOf" srcId="{95B1A86E-76DF-41C1-8702-283CA33747CE}" destId="{A01A0BE7-B64B-4359-A208-44D79434910C}" srcOrd="0" destOrd="0" presId="urn:microsoft.com/office/officeart/2005/8/layout/hList1"/>
    <dgm:cxn modelId="{E9AC7878-8169-4FF8-B4C9-822E1E087C10}" type="presParOf" srcId="{95B1A86E-76DF-41C1-8702-283CA33747CE}" destId="{9D703FC8-C704-4378-B28C-5A978495DA55}" srcOrd="1" destOrd="0" presId="urn:microsoft.com/office/officeart/2005/8/layout/hList1"/>
    <dgm:cxn modelId="{F6901333-29AA-4603-AC58-4E824EEFF614}" type="presParOf" srcId="{3538EA7F-F13E-408A-BCC4-632ADEF313B4}" destId="{20DFAEFD-FFBE-493F-9D57-7330FCACF066}" srcOrd="1" destOrd="0" presId="urn:microsoft.com/office/officeart/2005/8/layout/hList1"/>
    <dgm:cxn modelId="{A929B85F-B820-4D7E-A339-76DEB454616C}" type="presParOf" srcId="{3538EA7F-F13E-408A-BCC4-632ADEF313B4}" destId="{F6F61260-5991-4E1F-957E-0286B5D0C149}" srcOrd="2" destOrd="0" presId="urn:microsoft.com/office/officeart/2005/8/layout/hList1"/>
    <dgm:cxn modelId="{6A9D61FB-E130-4B43-8490-466901A689D4}" type="presParOf" srcId="{F6F61260-5991-4E1F-957E-0286B5D0C149}" destId="{A6D6369C-AFBB-42FC-9537-61D99DB4EDA2}" srcOrd="0" destOrd="0" presId="urn:microsoft.com/office/officeart/2005/8/layout/hList1"/>
    <dgm:cxn modelId="{F91BF0A7-D241-43AB-B839-FA85FC1FFF47}" type="presParOf" srcId="{F6F61260-5991-4E1F-957E-0286B5D0C149}" destId="{A97F7F04-3019-44FC-B470-E9DAC4E3A724}" srcOrd="1" destOrd="0" presId="urn:microsoft.com/office/officeart/2005/8/layout/hList1"/>
    <dgm:cxn modelId="{B5BB7E6E-BCFA-4529-AB5A-38B14D4A745F}" type="presParOf" srcId="{3538EA7F-F13E-408A-BCC4-632ADEF313B4}" destId="{08EEBC58-010A-4E36-9B37-88E58F67F675}" srcOrd="3" destOrd="0" presId="urn:microsoft.com/office/officeart/2005/8/layout/hList1"/>
    <dgm:cxn modelId="{363D9056-4996-4848-BE98-F0A5B89EE197}" type="presParOf" srcId="{3538EA7F-F13E-408A-BCC4-632ADEF313B4}" destId="{8BA76D9D-F040-4670-9AA4-33080B3515F1}" srcOrd="4" destOrd="0" presId="urn:microsoft.com/office/officeart/2005/8/layout/hList1"/>
    <dgm:cxn modelId="{EBC38C3D-474E-4AC8-9714-149D5A95BF92}" type="presParOf" srcId="{8BA76D9D-F040-4670-9AA4-33080B3515F1}" destId="{B404C162-48F8-4D10-ACCF-E11F141BAE8A}" srcOrd="0" destOrd="0" presId="urn:microsoft.com/office/officeart/2005/8/layout/hList1"/>
    <dgm:cxn modelId="{BA36A905-3754-45E0-9FAE-307E0615CBB3}" type="presParOf" srcId="{8BA76D9D-F040-4670-9AA4-33080B3515F1}" destId="{0B9DD5CA-5AD8-4006-9816-9677E52C77D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38CF1-1D06-4D71-98EA-67ADBC6640E6}">
      <dsp:nvSpPr>
        <dsp:cNvPr id="0" name=""/>
        <dsp:cNvSpPr/>
      </dsp:nvSpPr>
      <dsp:spPr>
        <a:xfrm>
          <a:off x="3322717" y="3031936"/>
          <a:ext cx="596348" cy="1607927"/>
        </a:xfrm>
        <a:custGeom>
          <a:avLst/>
          <a:gdLst/>
          <a:ahLst/>
          <a:cxnLst/>
          <a:rect l="0" t="0" r="0" b="0"/>
          <a:pathLst>
            <a:path>
              <a:moveTo>
                <a:pt x="0" y="0"/>
              </a:moveTo>
              <a:lnTo>
                <a:pt x="298174" y="0"/>
              </a:lnTo>
              <a:lnTo>
                <a:pt x="298174" y="1607927"/>
              </a:lnTo>
              <a:lnTo>
                <a:pt x="596348" y="16079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C98753-8FC1-41BF-9D68-7703C8167B5F}">
      <dsp:nvSpPr>
        <dsp:cNvPr id="0" name=""/>
        <dsp:cNvSpPr/>
      </dsp:nvSpPr>
      <dsp:spPr>
        <a:xfrm>
          <a:off x="3322717" y="2986216"/>
          <a:ext cx="596348" cy="91440"/>
        </a:xfrm>
        <a:custGeom>
          <a:avLst/>
          <a:gdLst/>
          <a:ahLst/>
          <a:cxnLst/>
          <a:rect l="0" t="0" r="0" b="0"/>
          <a:pathLst>
            <a:path>
              <a:moveTo>
                <a:pt x="0" y="45720"/>
              </a:moveTo>
              <a:lnTo>
                <a:pt x="596348"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02E214-75EC-40F7-8816-3F31E8642AB2}">
      <dsp:nvSpPr>
        <dsp:cNvPr id="0" name=""/>
        <dsp:cNvSpPr/>
      </dsp:nvSpPr>
      <dsp:spPr>
        <a:xfrm>
          <a:off x="6900811" y="1424009"/>
          <a:ext cx="596348" cy="805136"/>
        </a:xfrm>
        <a:custGeom>
          <a:avLst/>
          <a:gdLst/>
          <a:ahLst/>
          <a:cxnLst/>
          <a:rect l="0" t="0" r="0" b="0"/>
          <a:pathLst>
            <a:path>
              <a:moveTo>
                <a:pt x="0" y="0"/>
              </a:moveTo>
              <a:lnTo>
                <a:pt x="298174" y="0"/>
              </a:lnTo>
              <a:lnTo>
                <a:pt x="298174" y="805136"/>
              </a:lnTo>
              <a:lnTo>
                <a:pt x="596348" y="80513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D90749-F73F-40B0-B420-085BC9A654EF}">
      <dsp:nvSpPr>
        <dsp:cNvPr id="0" name=""/>
        <dsp:cNvSpPr/>
      </dsp:nvSpPr>
      <dsp:spPr>
        <a:xfrm>
          <a:off x="6900811" y="620710"/>
          <a:ext cx="596348" cy="803299"/>
        </a:xfrm>
        <a:custGeom>
          <a:avLst/>
          <a:gdLst/>
          <a:ahLst/>
          <a:cxnLst/>
          <a:rect l="0" t="0" r="0" b="0"/>
          <a:pathLst>
            <a:path>
              <a:moveTo>
                <a:pt x="0" y="803299"/>
              </a:moveTo>
              <a:lnTo>
                <a:pt x="298174" y="803299"/>
              </a:lnTo>
              <a:lnTo>
                <a:pt x="298174" y="0"/>
              </a:lnTo>
              <a:lnTo>
                <a:pt x="59634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2BFCDF-A792-4179-AE80-B672B28C1D37}">
      <dsp:nvSpPr>
        <dsp:cNvPr id="0" name=""/>
        <dsp:cNvSpPr/>
      </dsp:nvSpPr>
      <dsp:spPr>
        <a:xfrm>
          <a:off x="3322717" y="1424009"/>
          <a:ext cx="596348" cy="1607927"/>
        </a:xfrm>
        <a:custGeom>
          <a:avLst/>
          <a:gdLst/>
          <a:ahLst/>
          <a:cxnLst/>
          <a:rect l="0" t="0" r="0" b="0"/>
          <a:pathLst>
            <a:path>
              <a:moveTo>
                <a:pt x="0" y="1607927"/>
              </a:moveTo>
              <a:lnTo>
                <a:pt x="298174" y="1607927"/>
              </a:lnTo>
              <a:lnTo>
                <a:pt x="298174" y="0"/>
              </a:lnTo>
              <a:lnTo>
                <a:pt x="596348"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294046-5995-4768-A823-E952999145C1}">
      <dsp:nvSpPr>
        <dsp:cNvPr id="0" name=""/>
        <dsp:cNvSpPr/>
      </dsp:nvSpPr>
      <dsp:spPr>
        <a:xfrm>
          <a:off x="340972" y="2395157"/>
          <a:ext cx="2981744" cy="127355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UW Rules</a:t>
          </a:r>
        </a:p>
      </dsp:txBody>
      <dsp:txXfrm>
        <a:off x="340972" y="2395157"/>
        <a:ext cx="2981744" cy="1273559"/>
      </dsp:txXfrm>
    </dsp:sp>
    <dsp:sp modelId="{C3F6A5C6-117F-480D-8686-EA2830472BE5}">
      <dsp:nvSpPr>
        <dsp:cNvPr id="0" name=""/>
        <dsp:cNvSpPr/>
      </dsp:nvSpPr>
      <dsp:spPr>
        <a:xfrm>
          <a:off x="3919066" y="806405"/>
          <a:ext cx="2981744" cy="1235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Referrals</a:t>
          </a:r>
        </a:p>
        <a:p>
          <a:pPr marL="0" lvl="0" indent="0" algn="ctr" defTabSz="1066800">
            <a:lnSpc>
              <a:spcPct val="90000"/>
            </a:lnSpc>
            <a:spcBef>
              <a:spcPct val="0"/>
            </a:spcBef>
            <a:spcAft>
              <a:spcPct val="35000"/>
            </a:spcAft>
            <a:buNone/>
          </a:pPr>
          <a:r>
            <a:rPr lang="en-US" sz="1200" i="1" kern="1200"/>
            <a:t>Requires an UW referral and approval to proceed</a:t>
          </a:r>
        </a:p>
      </dsp:txBody>
      <dsp:txXfrm>
        <a:off x="3919066" y="806405"/>
        <a:ext cx="2981744" cy="1235209"/>
      </dsp:txXfrm>
    </dsp:sp>
    <dsp:sp modelId="{DD7E1BE3-7642-4C2B-8F5D-9C7A0C94D365}">
      <dsp:nvSpPr>
        <dsp:cNvPr id="0" name=""/>
        <dsp:cNvSpPr/>
      </dsp:nvSpPr>
      <dsp:spPr>
        <a:xfrm>
          <a:off x="7497160" y="1932"/>
          <a:ext cx="3389260" cy="12375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Existing referrals</a:t>
          </a:r>
        </a:p>
        <a:p>
          <a:pPr marL="0" lvl="0" indent="0" algn="ctr" defTabSz="1066800">
            <a:lnSpc>
              <a:spcPct val="90000"/>
            </a:lnSpc>
            <a:spcBef>
              <a:spcPct val="0"/>
            </a:spcBef>
            <a:spcAft>
              <a:spcPct val="35000"/>
            </a:spcAft>
            <a:buNone/>
          </a:pPr>
          <a:r>
            <a:rPr lang="en-US" sz="1200" i="1" kern="1200"/>
            <a:t>Applicable across multiple transactions – NB, REN, REW, END</a:t>
          </a:r>
        </a:p>
        <a:p>
          <a:pPr marL="0" lvl="0" indent="0" algn="ctr" defTabSz="1066800">
            <a:lnSpc>
              <a:spcPct val="90000"/>
            </a:lnSpc>
            <a:spcBef>
              <a:spcPct val="0"/>
            </a:spcBef>
            <a:spcAft>
              <a:spcPct val="35000"/>
            </a:spcAft>
            <a:buNone/>
          </a:pPr>
          <a:r>
            <a:rPr lang="en-US" sz="1200" i="1" kern="1200"/>
            <a:t>Rule will not re-trigger, unless the approved conditions change</a:t>
          </a:r>
        </a:p>
      </dsp:txBody>
      <dsp:txXfrm>
        <a:off x="7497160" y="1932"/>
        <a:ext cx="3389260" cy="1237555"/>
      </dsp:txXfrm>
    </dsp:sp>
    <dsp:sp modelId="{B8491503-2397-4803-AF0E-13B56B2986ED}">
      <dsp:nvSpPr>
        <dsp:cNvPr id="0" name=""/>
        <dsp:cNvSpPr/>
      </dsp:nvSpPr>
      <dsp:spPr>
        <a:xfrm>
          <a:off x="7497160" y="1612205"/>
          <a:ext cx="3392420" cy="123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Automated REN UW rules</a:t>
          </a:r>
        </a:p>
        <a:p>
          <a:pPr marL="0" lvl="0" indent="0" algn="ctr" defTabSz="1066800">
            <a:lnSpc>
              <a:spcPct val="90000"/>
            </a:lnSpc>
            <a:spcBef>
              <a:spcPct val="0"/>
            </a:spcBef>
            <a:spcAft>
              <a:spcPct val="35000"/>
            </a:spcAft>
            <a:buNone/>
          </a:pPr>
          <a:r>
            <a:rPr lang="en-US" sz="1200" i="1" kern="1200"/>
            <a:t>Applicable to REN transaction only</a:t>
          </a:r>
        </a:p>
        <a:p>
          <a:pPr marL="0" lvl="0" indent="0" algn="ctr" defTabSz="1066800">
            <a:lnSpc>
              <a:spcPct val="90000"/>
            </a:lnSpc>
            <a:spcBef>
              <a:spcPct val="0"/>
            </a:spcBef>
            <a:spcAft>
              <a:spcPct val="35000"/>
            </a:spcAft>
            <a:buNone/>
          </a:pPr>
          <a:r>
            <a:rPr lang="en-US" sz="1200" i="1" kern="1200"/>
            <a:t>Rule will re-trigger every renewal, irrespective of prior term’s approval</a:t>
          </a:r>
        </a:p>
      </dsp:txBody>
      <dsp:txXfrm>
        <a:off x="7497160" y="1612205"/>
        <a:ext cx="3392420" cy="1233881"/>
      </dsp:txXfrm>
    </dsp:sp>
    <dsp:sp modelId="{178735FE-C517-4093-BF38-71837CE9E112}">
      <dsp:nvSpPr>
        <dsp:cNvPr id="0" name=""/>
        <dsp:cNvSpPr/>
      </dsp:nvSpPr>
      <dsp:spPr>
        <a:xfrm>
          <a:off x="3919066" y="2414332"/>
          <a:ext cx="2981744" cy="1235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Hard Stop</a:t>
          </a:r>
        </a:p>
        <a:p>
          <a:pPr marL="0" lvl="0" indent="0" algn="ctr" defTabSz="1066800">
            <a:lnSpc>
              <a:spcPct val="90000"/>
            </a:lnSpc>
            <a:spcBef>
              <a:spcPct val="0"/>
            </a:spcBef>
            <a:spcAft>
              <a:spcPct val="35000"/>
            </a:spcAft>
            <a:buNone/>
          </a:pPr>
          <a:r>
            <a:rPr lang="en-US" sz="1200" i="1" kern="1200"/>
            <a:t>Requires user to resolve the message, to proceed</a:t>
          </a:r>
        </a:p>
      </dsp:txBody>
      <dsp:txXfrm>
        <a:off x="3919066" y="2414332"/>
        <a:ext cx="2981744" cy="1235209"/>
      </dsp:txXfrm>
    </dsp:sp>
    <dsp:sp modelId="{D3A27648-256C-4A0B-BFF0-C73967DF081D}">
      <dsp:nvSpPr>
        <dsp:cNvPr id="0" name=""/>
        <dsp:cNvSpPr/>
      </dsp:nvSpPr>
      <dsp:spPr>
        <a:xfrm>
          <a:off x="3919066" y="4022259"/>
          <a:ext cx="2981744" cy="1235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Informational</a:t>
          </a:r>
        </a:p>
        <a:p>
          <a:pPr marL="0" lvl="0" indent="0" algn="ctr" defTabSz="1066800">
            <a:lnSpc>
              <a:spcPct val="90000"/>
            </a:lnSpc>
            <a:spcBef>
              <a:spcPct val="0"/>
            </a:spcBef>
            <a:spcAft>
              <a:spcPct val="35000"/>
            </a:spcAft>
            <a:buNone/>
          </a:pPr>
          <a:r>
            <a:rPr lang="en-US" sz="1200" i="1" kern="1200"/>
            <a:t>Does not require the user to address the message, for information only</a:t>
          </a:r>
        </a:p>
      </dsp:txBody>
      <dsp:txXfrm>
        <a:off x="3919066" y="4022259"/>
        <a:ext cx="2981744" cy="12352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1A0BE7-B64B-4359-A208-44D79434910C}">
      <dsp:nvSpPr>
        <dsp:cNvPr id="0" name=""/>
        <dsp:cNvSpPr/>
      </dsp:nvSpPr>
      <dsp:spPr>
        <a:xfrm>
          <a:off x="3544" y="237717"/>
          <a:ext cx="3455584" cy="9145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100000"/>
            </a:lnSpc>
            <a:spcBef>
              <a:spcPct val="0"/>
            </a:spcBef>
            <a:spcAft>
              <a:spcPct val="35000"/>
            </a:spcAft>
            <a:buNone/>
          </a:pPr>
          <a:r>
            <a:rPr lang="en-US" sz="1500" u="sng" kern="1200"/>
            <a:t>Existing</a:t>
          </a:r>
          <a:r>
            <a:rPr lang="en-US" sz="1500" kern="1200"/>
            <a:t> </a:t>
          </a:r>
        </a:p>
        <a:p>
          <a:pPr marL="0" lvl="0" indent="0" algn="ctr" defTabSz="666750">
            <a:lnSpc>
              <a:spcPct val="100000"/>
            </a:lnSpc>
            <a:spcBef>
              <a:spcPct val="0"/>
            </a:spcBef>
            <a:spcAft>
              <a:spcPct val="35000"/>
            </a:spcAft>
            <a:buNone/>
          </a:pPr>
          <a:r>
            <a:rPr lang="en-US" sz="1500" kern="1200"/>
            <a:t>Referral</a:t>
          </a:r>
        </a:p>
      </dsp:txBody>
      <dsp:txXfrm>
        <a:off x="3544" y="237717"/>
        <a:ext cx="3455584" cy="914540"/>
      </dsp:txXfrm>
    </dsp:sp>
    <dsp:sp modelId="{9D703FC8-C704-4378-B28C-5A978495DA55}">
      <dsp:nvSpPr>
        <dsp:cNvPr id="0" name=""/>
        <dsp:cNvSpPr/>
      </dsp:nvSpPr>
      <dsp:spPr>
        <a:xfrm>
          <a:off x="3544" y="1152258"/>
          <a:ext cx="3455584" cy="40145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100000"/>
            </a:lnSpc>
            <a:spcBef>
              <a:spcPct val="0"/>
            </a:spcBef>
            <a:spcAft>
              <a:spcPct val="15000"/>
            </a:spcAft>
            <a:buNone/>
          </a:pPr>
          <a:r>
            <a:rPr lang="en-US" sz="1500" kern="1200"/>
            <a:t>NB:</a:t>
          </a:r>
          <a:endParaRPr lang="en-US" sz="1500" b="1" kern="1200"/>
        </a:p>
        <a:p>
          <a:pPr marL="228600" lvl="2" indent="-114300" algn="l" defTabSz="666750">
            <a:lnSpc>
              <a:spcPct val="100000"/>
            </a:lnSpc>
            <a:spcBef>
              <a:spcPct val="0"/>
            </a:spcBef>
            <a:spcAft>
              <a:spcPct val="15000"/>
            </a:spcAft>
            <a:buChar char="•"/>
          </a:pPr>
          <a:r>
            <a:rPr lang="en-US" sz="1500" kern="1200"/>
            <a:t>Wholesale Agent to UW; </a:t>
          </a:r>
          <a:r>
            <a:rPr lang="en-US" sz="1500" b="1" kern="1200"/>
            <a:t>Referral for Claim &gt; 150k</a:t>
          </a:r>
        </a:p>
        <a:p>
          <a:pPr marL="228600" lvl="2" indent="-114300" algn="l" defTabSz="666750">
            <a:lnSpc>
              <a:spcPct val="100000"/>
            </a:lnSpc>
            <a:spcBef>
              <a:spcPct val="0"/>
            </a:spcBef>
            <a:spcAft>
              <a:spcPct val="15000"/>
            </a:spcAft>
            <a:buChar char="•"/>
          </a:pPr>
          <a:r>
            <a:rPr lang="en-US" sz="1500" kern="1200"/>
            <a:t>UW approves the referral</a:t>
          </a:r>
        </a:p>
        <a:p>
          <a:pPr marL="228600" lvl="2" indent="-114300" algn="l" defTabSz="666750">
            <a:lnSpc>
              <a:spcPct val="100000"/>
            </a:lnSpc>
            <a:spcBef>
              <a:spcPct val="0"/>
            </a:spcBef>
            <a:spcAft>
              <a:spcPct val="15000"/>
            </a:spcAft>
            <a:buChar char="•"/>
          </a:pPr>
          <a:r>
            <a:rPr lang="en-US" sz="1500" kern="1200"/>
            <a:t>Wholesale agent -&gt; Quotes, Binds and Issues the policy</a:t>
          </a:r>
        </a:p>
        <a:p>
          <a:pPr marL="114300" lvl="1" indent="-114300" algn="l" defTabSz="666750">
            <a:lnSpc>
              <a:spcPct val="100000"/>
            </a:lnSpc>
            <a:spcBef>
              <a:spcPct val="0"/>
            </a:spcBef>
            <a:spcAft>
              <a:spcPct val="15000"/>
            </a:spcAft>
            <a:buNone/>
          </a:pPr>
          <a:r>
            <a:rPr lang="en-US" sz="1500" kern="1200"/>
            <a:t>REN 01: </a:t>
          </a:r>
        </a:p>
        <a:p>
          <a:pPr marL="228600" lvl="2" indent="-114300" algn="l" defTabSz="666750">
            <a:lnSpc>
              <a:spcPct val="100000"/>
            </a:lnSpc>
            <a:spcBef>
              <a:spcPct val="0"/>
            </a:spcBef>
            <a:spcAft>
              <a:spcPct val="15000"/>
            </a:spcAft>
            <a:buChar char="•"/>
          </a:pPr>
          <a:r>
            <a:rPr lang="en-US" sz="1500" kern="1200"/>
            <a:t>Referral only </a:t>
          </a:r>
          <a:r>
            <a:rPr lang="en-US" sz="1500" b="1" kern="1200"/>
            <a:t>if New Claim with &gt; 150k</a:t>
          </a:r>
        </a:p>
        <a:p>
          <a:pPr marL="228600" lvl="2" indent="-114300" algn="l" defTabSz="666750">
            <a:lnSpc>
              <a:spcPct val="100000"/>
            </a:lnSpc>
            <a:spcBef>
              <a:spcPct val="0"/>
            </a:spcBef>
            <a:spcAft>
              <a:spcPct val="15000"/>
            </a:spcAft>
            <a:buChar char="•"/>
          </a:pPr>
          <a:r>
            <a:rPr lang="en-US" sz="1500" b="1" kern="1200"/>
            <a:t>No referral for existing Claim</a:t>
          </a:r>
          <a:r>
            <a:rPr lang="en-US" sz="1500" kern="1200"/>
            <a:t>; Wholesale agent receives the renewal at 61 days prior to expiry -&gt; Quotes, Binds and Issues the policy</a:t>
          </a:r>
        </a:p>
      </dsp:txBody>
      <dsp:txXfrm>
        <a:off x="3544" y="1152258"/>
        <a:ext cx="3455584" cy="4014562"/>
      </dsp:txXfrm>
    </dsp:sp>
    <dsp:sp modelId="{A6D6369C-AFBB-42FC-9537-61D99DB4EDA2}">
      <dsp:nvSpPr>
        <dsp:cNvPr id="0" name=""/>
        <dsp:cNvSpPr/>
      </dsp:nvSpPr>
      <dsp:spPr>
        <a:xfrm>
          <a:off x="3942910" y="237717"/>
          <a:ext cx="3455584" cy="9145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100000"/>
            </a:lnSpc>
            <a:spcBef>
              <a:spcPct val="0"/>
            </a:spcBef>
            <a:spcAft>
              <a:spcPct val="35000"/>
            </a:spcAft>
            <a:buNone/>
          </a:pPr>
          <a:r>
            <a:rPr lang="en-US" sz="1500" u="sng" kern="1200"/>
            <a:t>New</a:t>
          </a:r>
          <a:r>
            <a:rPr lang="en-US" sz="1500" u="none" kern="1200"/>
            <a:t> </a:t>
          </a:r>
        </a:p>
        <a:p>
          <a:pPr marL="0" lvl="0" indent="0" algn="ctr" defTabSz="666750">
            <a:lnSpc>
              <a:spcPct val="100000"/>
            </a:lnSpc>
            <a:spcBef>
              <a:spcPct val="0"/>
            </a:spcBef>
            <a:spcAft>
              <a:spcPct val="35000"/>
            </a:spcAft>
            <a:buNone/>
          </a:pPr>
          <a:r>
            <a:rPr lang="en-US" sz="1500" kern="1200"/>
            <a:t>Automated Renewal UW Rule</a:t>
          </a:r>
        </a:p>
      </dsp:txBody>
      <dsp:txXfrm>
        <a:off x="3942910" y="237717"/>
        <a:ext cx="3455584" cy="914540"/>
      </dsp:txXfrm>
    </dsp:sp>
    <dsp:sp modelId="{A97F7F04-3019-44FC-B470-E9DAC4E3A724}">
      <dsp:nvSpPr>
        <dsp:cNvPr id="0" name=""/>
        <dsp:cNvSpPr/>
      </dsp:nvSpPr>
      <dsp:spPr>
        <a:xfrm>
          <a:off x="3942910" y="1152258"/>
          <a:ext cx="3455584" cy="40145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100000"/>
            </a:lnSpc>
            <a:spcBef>
              <a:spcPct val="0"/>
            </a:spcBef>
            <a:spcAft>
              <a:spcPct val="15000"/>
            </a:spcAft>
            <a:buNone/>
          </a:pPr>
          <a:r>
            <a:rPr lang="en-US" sz="1500" kern="1200"/>
            <a:t>NB:</a:t>
          </a:r>
        </a:p>
        <a:p>
          <a:pPr marL="228600" lvl="2" indent="-114300" algn="l" defTabSz="666750">
            <a:lnSpc>
              <a:spcPct val="100000"/>
            </a:lnSpc>
            <a:spcBef>
              <a:spcPct val="0"/>
            </a:spcBef>
            <a:spcAft>
              <a:spcPct val="15000"/>
            </a:spcAft>
            <a:buFont typeface="Arial" panose="020B0604020202020204" pitchFamily="34" charset="0"/>
            <a:buChar char="•"/>
          </a:pPr>
          <a:r>
            <a:rPr lang="en-US" sz="1500" b="1" kern="1200"/>
            <a:t>No referral, since rule is applicable to Renewals only</a:t>
          </a:r>
        </a:p>
        <a:p>
          <a:pPr marL="114300" lvl="1" indent="-114300" algn="l" defTabSz="666750">
            <a:lnSpc>
              <a:spcPct val="100000"/>
            </a:lnSpc>
            <a:spcBef>
              <a:spcPct val="0"/>
            </a:spcBef>
            <a:spcAft>
              <a:spcPct val="15000"/>
            </a:spcAft>
            <a:buNone/>
          </a:pPr>
          <a:r>
            <a:rPr lang="en-US" sz="1500" kern="1200"/>
            <a:t>REN 01:</a:t>
          </a:r>
        </a:p>
        <a:p>
          <a:pPr marL="228600" lvl="2" indent="-114300" algn="l" defTabSz="666750">
            <a:lnSpc>
              <a:spcPct val="100000"/>
            </a:lnSpc>
            <a:spcBef>
              <a:spcPct val="0"/>
            </a:spcBef>
            <a:spcAft>
              <a:spcPct val="15000"/>
            </a:spcAft>
            <a:buChar char="•"/>
          </a:pPr>
          <a:r>
            <a:rPr lang="en-US" sz="1500" kern="1200"/>
            <a:t>Processor to UW; </a:t>
          </a:r>
          <a:r>
            <a:rPr lang="en-US" sz="1500" b="1" kern="1200"/>
            <a:t>Referral for Claim &gt; 150k</a:t>
          </a:r>
          <a:endParaRPr lang="en-US" sz="1500" kern="1200"/>
        </a:p>
        <a:p>
          <a:pPr marL="228600" lvl="2" indent="-114300" algn="l" defTabSz="666750">
            <a:lnSpc>
              <a:spcPct val="100000"/>
            </a:lnSpc>
            <a:spcBef>
              <a:spcPct val="0"/>
            </a:spcBef>
            <a:spcAft>
              <a:spcPct val="15000"/>
            </a:spcAft>
            <a:buChar char="•"/>
          </a:pPr>
          <a:r>
            <a:rPr lang="en-US" sz="1500" kern="1200"/>
            <a:t>UW approves the referral</a:t>
          </a:r>
        </a:p>
        <a:p>
          <a:pPr marL="228600" lvl="2" indent="-114300" algn="l" defTabSz="666750">
            <a:lnSpc>
              <a:spcPct val="100000"/>
            </a:lnSpc>
            <a:spcBef>
              <a:spcPct val="0"/>
            </a:spcBef>
            <a:spcAft>
              <a:spcPct val="15000"/>
            </a:spcAft>
            <a:buChar char="•"/>
          </a:pPr>
          <a:r>
            <a:rPr lang="en-US" sz="1500" kern="1200"/>
            <a:t>Wholesale agent receives the renewal at 61 days prior to expiry -&gt; Quotes, Binds and Issues the policy</a:t>
          </a:r>
        </a:p>
        <a:p>
          <a:pPr marL="114300" lvl="1" indent="-114300" algn="l" defTabSz="666750">
            <a:lnSpc>
              <a:spcPct val="100000"/>
            </a:lnSpc>
            <a:spcBef>
              <a:spcPct val="0"/>
            </a:spcBef>
            <a:spcAft>
              <a:spcPct val="15000"/>
            </a:spcAft>
            <a:buNone/>
          </a:pPr>
          <a:r>
            <a:rPr lang="en-US" sz="1500" kern="1200"/>
            <a:t>REN 02:</a:t>
          </a:r>
        </a:p>
        <a:p>
          <a:pPr marL="228600" lvl="2" indent="-114300" algn="l" defTabSz="666750">
            <a:lnSpc>
              <a:spcPct val="100000"/>
            </a:lnSpc>
            <a:spcBef>
              <a:spcPct val="0"/>
            </a:spcBef>
            <a:spcAft>
              <a:spcPct val="15000"/>
            </a:spcAft>
            <a:buChar char="•"/>
          </a:pPr>
          <a:r>
            <a:rPr lang="en-US" sz="1500" kern="1200"/>
            <a:t>Processor to UW; </a:t>
          </a:r>
          <a:r>
            <a:rPr lang="en-US" sz="1500" b="1" kern="1200"/>
            <a:t>Re-refers for Claim &gt; 150k (Existing prior approved claim and new ones)</a:t>
          </a:r>
        </a:p>
        <a:p>
          <a:pPr marL="114300" lvl="1" indent="-114300" algn="l" defTabSz="666750">
            <a:lnSpc>
              <a:spcPct val="100000"/>
            </a:lnSpc>
            <a:spcBef>
              <a:spcPct val="0"/>
            </a:spcBef>
            <a:spcAft>
              <a:spcPct val="15000"/>
            </a:spcAft>
            <a:buChar char="•"/>
          </a:pPr>
          <a:endParaRPr lang="en-US" sz="1500" b="1" kern="1200"/>
        </a:p>
      </dsp:txBody>
      <dsp:txXfrm>
        <a:off x="3942910" y="1152258"/>
        <a:ext cx="3455584" cy="4014562"/>
      </dsp:txXfrm>
    </dsp:sp>
    <dsp:sp modelId="{B404C162-48F8-4D10-ACCF-E11F141BAE8A}">
      <dsp:nvSpPr>
        <dsp:cNvPr id="0" name=""/>
        <dsp:cNvSpPr/>
      </dsp:nvSpPr>
      <dsp:spPr>
        <a:xfrm>
          <a:off x="7882276" y="237717"/>
          <a:ext cx="3455584" cy="9145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100000"/>
            </a:lnSpc>
            <a:spcBef>
              <a:spcPct val="0"/>
            </a:spcBef>
            <a:spcAft>
              <a:spcPct val="35000"/>
            </a:spcAft>
            <a:buNone/>
          </a:pPr>
          <a:r>
            <a:rPr lang="en-US" sz="1500" u="sng" kern="1200"/>
            <a:t>Hybrid</a:t>
          </a:r>
          <a:r>
            <a:rPr lang="en-US" sz="1500" u="none" kern="1200"/>
            <a:t> </a:t>
          </a:r>
        </a:p>
        <a:p>
          <a:pPr marL="0" lvl="0" indent="0" algn="ctr" defTabSz="666750">
            <a:lnSpc>
              <a:spcPct val="100000"/>
            </a:lnSpc>
            <a:spcBef>
              <a:spcPct val="0"/>
            </a:spcBef>
            <a:spcAft>
              <a:spcPct val="35000"/>
            </a:spcAft>
            <a:buNone/>
          </a:pPr>
          <a:r>
            <a:rPr lang="en-US" sz="1500" kern="1200"/>
            <a:t>Existing Referral converted to Automated Renewal UW Rule</a:t>
          </a:r>
        </a:p>
      </dsp:txBody>
      <dsp:txXfrm>
        <a:off x="7882276" y="237717"/>
        <a:ext cx="3455584" cy="914540"/>
      </dsp:txXfrm>
    </dsp:sp>
    <dsp:sp modelId="{0B9DD5CA-5AD8-4006-9816-9677E52C77D1}">
      <dsp:nvSpPr>
        <dsp:cNvPr id="0" name=""/>
        <dsp:cNvSpPr/>
      </dsp:nvSpPr>
      <dsp:spPr>
        <a:xfrm>
          <a:off x="7882276" y="1152258"/>
          <a:ext cx="3455584" cy="40145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100000"/>
            </a:lnSpc>
            <a:spcBef>
              <a:spcPct val="0"/>
            </a:spcBef>
            <a:spcAft>
              <a:spcPct val="15000"/>
            </a:spcAft>
            <a:buNone/>
          </a:pPr>
          <a:r>
            <a:rPr lang="en-US" sz="1500" kern="1200"/>
            <a:t>NB:</a:t>
          </a:r>
          <a:endParaRPr lang="en-US" sz="1500" b="1" kern="1200"/>
        </a:p>
        <a:p>
          <a:pPr marL="228600" lvl="2" indent="-114300" algn="l" defTabSz="666750">
            <a:lnSpc>
              <a:spcPct val="100000"/>
            </a:lnSpc>
            <a:spcBef>
              <a:spcPct val="0"/>
            </a:spcBef>
            <a:spcAft>
              <a:spcPct val="15000"/>
            </a:spcAft>
            <a:buChar char="•"/>
          </a:pPr>
          <a:r>
            <a:rPr lang="en-US" sz="1500" kern="1200"/>
            <a:t>Wholesale Agent to UW; </a:t>
          </a:r>
          <a:r>
            <a:rPr lang="en-US" sz="1500" b="1" kern="1200"/>
            <a:t>Referral for Claim &gt; 150k</a:t>
          </a:r>
        </a:p>
        <a:p>
          <a:pPr marL="228600" lvl="2" indent="-114300" algn="l" defTabSz="666750">
            <a:lnSpc>
              <a:spcPct val="100000"/>
            </a:lnSpc>
            <a:spcBef>
              <a:spcPct val="0"/>
            </a:spcBef>
            <a:spcAft>
              <a:spcPct val="15000"/>
            </a:spcAft>
            <a:buChar char="•"/>
          </a:pPr>
          <a:r>
            <a:rPr lang="en-US" sz="1500" kern="1200"/>
            <a:t>UW approves the referral</a:t>
          </a:r>
        </a:p>
        <a:p>
          <a:pPr marL="228600" lvl="2" indent="-114300" algn="l" defTabSz="666750">
            <a:lnSpc>
              <a:spcPct val="100000"/>
            </a:lnSpc>
            <a:spcBef>
              <a:spcPct val="0"/>
            </a:spcBef>
            <a:spcAft>
              <a:spcPct val="15000"/>
            </a:spcAft>
            <a:buChar char="•"/>
          </a:pPr>
          <a:r>
            <a:rPr lang="en-US" sz="1500" kern="1200"/>
            <a:t>Wholesale agent -&gt; Quotes, Binds and Issues the policy</a:t>
          </a:r>
        </a:p>
        <a:p>
          <a:pPr marL="114300" lvl="1" indent="-114300" algn="l" defTabSz="666750">
            <a:lnSpc>
              <a:spcPct val="100000"/>
            </a:lnSpc>
            <a:spcBef>
              <a:spcPct val="0"/>
            </a:spcBef>
            <a:spcAft>
              <a:spcPct val="15000"/>
            </a:spcAft>
            <a:buNone/>
          </a:pPr>
          <a:r>
            <a:rPr lang="en-US" sz="1500" kern="1200"/>
            <a:t>REN 01:</a:t>
          </a:r>
        </a:p>
        <a:p>
          <a:pPr marL="228600" lvl="2" indent="-114300" algn="l" defTabSz="666750">
            <a:lnSpc>
              <a:spcPct val="100000"/>
            </a:lnSpc>
            <a:spcBef>
              <a:spcPct val="0"/>
            </a:spcBef>
            <a:spcAft>
              <a:spcPct val="15000"/>
            </a:spcAft>
            <a:buChar char="•"/>
          </a:pPr>
          <a:r>
            <a:rPr lang="en-US" sz="1500" kern="1200"/>
            <a:t>Processor to UW; </a:t>
          </a:r>
          <a:r>
            <a:rPr lang="en-US" sz="1500" b="1" kern="1200"/>
            <a:t>Re-refers for Claim &gt; 150k (Existing prior approved claim and new ones)</a:t>
          </a:r>
        </a:p>
        <a:p>
          <a:pPr marL="114300" lvl="1" indent="-114300" algn="l" defTabSz="666750">
            <a:lnSpc>
              <a:spcPct val="100000"/>
            </a:lnSpc>
            <a:spcBef>
              <a:spcPct val="0"/>
            </a:spcBef>
            <a:spcAft>
              <a:spcPct val="15000"/>
            </a:spcAft>
            <a:buNone/>
          </a:pPr>
          <a:r>
            <a:rPr lang="en-US" sz="1500" b="0" kern="1200"/>
            <a:t>REN 02:</a:t>
          </a:r>
        </a:p>
        <a:p>
          <a:pPr marL="228600" lvl="2" indent="-114300" algn="l" defTabSz="666750">
            <a:lnSpc>
              <a:spcPct val="100000"/>
            </a:lnSpc>
            <a:spcBef>
              <a:spcPct val="0"/>
            </a:spcBef>
            <a:spcAft>
              <a:spcPct val="15000"/>
            </a:spcAft>
            <a:buChar char="•"/>
          </a:pPr>
          <a:r>
            <a:rPr lang="en-US" sz="1500" kern="1200"/>
            <a:t>Processor to UW; </a:t>
          </a:r>
          <a:r>
            <a:rPr lang="en-US" sz="1500" b="1" kern="1200"/>
            <a:t>Re-refers for Claim &gt; 150k (Existing prior approved claim and new ones)</a:t>
          </a:r>
        </a:p>
      </dsp:txBody>
      <dsp:txXfrm>
        <a:off x="7882276" y="1152258"/>
        <a:ext cx="3455584" cy="4014562"/>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EE9020-7141-43AD-8788-BD93FD506CC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90136E7-FAD2-4C51-973C-2A02270CDD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FF9B85-52C1-44C3-BD3E-3C338E5BAA54}" type="datetimeFigureOut">
              <a:rPr lang="en-US" smtClean="0"/>
              <a:t>4/27/2026</a:t>
            </a:fld>
            <a:endParaRPr lang="en-US"/>
          </a:p>
        </p:txBody>
      </p:sp>
      <p:sp>
        <p:nvSpPr>
          <p:cNvPr id="4" name="Footer Placeholder 3">
            <a:extLst>
              <a:ext uri="{FF2B5EF4-FFF2-40B4-BE49-F238E27FC236}">
                <a16:creationId xmlns:a16="http://schemas.microsoft.com/office/drawing/2014/main" id="{3B767D3B-8D58-40EF-9954-038BC66DAD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D7AB120-6D3A-45F2-A9A7-A06E21AB6C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DD7A58-4F08-4647-B32B-BA5FEA03B3E9}" type="slidenum">
              <a:rPr lang="en-US" smtClean="0"/>
              <a:t>‹#›</a:t>
            </a:fld>
            <a:endParaRPr lang="en-US"/>
          </a:p>
        </p:txBody>
      </p:sp>
    </p:spTree>
    <p:extLst>
      <p:ext uri="{BB962C8B-B14F-4D97-AF65-F5344CB8AC3E}">
        <p14:creationId xmlns:p14="http://schemas.microsoft.com/office/powerpoint/2010/main" val="3647763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5CDD77-5FBC-4E84-BC81-ABE3CFCA492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A9D64-B520-4182-8D90-228A47343012}" type="slidenum">
              <a:rPr lang="en-US" smtClean="0"/>
              <a:t>‹#›</a:t>
            </a:fld>
            <a:endParaRPr lang="en-US"/>
          </a:p>
        </p:txBody>
      </p:sp>
    </p:spTree>
    <p:extLst>
      <p:ext uri="{BB962C8B-B14F-4D97-AF65-F5344CB8AC3E}">
        <p14:creationId xmlns:p14="http://schemas.microsoft.com/office/powerpoint/2010/main" val="2724403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Sandy</a:t>
            </a:r>
          </a:p>
        </p:txBody>
      </p:sp>
      <p:sp>
        <p:nvSpPr>
          <p:cNvPr id="4" name="Slide Number Placeholder 3"/>
          <p:cNvSpPr>
            <a:spLocks noGrp="1"/>
          </p:cNvSpPr>
          <p:nvPr>
            <p:ph type="sldNum" sz="quarter" idx="5"/>
          </p:nvPr>
        </p:nvSpPr>
        <p:spPr/>
        <p:txBody>
          <a:bodyPr/>
          <a:lstStyle/>
          <a:p>
            <a:fld id="{AFEA9D64-B520-4182-8D90-228A47343012}" type="slidenum">
              <a:rPr lang="en-US" smtClean="0"/>
              <a:t>16</a:t>
            </a:fld>
            <a:endParaRPr lang="en-US"/>
          </a:p>
        </p:txBody>
      </p:sp>
    </p:spTree>
    <p:extLst>
      <p:ext uri="{BB962C8B-B14F-4D97-AF65-F5344CB8AC3E}">
        <p14:creationId xmlns:p14="http://schemas.microsoft.com/office/powerpoint/2010/main" val="37881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Sandy</a:t>
            </a:r>
          </a:p>
        </p:txBody>
      </p:sp>
      <p:sp>
        <p:nvSpPr>
          <p:cNvPr id="4" name="Slide Number Placeholder 3"/>
          <p:cNvSpPr>
            <a:spLocks noGrp="1"/>
          </p:cNvSpPr>
          <p:nvPr>
            <p:ph type="sldNum" sz="quarter" idx="5"/>
          </p:nvPr>
        </p:nvSpPr>
        <p:spPr/>
        <p:txBody>
          <a:bodyPr/>
          <a:lstStyle/>
          <a:p>
            <a:fld id="{AFEA9D64-B520-4182-8D90-228A47343012}" type="slidenum">
              <a:rPr lang="en-US" smtClean="0"/>
              <a:t>17</a:t>
            </a:fld>
            <a:endParaRPr lang="en-US"/>
          </a:p>
        </p:txBody>
      </p:sp>
    </p:spTree>
    <p:extLst>
      <p:ext uri="{BB962C8B-B14F-4D97-AF65-F5344CB8AC3E}">
        <p14:creationId xmlns:p14="http://schemas.microsoft.com/office/powerpoint/2010/main" val="18630747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480724" y="3855855"/>
            <a:ext cx="11094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9A84CDE-B944-4271-B2FE-48713CE2995B}"/>
              </a:ext>
            </a:extLst>
          </p:cNvPr>
          <p:cNvSpPr/>
          <p:nvPr userDrawn="1"/>
        </p:nvSpPr>
        <p:spPr>
          <a:xfrm>
            <a:off x="0" y="6563012"/>
            <a:ext cx="12192000" cy="313362"/>
          </a:xfrm>
          <a:prstGeom prst="rect">
            <a:avLst/>
          </a:prstGeom>
          <a:solidFill>
            <a:srgbClr val="1E35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1E355E"/>
              </a:solidFill>
            </a:endParaRPr>
          </a:p>
        </p:txBody>
      </p:sp>
      <p:sp>
        <p:nvSpPr>
          <p:cNvPr id="13" name="Title 1">
            <a:extLst>
              <a:ext uri="{FF2B5EF4-FFF2-40B4-BE49-F238E27FC236}">
                <a16:creationId xmlns:a16="http://schemas.microsoft.com/office/drawing/2014/main" id="{EA919606-6260-46DE-8B78-1DC74C9E1CD1}"/>
              </a:ext>
            </a:extLst>
          </p:cNvPr>
          <p:cNvSpPr>
            <a:spLocks noGrp="1"/>
          </p:cNvSpPr>
          <p:nvPr>
            <p:ph type="title"/>
          </p:nvPr>
        </p:nvSpPr>
        <p:spPr>
          <a:xfrm>
            <a:off x="480723" y="1750426"/>
            <a:ext cx="11094829" cy="2105429"/>
          </a:xfrm>
        </p:spPr>
        <p:txBody>
          <a:bodyPr anchor="b">
            <a:normAutofit/>
          </a:bodyPr>
          <a:lstStyle>
            <a:lvl1pPr algn="just">
              <a:defRPr sz="5400">
                <a:latin typeface="+mn-lt"/>
              </a:defRPr>
            </a:lvl1pPr>
          </a:lstStyle>
          <a:p>
            <a:r>
              <a:rPr lang="en-US"/>
              <a:t>Click to edit Master title style</a:t>
            </a:r>
          </a:p>
        </p:txBody>
      </p:sp>
      <p:pic>
        <p:nvPicPr>
          <p:cNvPr id="8" name="Picture 7" descr="A picture containing icon&#10;&#10;Description automatically generated">
            <a:extLst>
              <a:ext uri="{FF2B5EF4-FFF2-40B4-BE49-F238E27FC236}">
                <a16:creationId xmlns:a16="http://schemas.microsoft.com/office/drawing/2014/main" id="{C894BFC3-A7D7-4799-8176-94519B43E56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39745" y="6171329"/>
            <a:ext cx="1269438" cy="306416"/>
          </a:xfrm>
          <a:prstGeom prst="rect">
            <a:avLst/>
          </a:prstGeom>
        </p:spPr>
      </p:pic>
      <p:sp>
        <p:nvSpPr>
          <p:cNvPr id="17" name="Text Placeholder 2">
            <a:extLst>
              <a:ext uri="{FF2B5EF4-FFF2-40B4-BE49-F238E27FC236}">
                <a16:creationId xmlns:a16="http://schemas.microsoft.com/office/drawing/2014/main" id="{00C26B7B-4C04-4242-ACB8-87AF558702DA}"/>
              </a:ext>
            </a:extLst>
          </p:cNvPr>
          <p:cNvSpPr>
            <a:spLocks noGrp="1"/>
          </p:cNvSpPr>
          <p:nvPr>
            <p:ph type="body" idx="10"/>
          </p:nvPr>
        </p:nvSpPr>
        <p:spPr>
          <a:xfrm>
            <a:off x="480723" y="3874517"/>
            <a:ext cx="11094829" cy="703789"/>
          </a:xfrm>
        </p:spPr>
        <p:txBody>
          <a:bodyPr>
            <a:normAutofit/>
          </a:bodyPr>
          <a:lstStyle>
            <a:lvl1pPr marL="0" indent="0">
              <a:buNone/>
              <a:defRPr sz="20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311401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Content with Bottom Cop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07795E5-B87A-464E-B93E-F5127AF8A77B}"/>
              </a:ext>
            </a:extLst>
          </p:cNvPr>
          <p:cNvCxnSpPr>
            <a:cxnSpLocks/>
          </p:cNvCxnSpPr>
          <p:nvPr userDrawn="1"/>
        </p:nvCxnSpPr>
        <p:spPr>
          <a:xfrm>
            <a:off x="480726" y="1078063"/>
            <a:ext cx="113414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3E91608D-3081-44D6-AC62-51F8F73C477C}"/>
              </a:ext>
            </a:extLst>
          </p:cNvPr>
          <p:cNvSpPr>
            <a:spLocks noGrp="1"/>
          </p:cNvSpPr>
          <p:nvPr>
            <p:ph idx="10"/>
          </p:nvPr>
        </p:nvSpPr>
        <p:spPr>
          <a:xfrm>
            <a:off x="480724" y="5687470"/>
            <a:ext cx="11341405" cy="877321"/>
          </a:xfr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Master text styles</a:t>
            </a:r>
          </a:p>
        </p:txBody>
      </p:sp>
      <p:sp>
        <p:nvSpPr>
          <p:cNvPr id="13" name="Title 1">
            <a:extLst>
              <a:ext uri="{FF2B5EF4-FFF2-40B4-BE49-F238E27FC236}">
                <a16:creationId xmlns:a16="http://schemas.microsoft.com/office/drawing/2014/main" id="{562AF41A-7ED5-4EA6-82E3-A532A068FFBE}"/>
              </a:ext>
            </a:extLst>
          </p:cNvPr>
          <p:cNvSpPr>
            <a:spLocks noGrp="1"/>
          </p:cNvSpPr>
          <p:nvPr>
            <p:ph type="title"/>
          </p:nvPr>
        </p:nvSpPr>
        <p:spPr>
          <a:xfrm>
            <a:off x="480723" y="293208"/>
            <a:ext cx="11341405" cy="867046"/>
          </a:xfrm>
        </p:spPr>
        <p:txBody>
          <a:bodyPr/>
          <a:lstStyle>
            <a:lvl1pPr>
              <a:defRPr>
                <a:latin typeface="+mn-lt"/>
              </a:defRPr>
            </a:lvl1pPr>
          </a:lstStyle>
          <a:p>
            <a:r>
              <a:rPr lang="en-US"/>
              <a:t>Click to edit Master title style</a:t>
            </a:r>
          </a:p>
        </p:txBody>
      </p:sp>
      <p:sp>
        <p:nvSpPr>
          <p:cNvPr id="7" name="Content Placeholder 2">
            <a:extLst>
              <a:ext uri="{FF2B5EF4-FFF2-40B4-BE49-F238E27FC236}">
                <a16:creationId xmlns:a16="http://schemas.microsoft.com/office/drawing/2014/main" id="{53DF9C5D-D0E6-45A6-ACD7-FF2A4B359375}"/>
              </a:ext>
            </a:extLst>
          </p:cNvPr>
          <p:cNvSpPr>
            <a:spLocks noGrp="1"/>
          </p:cNvSpPr>
          <p:nvPr>
            <p:ph idx="1"/>
          </p:nvPr>
        </p:nvSpPr>
        <p:spPr>
          <a:xfrm>
            <a:off x="480723" y="1160255"/>
            <a:ext cx="11341405" cy="4527216"/>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Tree>
    <p:extLst>
      <p:ext uri="{BB962C8B-B14F-4D97-AF65-F5344CB8AC3E}">
        <p14:creationId xmlns:p14="http://schemas.microsoft.com/office/powerpoint/2010/main" val="1912129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Two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11E3DD-DEC2-4ACB-8EEA-CF98F509DA4B}"/>
              </a:ext>
            </a:extLst>
          </p:cNvPr>
          <p:cNvSpPr>
            <a:spLocks noGrp="1"/>
          </p:cNvSpPr>
          <p:nvPr>
            <p:ph idx="1"/>
          </p:nvPr>
        </p:nvSpPr>
        <p:spPr>
          <a:xfrm>
            <a:off x="480723" y="1945109"/>
            <a:ext cx="5462877" cy="4619668"/>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cxnSp>
        <p:nvCxnSpPr>
          <p:cNvPr id="4" name="Straight Connector 3">
            <a:extLst>
              <a:ext uri="{FF2B5EF4-FFF2-40B4-BE49-F238E27FC236}">
                <a16:creationId xmlns:a16="http://schemas.microsoft.com/office/drawing/2014/main" id="{DB6BC326-BAE5-4B96-A7D3-F93266342094}"/>
              </a:ext>
            </a:extLst>
          </p:cNvPr>
          <p:cNvCxnSpPr>
            <a:cxnSpLocks/>
          </p:cNvCxnSpPr>
          <p:nvPr userDrawn="1"/>
        </p:nvCxnSpPr>
        <p:spPr>
          <a:xfrm>
            <a:off x="480726" y="1078063"/>
            <a:ext cx="113414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0C6DB1F3-E63D-482F-B99D-453611781062}"/>
              </a:ext>
            </a:extLst>
          </p:cNvPr>
          <p:cNvSpPr>
            <a:spLocks noGrp="1"/>
          </p:cNvSpPr>
          <p:nvPr>
            <p:ph type="title"/>
          </p:nvPr>
        </p:nvSpPr>
        <p:spPr>
          <a:xfrm>
            <a:off x="480724" y="293208"/>
            <a:ext cx="11341405" cy="867046"/>
          </a:xfrm>
        </p:spPr>
        <p:txBody>
          <a:bodyPr/>
          <a:lstStyle>
            <a:lvl1pPr>
              <a:defRPr>
                <a:latin typeface="+mn-lt"/>
              </a:defRPr>
            </a:lvl1pPr>
          </a:lstStyle>
          <a:p>
            <a:r>
              <a:rPr lang="en-US"/>
              <a:t>Click to edit Master title style</a:t>
            </a:r>
          </a:p>
        </p:txBody>
      </p:sp>
      <p:sp>
        <p:nvSpPr>
          <p:cNvPr id="6" name="Content Placeholder 2">
            <a:extLst>
              <a:ext uri="{FF2B5EF4-FFF2-40B4-BE49-F238E27FC236}">
                <a16:creationId xmlns:a16="http://schemas.microsoft.com/office/drawing/2014/main" id="{3309463F-8B46-42D1-89B7-458FF7700F09}"/>
              </a:ext>
            </a:extLst>
          </p:cNvPr>
          <p:cNvSpPr>
            <a:spLocks noGrp="1"/>
          </p:cNvSpPr>
          <p:nvPr>
            <p:ph idx="10"/>
          </p:nvPr>
        </p:nvSpPr>
        <p:spPr>
          <a:xfrm>
            <a:off x="6359254" y="1945109"/>
            <a:ext cx="5462877" cy="4619668"/>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
        <p:nvSpPr>
          <p:cNvPr id="7" name="Content Placeholder 2">
            <a:extLst>
              <a:ext uri="{FF2B5EF4-FFF2-40B4-BE49-F238E27FC236}">
                <a16:creationId xmlns:a16="http://schemas.microsoft.com/office/drawing/2014/main" id="{A2F6E9E3-9C4A-4950-80C0-498B64F80962}"/>
              </a:ext>
            </a:extLst>
          </p:cNvPr>
          <p:cNvSpPr>
            <a:spLocks noGrp="1"/>
          </p:cNvSpPr>
          <p:nvPr>
            <p:ph idx="11"/>
          </p:nvPr>
        </p:nvSpPr>
        <p:spPr>
          <a:xfrm>
            <a:off x="480722" y="1147018"/>
            <a:ext cx="5462877" cy="787205"/>
          </a:xfr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600" b="1">
                <a:solidFill>
                  <a:srgbClr val="0070C0"/>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Master text styles</a:t>
            </a:r>
          </a:p>
        </p:txBody>
      </p:sp>
      <p:sp>
        <p:nvSpPr>
          <p:cNvPr id="8" name="Content Placeholder 2">
            <a:extLst>
              <a:ext uri="{FF2B5EF4-FFF2-40B4-BE49-F238E27FC236}">
                <a16:creationId xmlns:a16="http://schemas.microsoft.com/office/drawing/2014/main" id="{D57578E1-0C63-4145-9A81-FB0E2449A167}"/>
              </a:ext>
            </a:extLst>
          </p:cNvPr>
          <p:cNvSpPr>
            <a:spLocks noGrp="1"/>
          </p:cNvSpPr>
          <p:nvPr>
            <p:ph idx="12"/>
          </p:nvPr>
        </p:nvSpPr>
        <p:spPr>
          <a:xfrm>
            <a:off x="6359254" y="1157904"/>
            <a:ext cx="5462877" cy="787205"/>
          </a:xfr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600" b="1">
                <a:solidFill>
                  <a:srgbClr val="0070C0"/>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Master text styles</a:t>
            </a:r>
          </a:p>
        </p:txBody>
      </p:sp>
    </p:spTree>
    <p:extLst>
      <p:ext uri="{BB962C8B-B14F-4D97-AF65-F5344CB8AC3E}">
        <p14:creationId xmlns:p14="http://schemas.microsoft.com/office/powerpoint/2010/main" val="4046994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Two Column Option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6595F-D0BB-405B-A749-5E46CCA21E8B}"/>
              </a:ext>
            </a:extLst>
          </p:cNvPr>
          <p:cNvSpPr>
            <a:spLocks noGrp="1"/>
          </p:cNvSpPr>
          <p:nvPr>
            <p:ph idx="1"/>
          </p:nvPr>
        </p:nvSpPr>
        <p:spPr>
          <a:xfrm>
            <a:off x="480723" y="1160254"/>
            <a:ext cx="5462877" cy="5404523"/>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vl2pPr>
              <a:defRPr/>
            </a:lvl2pPr>
            <a:lvl3pPr>
              <a:defRPr/>
            </a:lvl3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cxnSp>
        <p:nvCxnSpPr>
          <p:cNvPr id="4" name="Straight Connector 3">
            <a:extLst>
              <a:ext uri="{FF2B5EF4-FFF2-40B4-BE49-F238E27FC236}">
                <a16:creationId xmlns:a16="http://schemas.microsoft.com/office/drawing/2014/main" id="{E5B4A7FD-F51A-4035-92E9-B4B42A1DB832}"/>
              </a:ext>
            </a:extLst>
          </p:cNvPr>
          <p:cNvCxnSpPr>
            <a:cxnSpLocks/>
          </p:cNvCxnSpPr>
          <p:nvPr userDrawn="1"/>
        </p:nvCxnSpPr>
        <p:spPr>
          <a:xfrm>
            <a:off x="480726" y="1078063"/>
            <a:ext cx="113414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0901F0B2-129E-496F-9BFD-9A349F4E00AD}"/>
              </a:ext>
            </a:extLst>
          </p:cNvPr>
          <p:cNvSpPr>
            <a:spLocks noGrp="1"/>
          </p:cNvSpPr>
          <p:nvPr>
            <p:ph type="title"/>
          </p:nvPr>
        </p:nvSpPr>
        <p:spPr>
          <a:xfrm>
            <a:off x="480724" y="293208"/>
            <a:ext cx="11341405" cy="867046"/>
          </a:xfrm>
        </p:spPr>
        <p:txBody>
          <a:bodyPr/>
          <a:lstStyle>
            <a:lvl1pPr>
              <a:defRPr>
                <a:latin typeface="+mn-lt"/>
              </a:defRPr>
            </a:lvl1pPr>
          </a:lstStyle>
          <a:p>
            <a:r>
              <a:rPr lang="en-US"/>
              <a:t>Click to edit Master title style</a:t>
            </a:r>
          </a:p>
        </p:txBody>
      </p:sp>
      <p:sp>
        <p:nvSpPr>
          <p:cNvPr id="6" name="Content Placeholder 2">
            <a:extLst>
              <a:ext uri="{FF2B5EF4-FFF2-40B4-BE49-F238E27FC236}">
                <a16:creationId xmlns:a16="http://schemas.microsoft.com/office/drawing/2014/main" id="{352795AB-06CD-491A-918C-68FF8C31F591}"/>
              </a:ext>
            </a:extLst>
          </p:cNvPr>
          <p:cNvSpPr>
            <a:spLocks noGrp="1"/>
          </p:cNvSpPr>
          <p:nvPr>
            <p:ph idx="10"/>
          </p:nvPr>
        </p:nvSpPr>
        <p:spPr>
          <a:xfrm>
            <a:off x="6359254" y="1160254"/>
            <a:ext cx="5462877" cy="5404523"/>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vl2pPr marL="800100" marR="0" indent="-342900" algn="l" defTabSz="914400" rtl="0" eaLnBrk="1" fontAlgn="auto" latinLnBrk="0" hangingPunct="1">
              <a:lnSpc>
                <a:spcPct val="90000"/>
              </a:lnSpc>
              <a:spcBef>
                <a:spcPts val="1000"/>
              </a:spcBef>
              <a:spcAft>
                <a:spcPts val="0"/>
              </a:spcAft>
              <a:buClrTx/>
              <a:buSzTx/>
              <a:tabLst/>
              <a:defRPr/>
            </a:lvl2pPr>
            <a:lvl3pPr marL="1200150" marR="0" indent="-342900" algn="l" defTabSz="914400" rtl="0" eaLnBrk="1" fontAlgn="auto" latinLnBrk="0" hangingPunct="1">
              <a:lnSpc>
                <a:spcPct val="90000"/>
              </a:lnSpc>
              <a:spcBef>
                <a:spcPts val="1000"/>
              </a:spcBef>
              <a:spcAft>
                <a:spcPts val="0"/>
              </a:spcAft>
              <a:buClrTx/>
              <a:buSzTx/>
              <a:tabLst/>
              <a:defRPr/>
            </a:lvl3pPr>
            <a:lvl4pPr marL="1657350" marR="0" indent="-342900" algn="l" defTabSz="914400" rtl="0" eaLnBrk="1" fontAlgn="auto" latinLnBrk="0" hangingPunct="1">
              <a:lnSpc>
                <a:spcPct val="90000"/>
              </a:lnSpc>
              <a:spcBef>
                <a:spcPts val="1000"/>
              </a:spcBef>
              <a:spcAft>
                <a:spcPts val="0"/>
              </a:spcAft>
              <a:buClrTx/>
              <a:buSzTx/>
              <a:tabLst/>
              <a:defRPr/>
            </a:lvl4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Tree>
    <p:extLst>
      <p:ext uri="{BB962C8B-B14F-4D97-AF65-F5344CB8AC3E}">
        <p14:creationId xmlns:p14="http://schemas.microsoft.com/office/powerpoint/2010/main" val="22763045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54F3ABA7-70F2-422F-93C6-8E176DABA7E5}"/>
              </a:ext>
            </a:extLst>
          </p:cNvPr>
          <p:cNvCxnSpPr>
            <a:cxnSpLocks/>
          </p:cNvCxnSpPr>
          <p:nvPr userDrawn="1"/>
        </p:nvCxnSpPr>
        <p:spPr>
          <a:xfrm>
            <a:off x="480726" y="1078063"/>
            <a:ext cx="113414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6242AE4D-465A-4B68-B072-9021BB1AE4D8}"/>
              </a:ext>
            </a:extLst>
          </p:cNvPr>
          <p:cNvSpPr>
            <a:spLocks noGrp="1"/>
          </p:cNvSpPr>
          <p:nvPr>
            <p:ph type="title"/>
          </p:nvPr>
        </p:nvSpPr>
        <p:spPr>
          <a:xfrm>
            <a:off x="480724" y="293208"/>
            <a:ext cx="11341404" cy="867046"/>
          </a:xfrm>
        </p:spPr>
        <p:txBody>
          <a:bodyPr/>
          <a:lstStyle>
            <a:lvl1pPr>
              <a:defRPr>
                <a:latin typeface="+mn-lt"/>
              </a:defRPr>
            </a:lvl1pPr>
          </a:lstStyle>
          <a:p>
            <a:r>
              <a:rPr lang="en-US"/>
              <a:t>Click to edit Master title style</a:t>
            </a:r>
          </a:p>
        </p:txBody>
      </p:sp>
      <p:sp>
        <p:nvSpPr>
          <p:cNvPr id="5" name="Content Placeholder 2">
            <a:extLst>
              <a:ext uri="{FF2B5EF4-FFF2-40B4-BE49-F238E27FC236}">
                <a16:creationId xmlns:a16="http://schemas.microsoft.com/office/drawing/2014/main" id="{67F16AA0-5D31-410D-8DBB-1CFE123A17BF}"/>
              </a:ext>
            </a:extLst>
          </p:cNvPr>
          <p:cNvSpPr>
            <a:spLocks noGrp="1"/>
          </p:cNvSpPr>
          <p:nvPr>
            <p:ph idx="10"/>
          </p:nvPr>
        </p:nvSpPr>
        <p:spPr>
          <a:xfrm>
            <a:off x="480723" y="1160254"/>
            <a:ext cx="11341405" cy="5404523"/>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Tree>
    <p:extLst>
      <p:ext uri="{BB962C8B-B14F-4D97-AF65-F5344CB8AC3E}">
        <p14:creationId xmlns:p14="http://schemas.microsoft.com/office/powerpoint/2010/main" val="971844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D7ADAA4-3E13-4E33-B961-0D12631E0F6F}"/>
              </a:ext>
            </a:extLst>
          </p:cNvPr>
          <p:cNvCxnSpPr>
            <a:cxnSpLocks/>
          </p:cNvCxnSpPr>
          <p:nvPr userDrawn="1"/>
        </p:nvCxnSpPr>
        <p:spPr>
          <a:xfrm>
            <a:off x="480726" y="1078063"/>
            <a:ext cx="113414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88858A0F-E425-459A-951B-B0649312D0D8}"/>
              </a:ext>
            </a:extLst>
          </p:cNvPr>
          <p:cNvSpPr>
            <a:spLocks noGrp="1"/>
          </p:cNvSpPr>
          <p:nvPr>
            <p:ph type="title"/>
          </p:nvPr>
        </p:nvSpPr>
        <p:spPr>
          <a:xfrm>
            <a:off x="480723" y="293208"/>
            <a:ext cx="11341405" cy="867046"/>
          </a:xfrm>
        </p:spPr>
        <p:txBody>
          <a:bodyPr/>
          <a:lstStyle>
            <a:lvl1pPr>
              <a:defRPr>
                <a:latin typeface="+mn-lt"/>
              </a:defRPr>
            </a:lvl1pPr>
          </a:lstStyle>
          <a:p>
            <a:r>
              <a:rPr lang="en-US"/>
              <a:t>Click to edit Master title style</a:t>
            </a:r>
          </a:p>
        </p:txBody>
      </p:sp>
    </p:spTree>
    <p:extLst>
      <p:ext uri="{BB962C8B-B14F-4D97-AF65-F5344CB8AC3E}">
        <p14:creationId xmlns:p14="http://schemas.microsoft.com/office/powerpoint/2010/main" val="3772695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New Section">
    <p:spTree>
      <p:nvGrpSpPr>
        <p:cNvPr id="1" name=""/>
        <p:cNvGrpSpPr/>
        <p:nvPr/>
      </p:nvGrpSpPr>
      <p:grpSpPr>
        <a:xfrm>
          <a:off x="0" y="0"/>
          <a:ext cx="0" cy="0"/>
          <a:chOff x="0" y="0"/>
          <a:chExt cx="0" cy="0"/>
        </a:xfrm>
      </p:grpSpPr>
      <p:sp>
        <p:nvSpPr>
          <p:cNvPr id="2" name="Title 1"/>
          <p:cNvSpPr>
            <a:spLocks noGrp="1"/>
          </p:cNvSpPr>
          <p:nvPr>
            <p:ph type="title"/>
          </p:nvPr>
        </p:nvSpPr>
        <p:spPr>
          <a:xfrm>
            <a:off x="465761" y="1709739"/>
            <a:ext cx="11260477" cy="2784422"/>
          </a:xfrm>
        </p:spPr>
        <p:txBody>
          <a:bodyPr anchor="b">
            <a:normAutofit/>
          </a:bodyPr>
          <a:lstStyle>
            <a:lvl1pPr>
              <a:defRPr sz="4400">
                <a:solidFill>
                  <a:srgbClr val="0070C0"/>
                </a:solidFill>
                <a:latin typeface="+mn-lt"/>
              </a:defRPr>
            </a:lvl1pPr>
          </a:lstStyle>
          <a:p>
            <a:r>
              <a:rPr lang="en-US"/>
              <a:t>Click to edit Master title style</a:t>
            </a:r>
          </a:p>
        </p:txBody>
      </p:sp>
      <p:sp>
        <p:nvSpPr>
          <p:cNvPr id="3" name="Text Placeholder 2"/>
          <p:cNvSpPr>
            <a:spLocks noGrp="1"/>
          </p:cNvSpPr>
          <p:nvPr>
            <p:ph type="body" idx="1"/>
          </p:nvPr>
        </p:nvSpPr>
        <p:spPr>
          <a:xfrm>
            <a:off x="465761" y="4589463"/>
            <a:ext cx="11260477" cy="1500187"/>
          </a:xfrm>
        </p:spPr>
        <p:txBody>
          <a:bodyPr>
            <a:normAutofit/>
          </a:bodyPr>
          <a:lstStyle>
            <a:lvl1pPr marL="0" indent="0">
              <a:buNone/>
              <a:defRPr sz="2000">
                <a:solidFill>
                  <a:srgbClr val="73CFE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7" name="Straight Connector 6">
            <a:extLst>
              <a:ext uri="{FF2B5EF4-FFF2-40B4-BE49-F238E27FC236}">
                <a16:creationId xmlns:a16="http://schemas.microsoft.com/office/drawing/2014/main" id="{20CF900A-0CCD-4198-A4BC-241B877661CD}"/>
              </a:ext>
            </a:extLst>
          </p:cNvPr>
          <p:cNvCxnSpPr>
            <a:cxnSpLocks/>
          </p:cNvCxnSpPr>
          <p:nvPr userDrawn="1"/>
        </p:nvCxnSpPr>
        <p:spPr>
          <a:xfrm>
            <a:off x="465762" y="4494160"/>
            <a:ext cx="11260477" cy="136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C8C0154-FE99-410A-AD56-9037402DE6DE}"/>
              </a:ext>
            </a:extLst>
          </p:cNvPr>
          <p:cNvSpPr/>
          <p:nvPr userDrawn="1"/>
        </p:nvSpPr>
        <p:spPr>
          <a:xfrm>
            <a:off x="0" y="6563012"/>
            <a:ext cx="12192000" cy="313362"/>
          </a:xfrm>
          <a:prstGeom prst="rect">
            <a:avLst/>
          </a:prstGeom>
          <a:solidFill>
            <a:srgbClr val="1E35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1E355E"/>
              </a:solidFill>
            </a:endParaRPr>
          </a:p>
        </p:txBody>
      </p:sp>
      <p:pic>
        <p:nvPicPr>
          <p:cNvPr id="8" name="Picture 7" descr="A picture containing icon&#10;&#10;Description automatically generated">
            <a:extLst>
              <a:ext uri="{FF2B5EF4-FFF2-40B4-BE49-F238E27FC236}">
                <a16:creationId xmlns:a16="http://schemas.microsoft.com/office/drawing/2014/main" id="{4B2A88FB-DD03-4FF8-B3C2-F335A1D968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39745" y="6171329"/>
            <a:ext cx="1269438" cy="306416"/>
          </a:xfrm>
          <a:prstGeom prst="rect">
            <a:avLst/>
          </a:prstGeom>
        </p:spPr>
      </p:pic>
    </p:spTree>
    <p:extLst>
      <p:ext uri="{BB962C8B-B14F-4D97-AF65-F5344CB8AC3E}">
        <p14:creationId xmlns:p14="http://schemas.microsoft.com/office/powerpoint/2010/main" val="3071093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A5E285D-27D1-4C45-8D3F-323B7412B93C}"/>
              </a:ext>
            </a:extLst>
          </p:cNvPr>
          <p:cNvSpPr>
            <a:spLocks noGrp="1"/>
          </p:cNvSpPr>
          <p:nvPr>
            <p:ph idx="10"/>
          </p:nvPr>
        </p:nvSpPr>
        <p:spPr>
          <a:xfrm>
            <a:off x="217715" y="296092"/>
            <a:ext cx="11686902" cy="6268686"/>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Tree>
    <p:extLst>
      <p:ext uri="{BB962C8B-B14F-4D97-AF65-F5344CB8AC3E}">
        <p14:creationId xmlns:p14="http://schemas.microsoft.com/office/powerpoint/2010/main" val="294582647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Bottom Copy Only">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C8A8C6B-F71D-475F-BAD7-2A14F1CEF97C}"/>
              </a:ext>
            </a:extLst>
          </p:cNvPr>
          <p:cNvSpPr>
            <a:spLocks noGrp="1"/>
          </p:cNvSpPr>
          <p:nvPr>
            <p:ph idx="10"/>
          </p:nvPr>
        </p:nvSpPr>
        <p:spPr>
          <a:xfrm>
            <a:off x="252549" y="5687470"/>
            <a:ext cx="11652067" cy="877321"/>
          </a:xfr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Master text styles</a:t>
            </a:r>
          </a:p>
        </p:txBody>
      </p:sp>
      <p:sp>
        <p:nvSpPr>
          <p:cNvPr id="5" name="Content Placeholder 2">
            <a:extLst>
              <a:ext uri="{FF2B5EF4-FFF2-40B4-BE49-F238E27FC236}">
                <a16:creationId xmlns:a16="http://schemas.microsoft.com/office/drawing/2014/main" id="{8F56E7F7-8A0D-4359-AE29-4FABA1EDD2A3}"/>
              </a:ext>
            </a:extLst>
          </p:cNvPr>
          <p:cNvSpPr>
            <a:spLocks noGrp="1"/>
          </p:cNvSpPr>
          <p:nvPr>
            <p:ph idx="11"/>
          </p:nvPr>
        </p:nvSpPr>
        <p:spPr>
          <a:xfrm>
            <a:off x="217715" y="296092"/>
            <a:ext cx="11686902" cy="5303519"/>
          </a:xfrm>
        </p:spPr>
        <p:txBody>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pPr marL="342900" marR="0" lvl="0" indent="-3429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Tree>
    <p:extLst>
      <p:ext uri="{BB962C8B-B14F-4D97-AF65-F5344CB8AC3E}">
        <p14:creationId xmlns:p14="http://schemas.microsoft.com/office/powerpoint/2010/main" val="117639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632B76-9A2D-49B3-9438-EE6AFD105821}"/>
              </a:ext>
            </a:extLst>
          </p:cNvPr>
          <p:cNvSpPr/>
          <p:nvPr userDrawn="1"/>
        </p:nvSpPr>
        <p:spPr>
          <a:xfrm>
            <a:off x="0" y="0"/>
            <a:ext cx="12192000" cy="6876374"/>
          </a:xfrm>
          <a:prstGeom prst="rect">
            <a:avLst/>
          </a:prstGeom>
          <a:solidFill>
            <a:srgbClr val="1E35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a:solidFill>
                <a:srgbClr val="1E355E"/>
              </a:solidFill>
            </a:endParaRPr>
          </a:p>
        </p:txBody>
      </p:sp>
      <p:sp>
        <p:nvSpPr>
          <p:cNvPr id="4" name="Title 1">
            <a:extLst>
              <a:ext uri="{FF2B5EF4-FFF2-40B4-BE49-F238E27FC236}">
                <a16:creationId xmlns:a16="http://schemas.microsoft.com/office/drawing/2014/main" id="{351E0EA3-9105-4113-B924-3081D62C9DDC}"/>
              </a:ext>
            </a:extLst>
          </p:cNvPr>
          <p:cNvSpPr>
            <a:spLocks noGrp="1"/>
          </p:cNvSpPr>
          <p:nvPr>
            <p:ph type="title" hasCustomPrompt="1"/>
          </p:nvPr>
        </p:nvSpPr>
        <p:spPr>
          <a:xfrm>
            <a:off x="838200" y="2456499"/>
            <a:ext cx="10515600" cy="972501"/>
          </a:xfrm>
        </p:spPr>
        <p:txBody>
          <a:bodyPr anchor="ctr">
            <a:normAutofit/>
          </a:bodyPr>
          <a:lstStyle>
            <a:lvl1pPr algn="ctr">
              <a:defRPr sz="5400" b="1">
                <a:solidFill>
                  <a:schemeClr val="bg1"/>
                </a:solidFill>
                <a:latin typeface="+mn-lt"/>
              </a:defRPr>
            </a:lvl1pPr>
          </a:lstStyle>
          <a:p>
            <a:r>
              <a:rPr lang="en-US"/>
              <a:t>Thank you!</a:t>
            </a:r>
          </a:p>
        </p:txBody>
      </p:sp>
      <p:sp>
        <p:nvSpPr>
          <p:cNvPr id="6" name="Text Placeholder 2">
            <a:extLst>
              <a:ext uri="{FF2B5EF4-FFF2-40B4-BE49-F238E27FC236}">
                <a16:creationId xmlns:a16="http://schemas.microsoft.com/office/drawing/2014/main" id="{8EC1A55C-330F-4D1A-8C2B-824C9FE10A27}"/>
              </a:ext>
            </a:extLst>
          </p:cNvPr>
          <p:cNvSpPr>
            <a:spLocks noGrp="1"/>
          </p:cNvSpPr>
          <p:nvPr>
            <p:ph type="body" idx="1" hasCustomPrompt="1"/>
          </p:nvPr>
        </p:nvSpPr>
        <p:spPr>
          <a:xfrm>
            <a:off x="825500" y="3429000"/>
            <a:ext cx="10515600" cy="600891"/>
          </a:xfrm>
        </p:spPr>
        <p:txBody>
          <a:bodyPr>
            <a:normAutofit/>
          </a:bodyPr>
          <a:lstStyle>
            <a:lvl1pPr marL="0" indent="0" algn="ctr">
              <a:buNone/>
              <a:defRPr sz="22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Any questions?</a:t>
            </a:r>
          </a:p>
        </p:txBody>
      </p:sp>
      <p:pic>
        <p:nvPicPr>
          <p:cNvPr id="7" name="Picture 6" descr="A picture containing text&#10;&#10;Description automatically generated">
            <a:extLst>
              <a:ext uri="{FF2B5EF4-FFF2-40B4-BE49-F238E27FC236}">
                <a16:creationId xmlns:a16="http://schemas.microsoft.com/office/drawing/2014/main" id="{1AB9D916-7BB3-454D-AF4E-0BA034373E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39744" y="6171329"/>
            <a:ext cx="1312225" cy="319309"/>
          </a:xfrm>
          <a:prstGeom prst="rect">
            <a:avLst/>
          </a:prstGeom>
        </p:spPr>
      </p:pic>
    </p:spTree>
    <p:extLst>
      <p:ext uri="{BB962C8B-B14F-4D97-AF65-F5344CB8AC3E}">
        <p14:creationId xmlns:p14="http://schemas.microsoft.com/office/powerpoint/2010/main" val="1106772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1510473"/>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88" r:id="rId3"/>
    <p:sldLayoutId id="2147483689" r:id="rId4"/>
    <p:sldLayoutId id="2147483672" r:id="rId5"/>
    <p:sldLayoutId id="2147483690" r:id="rId6"/>
    <p:sldLayoutId id="2147483673" r:id="rId7"/>
    <p:sldLayoutId id="2147483677" r:id="rId8"/>
    <p:sldLayoutId id="2147483687" r:id="rId9"/>
    <p:sldLayoutId id="2147483691" r:id="rId10"/>
  </p:sldLayoutIdLst>
  <p:hf hdr="0" ftr="0" dt="0"/>
  <p:txStyles>
    <p:titleStyle>
      <a:lvl1pPr algn="l" defTabSz="914400" rtl="0" eaLnBrk="1" latinLnBrk="0" hangingPunct="1">
        <a:lnSpc>
          <a:spcPct val="90000"/>
        </a:lnSpc>
        <a:spcBef>
          <a:spcPct val="0"/>
        </a:spcBef>
        <a:buNone/>
        <a:defRPr sz="3600" b="1" kern="1200">
          <a:solidFill>
            <a:srgbClr val="1E355E"/>
          </a:solidFill>
          <a:latin typeface="+mn-lt"/>
          <a:ea typeface="+mj-ea"/>
          <a:cs typeface="+mj-cs"/>
        </a:defRPr>
      </a:lvl1pPr>
    </p:titleStyle>
    <p:bodyStyle>
      <a:lvl1pPr marL="342900" indent="-3429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200150" indent="-28575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6.xml"/><Relationship Id="rId1" Type="http://schemas.openxmlformats.org/officeDocument/2006/relationships/slideLayout" Target="../slideLayouts/slideLayout5.xml"/><Relationship Id="rId6" Type="http://schemas.openxmlformats.org/officeDocument/2006/relationships/slide" Target="slide15.xml"/><Relationship Id="rId5" Type="http://schemas.openxmlformats.org/officeDocument/2006/relationships/slide" Target="slide12.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hyperlink" Target="https://iatig.sharepoint.com/:x:/r/sites/TransformProjects/_layouts/15/Doc2.aspx?action=edit&amp;sourcedoc=%7Bcf94db29-a05c-44ee-9617-ee11031f7bbc%7D&amp;wdOrigin=TEAMS-MAGLEV.teamsSdk_ns.rwc&amp;wdExp=TEAMS-TREATMENT&amp;wdhostclicktime=1766155895807&amp;web=1"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hyperlink" Target="https://iatig.sharepoint.com/:x:/r/sites/TransformProjects/_layouts/15/Doc2.aspx?action=edit&amp;sourcedoc=%7B0a2828d7-ce45-4f9f-a417-a44a14ddbd18%7D&amp;wdOrigin=TEAMS-MAGLEV.teamsSdk_ns.rwc&amp;wdExp=TEAMS-TREATMENT&amp;wdhostclicktime=1773064842033&amp;web=1"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hyperlink" Target="https://iatig.sharepoint.com/:x:/r/sites/TransformProjects/_layouts/15/Doc2.aspx?action=edit&amp;sourcedoc=%7Bcf94db29-a05c-44ee-9617-ee11031f7bbc%7D&amp;wdOrigin=TEAMS-MAGLEV.teamsSdk_ns.rwc&amp;wdExp=TEAMS-TREATMENT&amp;wdhostclicktime=1766155895807&amp;web=1"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BA648-8B09-4CCC-9947-E0AB7ADB31B3}"/>
              </a:ext>
            </a:extLst>
          </p:cNvPr>
          <p:cNvSpPr>
            <a:spLocks noGrp="1"/>
          </p:cNvSpPr>
          <p:nvPr>
            <p:ph type="title"/>
          </p:nvPr>
        </p:nvSpPr>
        <p:spPr/>
        <p:txBody>
          <a:bodyPr>
            <a:normAutofit/>
          </a:bodyPr>
          <a:lstStyle/>
          <a:p>
            <a:r>
              <a:rPr lang="en-US" sz="4800"/>
              <a:t>Unity Streamlined Renewals – Non-Fleet</a:t>
            </a:r>
            <a:endParaRPr lang="en-US" sz="4800">
              <a:ea typeface="Calibri"/>
              <a:cs typeface="Calibri"/>
            </a:endParaRPr>
          </a:p>
        </p:txBody>
      </p:sp>
      <p:sp>
        <p:nvSpPr>
          <p:cNvPr id="3" name="Text Placeholder 2">
            <a:extLst>
              <a:ext uri="{FF2B5EF4-FFF2-40B4-BE49-F238E27FC236}">
                <a16:creationId xmlns:a16="http://schemas.microsoft.com/office/drawing/2014/main" id="{8ACDF352-09EC-4961-A6B9-2D2399A55C18}"/>
              </a:ext>
            </a:extLst>
          </p:cNvPr>
          <p:cNvSpPr>
            <a:spLocks noGrp="1"/>
          </p:cNvSpPr>
          <p:nvPr>
            <p:ph type="body" idx="10"/>
          </p:nvPr>
        </p:nvSpPr>
        <p:spPr/>
        <p:txBody>
          <a:bodyPr vert="horz" lIns="91440" tIns="45720" rIns="91440" bIns="45720" rtlCol="0" anchor="t">
            <a:normAutofit/>
          </a:bodyPr>
          <a:lstStyle/>
          <a:p>
            <a:r>
              <a:rPr lang="en-US"/>
              <a:t>Future State Design – Business Requirements (Unity)</a:t>
            </a:r>
            <a:endParaRPr lang="en-US" baseline="30000">
              <a:ea typeface="Calibri"/>
              <a:cs typeface="Calibri"/>
            </a:endParaRPr>
          </a:p>
        </p:txBody>
      </p:sp>
    </p:spTree>
    <p:extLst>
      <p:ext uri="{BB962C8B-B14F-4D97-AF65-F5344CB8AC3E}">
        <p14:creationId xmlns:p14="http://schemas.microsoft.com/office/powerpoint/2010/main" val="1003409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7C4085-5330-AB34-3548-C7584A5A1983}"/>
              </a:ext>
            </a:extLst>
          </p:cNvPr>
          <p:cNvSpPr>
            <a:spLocks noGrp="1"/>
          </p:cNvSpPr>
          <p:nvPr>
            <p:ph type="title"/>
          </p:nvPr>
        </p:nvSpPr>
        <p:spPr/>
        <p:txBody>
          <a:bodyPr>
            <a:normAutofit/>
          </a:bodyPr>
          <a:lstStyle/>
          <a:p>
            <a:r>
              <a:rPr lang="en-US" sz="3200">
                <a:ea typeface="Calibri"/>
                <a:cs typeface="Calibri"/>
              </a:rPr>
              <a:t>Goal &amp; Agenda</a:t>
            </a:r>
          </a:p>
        </p:txBody>
      </p:sp>
      <p:sp>
        <p:nvSpPr>
          <p:cNvPr id="4" name="Content Placeholder 3">
            <a:extLst>
              <a:ext uri="{FF2B5EF4-FFF2-40B4-BE49-F238E27FC236}">
                <a16:creationId xmlns:a16="http://schemas.microsoft.com/office/drawing/2014/main" id="{E3D3ABCA-7011-A7C8-E35C-177B3A6AE903}"/>
              </a:ext>
            </a:extLst>
          </p:cNvPr>
          <p:cNvSpPr>
            <a:spLocks noGrp="1"/>
          </p:cNvSpPr>
          <p:nvPr>
            <p:ph idx="10"/>
          </p:nvPr>
        </p:nvSpPr>
        <p:spPr/>
        <p:txBody>
          <a:bodyPr vert="horz" lIns="91440" tIns="45720" rIns="91440" bIns="45720" rtlCol="0" anchor="t">
            <a:normAutofit/>
          </a:bodyPr>
          <a:lstStyle/>
          <a:p>
            <a:pPr>
              <a:buNone/>
            </a:pPr>
            <a:r>
              <a:rPr lang="en-US" sz="2400" b="1">
                <a:solidFill>
                  <a:srgbClr val="1E355E"/>
                </a:solidFill>
                <a:ea typeface="Calibri"/>
                <a:cs typeface="Calibri"/>
              </a:rPr>
              <a:t>Goal: </a:t>
            </a:r>
            <a:endParaRPr lang="en-US" sz="2400">
              <a:solidFill>
                <a:srgbClr val="000000"/>
              </a:solidFill>
              <a:ea typeface="Calibri"/>
              <a:cs typeface="Calibri"/>
            </a:endParaRPr>
          </a:p>
          <a:p>
            <a:r>
              <a:rPr lang="en-US">
                <a:solidFill>
                  <a:srgbClr val="1E355E"/>
                </a:solidFill>
                <a:ea typeface="Calibri"/>
                <a:cs typeface="Calibri"/>
              </a:rPr>
              <a:t>Define business requirements for Streamlined Renewals Project (Non-Fleet), from Unity's perspective.</a:t>
            </a:r>
          </a:p>
          <a:p>
            <a:r>
              <a:rPr lang="en-US">
                <a:solidFill>
                  <a:srgbClr val="1E355E"/>
                </a:solidFill>
                <a:ea typeface="Calibri"/>
                <a:cs typeface="Calibri"/>
              </a:rPr>
              <a:t>Provide a baseline for scope control.</a:t>
            </a:r>
          </a:p>
          <a:p>
            <a:r>
              <a:rPr lang="en-US">
                <a:solidFill>
                  <a:srgbClr val="1E355E"/>
                </a:solidFill>
                <a:ea typeface="Calibri"/>
                <a:cs typeface="Calibri"/>
              </a:rPr>
              <a:t>Gain alignment across stakeholders before solution design or functional requirements.</a:t>
            </a:r>
            <a:endParaRPr lang="en-US">
              <a:solidFill>
                <a:srgbClr val="000000"/>
              </a:solidFill>
              <a:ea typeface="Calibri"/>
              <a:cs typeface="Calibri"/>
            </a:endParaRPr>
          </a:p>
          <a:p>
            <a:pPr marL="0" indent="0">
              <a:buNone/>
            </a:pPr>
            <a:endParaRPr lang="en-US" sz="2400" b="1">
              <a:solidFill>
                <a:srgbClr val="1E355E"/>
              </a:solidFill>
              <a:ea typeface="Calibri"/>
              <a:cs typeface="Calibri"/>
            </a:endParaRPr>
          </a:p>
          <a:p>
            <a:pPr marL="0" indent="0">
              <a:buNone/>
            </a:pPr>
            <a:r>
              <a:rPr lang="en-US" sz="2400" b="1">
                <a:solidFill>
                  <a:srgbClr val="1E355E"/>
                </a:solidFill>
                <a:ea typeface="Calibri"/>
                <a:cs typeface="Calibri"/>
              </a:rPr>
              <a:t>Agenda:</a:t>
            </a:r>
            <a:endParaRPr lang="en-US" sz="2400">
              <a:solidFill>
                <a:srgbClr val="000000"/>
              </a:solidFill>
              <a:ea typeface="Calibri"/>
              <a:cs typeface="Calibri"/>
            </a:endParaRPr>
          </a:p>
          <a:p>
            <a:pPr>
              <a:buFont typeface="Arial"/>
              <a:buChar char="•"/>
            </a:pPr>
            <a:r>
              <a:rPr lang="en-US" b="1">
                <a:solidFill>
                  <a:srgbClr val="1E355E"/>
                </a:solidFill>
                <a:ea typeface="Calibri"/>
                <a:cs typeface="Calibri"/>
                <a:hlinkClick r:id="" action="ppaction://noaction">
                  <a:extLst>
                    <a:ext uri="{A12FA001-AC4F-418D-AE19-62706E023703}">
                      <ahyp:hlinkClr xmlns:ahyp="http://schemas.microsoft.com/office/drawing/2018/hyperlinkcolor" val="tx"/>
                    </a:ext>
                  </a:extLst>
                </a:hlinkClick>
              </a:rPr>
              <a:t>Transaction Processor</a:t>
            </a:r>
            <a:endParaRPr lang="en-US">
              <a:solidFill>
                <a:srgbClr val="000000"/>
              </a:solidFill>
              <a:ea typeface="Calibri"/>
              <a:cs typeface="Calibri"/>
            </a:endParaRPr>
          </a:p>
          <a:p>
            <a:pPr>
              <a:buFont typeface="Arial"/>
              <a:buChar char="•"/>
            </a:pPr>
            <a:r>
              <a:rPr lang="en-US" b="1">
                <a:solidFill>
                  <a:srgbClr val="1E355E"/>
                </a:solidFill>
                <a:ea typeface="Calibri"/>
                <a:cs typeface="Calibri"/>
                <a:hlinkClick r:id="" action="ppaction://noaction"/>
              </a:rPr>
              <a:t>Renewal List Identification</a:t>
            </a:r>
            <a:endParaRPr lang="en-US">
              <a:solidFill>
                <a:srgbClr val="000000"/>
              </a:solidFill>
              <a:ea typeface="Calibri"/>
              <a:cs typeface="Calibri"/>
            </a:endParaRPr>
          </a:p>
          <a:p>
            <a:pPr>
              <a:buFont typeface="Arial"/>
              <a:buChar char="•"/>
            </a:pPr>
            <a:r>
              <a:rPr lang="en-US" b="1">
                <a:solidFill>
                  <a:srgbClr val="1E355E"/>
                </a:solidFill>
                <a:ea typeface="Calibri"/>
                <a:cs typeface="Calibri"/>
                <a:hlinkClick r:id="rId2" action="ppaction://hlinksldjump"/>
              </a:rPr>
              <a:t>Automated Renewal UW Rules</a:t>
            </a:r>
            <a:endParaRPr lang="en-US">
              <a:solidFill>
                <a:srgbClr val="000000"/>
              </a:solidFill>
              <a:ea typeface="Calibri"/>
              <a:cs typeface="Calibri"/>
            </a:endParaRPr>
          </a:p>
          <a:p>
            <a:pPr>
              <a:buFont typeface="Arial"/>
              <a:buChar char="•"/>
            </a:pPr>
            <a:r>
              <a:rPr lang="en-US" b="1">
                <a:solidFill>
                  <a:srgbClr val="1E355E"/>
                </a:solidFill>
                <a:ea typeface="Calibri"/>
                <a:cs typeface="Calibri"/>
                <a:hlinkClick r:id="rId3" action="ppaction://hlinksldjump"/>
              </a:rPr>
              <a:t>Pricing Guidance (DFM)</a:t>
            </a:r>
            <a:endParaRPr lang="en-US">
              <a:solidFill>
                <a:srgbClr val="000000"/>
              </a:solidFill>
              <a:ea typeface="Calibri"/>
              <a:cs typeface="Calibri"/>
            </a:endParaRPr>
          </a:p>
          <a:p>
            <a:pPr>
              <a:buFont typeface="Arial"/>
              <a:buChar char="•"/>
            </a:pPr>
            <a:r>
              <a:rPr lang="en-US" b="1">
                <a:solidFill>
                  <a:srgbClr val="1E355E"/>
                </a:solidFill>
                <a:ea typeface="Calibri"/>
                <a:cs typeface="Calibri"/>
                <a:hlinkClick r:id="rId4" action="ppaction://hlinksldjump"/>
              </a:rPr>
              <a:t>Retail Workflow</a:t>
            </a:r>
            <a:endParaRPr lang="en-US">
              <a:solidFill>
                <a:srgbClr val="000000"/>
              </a:solidFill>
              <a:ea typeface="Calibri"/>
              <a:cs typeface="Calibri"/>
            </a:endParaRPr>
          </a:p>
          <a:p>
            <a:pPr>
              <a:buFont typeface="Arial"/>
              <a:buChar char="•"/>
            </a:pPr>
            <a:r>
              <a:rPr lang="en-US" b="1">
                <a:solidFill>
                  <a:srgbClr val="1E355E"/>
                </a:solidFill>
                <a:ea typeface="Calibri"/>
                <a:cs typeface="Calibri"/>
                <a:hlinkClick r:id="rId5" action="ppaction://hlinksldjump"/>
              </a:rPr>
              <a:t>Misc. Requirements</a:t>
            </a:r>
            <a:endParaRPr lang="en-US">
              <a:solidFill>
                <a:srgbClr val="000000"/>
              </a:solidFill>
              <a:ea typeface="Calibri"/>
              <a:cs typeface="Calibri"/>
            </a:endParaRPr>
          </a:p>
          <a:p>
            <a:pPr>
              <a:buFont typeface="Arial"/>
              <a:buChar char="•"/>
            </a:pPr>
            <a:r>
              <a:rPr lang="en-US" b="1">
                <a:solidFill>
                  <a:srgbClr val="1E355E"/>
                </a:solidFill>
                <a:ea typeface="Calibri"/>
                <a:cs typeface="Calibri"/>
                <a:hlinkClick r:id="rId6" action="ppaction://hlinksldjump"/>
              </a:rPr>
              <a:t>Appendix</a:t>
            </a:r>
            <a:endParaRPr lang="en-US">
              <a:solidFill>
                <a:srgbClr val="000000"/>
              </a:solidFill>
              <a:ea typeface="Calibri"/>
              <a:cs typeface="Calibri"/>
            </a:endParaRPr>
          </a:p>
          <a:p>
            <a:pPr marL="0" indent="0">
              <a:buNone/>
            </a:pPr>
            <a:endParaRPr lang="en-US" sz="3200" b="1">
              <a:solidFill>
                <a:srgbClr val="1E355E"/>
              </a:solidFill>
              <a:ea typeface="Calibri"/>
              <a:cs typeface="Calibri"/>
            </a:endParaRPr>
          </a:p>
          <a:p>
            <a:endParaRPr lang="en-US" sz="3200" b="1">
              <a:solidFill>
                <a:srgbClr val="1E355E"/>
              </a:solidFill>
              <a:ea typeface="Calibri"/>
              <a:cs typeface="Calibri"/>
            </a:endParaRPr>
          </a:p>
        </p:txBody>
      </p:sp>
      <p:sp>
        <p:nvSpPr>
          <p:cNvPr id="5" name="Content Placeholder 4">
            <a:extLst>
              <a:ext uri="{FF2B5EF4-FFF2-40B4-BE49-F238E27FC236}">
                <a16:creationId xmlns:a16="http://schemas.microsoft.com/office/drawing/2014/main" id="{1A22E76A-4B7E-F546-3445-16A8833FE6D5}"/>
              </a:ext>
            </a:extLst>
          </p:cNvPr>
          <p:cNvSpPr>
            <a:spLocks noGrp="1"/>
          </p:cNvSpPr>
          <p:nvPr>
            <p:ph idx="4294967295"/>
          </p:nvPr>
        </p:nvSpPr>
        <p:spPr>
          <a:xfrm>
            <a:off x="6729413" y="1160463"/>
            <a:ext cx="5462587" cy="5403850"/>
          </a:xfrm>
        </p:spPr>
        <p:txBody>
          <a:bodyPr vert="horz" lIns="91440" tIns="45720" rIns="91440" bIns="45720" rtlCol="0" anchor="t">
            <a:normAutofit/>
          </a:bodyPr>
          <a:lstStyle/>
          <a:p>
            <a:endParaRPr lang="en-US" sz="3200">
              <a:ea typeface="Calibri"/>
              <a:cs typeface="Calibri"/>
            </a:endParaRPr>
          </a:p>
          <a:p>
            <a:endParaRPr lang="en-US">
              <a:ea typeface="Calibri"/>
              <a:cs typeface="Calibri"/>
            </a:endParaRPr>
          </a:p>
        </p:txBody>
      </p:sp>
    </p:spTree>
    <p:extLst>
      <p:ext uri="{BB962C8B-B14F-4D97-AF65-F5344CB8AC3E}">
        <p14:creationId xmlns:p14="http://schemas.microsoft.com/office/powerpoint/2010/main" val="1845314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CD5F1-18DB-61FE-461F-C793CC74EF8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C5748E6-CE76-4E48-93CF-B5E71F5AE64F}"/>
              </a:ext>
            </a:extLst>
          </p:cNvPr>
          <p:cNvSpPr>
            <a:spLocks noGrp="1"/>
          </p:cNvSpPr>
          <p:nvPr>
            <p:ph type="title"/>
          </p:nvPr>
        </p:nvSpPr>
        <p:spPr/>
        <p:txBody>
          <a:bodyPr>
            <a:normAutofit/>
          </a:bodyPr>
          <a:lstStyle/>
          <a:p>
            <a:r>
              <a:rPr lang="en-US" sz="3200"/>
              <a:t>Transaction Processor – Business Requirements</a:t>
            </a:r>
          </a:p>
        </p:txBody>
      </p:sp>
      <p:sp>
        <p:nvSpPr>
          <p:cNvPr id="8" name="Content Placeholder 7">
            <a:extLst>
              <a:ext uri="{FF2B5EF4-FFF2-40B4-BE49-F238E27FC236}">
                <a16:creationId xmlns:a16="http://schemas.microsoft.com/office/drawing/2014/main" id="{4A349829-FC7F-6255-08FE-43A5C955C442}"/>
              </a:ext>
            </a:extLst>
          </p:cNvPr>
          <p:cNvSpPr>
            <a:spLocks noGrp="1"/>
          </p:cNvSpPr>
          <p:nvPr>
            <p:ph idx="10"/>
          </p:nvPr>
        </p:nvSpPr>
        <p:spPr>
          <a:xfrm>
            <a:off x="480723" y="1147964"/>
            <a:ext cx="11341405" cy="5715561"/>
          </a:xfrm>
        </p:spPr>
        <p:txBody>
          <a:bodyPr vert="horz" lIns="91440" tIns="45720" rIns="91440" bIns="45720" rtlCol="0" anchor="t">
            <a:noAutofit/>
          </a:bodyPr>
          <a:lstStyle/>
          <a:p>
            <a:pPr marL="0" indent="0">
              <a:buNone/>
            </a:pPr>
            <a:r>
              <a:rPr lang="en-US" sz="1200">
                <a:solidFill>
                  <a:srgbClr val="292A2E"/>
                </a:solidFill>
                <a:highlight>
                  <a:srgbClr val="FFFFFF"/>
                </a:highlight>
                <a:ea typeface="+mn-lt"/>
                <a:cs typeface="+mn-lt"/>
              </a:rPr>
              <a:t>The transaction processor is an in-house tool (windows service) that can be used to automatically evaluate and process unity transactions. In the context of streamlined renewals, the transaction processor is expected to perform the following activities:</a:t>
            </a:r>
            <a:endParaRPr lang="en-US" sz="1200">
              <a:solidFill>
                <a:srgbClr val="000000"/>
              </a:solidFill>
              <a:ea typeface="+mn-lt"/>
              <a:cs typeface="+mn-lt"/>
            </a:endParaRPr>
          </a:p>
          <a:p>
            <a:pPr marL="228600" indent="-228600">
              <a:buAutoNum type="arabicPeriod"/>
            </a:pPr>
            <a:r>
              <a:rPr lang="en-US" sz="1200" b="1">
                <a:solidFill>
                  <a:srgbClr val="292A2E"/>
                </a:solidFill>
                <a:highlight>
                  <a:srgbClr val="FFFFFF"/>
                </a:highlight>
                <a:ea typeface="+mn-lt"/>
                <a:cs typeface="+mn-lt"/>
              </a:rPr>
              <a:t>Renewal List Identification:</a:t>
            </a:r>
          </a:p>
          <a:p>
            <a:pPr marL="685800" lvl="1" indent="-228600">
              <a:buFont typeface="Courier New" panose="020B0604020202020204" pitchFamily="34" charset="0"/>
              <a:buChar char="o"/>
            </a:pPr>
            <a:r>
              <a:rPr lang="en-US" sz="1200">
                <a:solidFill>
                  <a:srgbClr val="292A2E"/>
                </a:solidFill>
                <a:highlight>
                  <a:srgbClr val="FFFFFF"/>
                </a:highlight>
                <a:ea typeface="+mn-lt"/>
                <a:cs typeface="+mn-lt"/>
              </a:rPr>
              <a:t>Identify policies eligible for streamlined renewals on a daily basis. This should include policies expiring in 100 days and policies that are expiring sooner than 100 days but have not yet started the renewal transaction. </a:t>
            </a:r>
          </a:p>
          <a:p>
            <a:pPr marL="228600" indent="-228600">
              <a:buAutoNum type="arabicPeriod"/>
            </a:pPr>
            <a:r>
              <a:rPr lang="en-US" sz="1200" b="1">
                <a:solidFill>
                  <a:srgbClr val="292A2E"/>
                </a:solidFill>
                <a:highlight>
                  <a:srgbClr val="FFFFFF"/>
                </a:highlight>
                <a:ea typeface="+mn-lt"/>
                <a:cs typeface="+mn-lt"/>
              </a:rPr>
              <a:t>Renewal Transaction Initiation:</a:t>
            </a:r>
          </a:p>
          <a:p>
            <a:pPr marL="685800" lvl="1" indent="-228600">
              <a:buFont typeface="Courier New" panose="020B0604020202020204" pitchFamily="34" charset="0"/>
              <a:buChar char="o"/>
            </a:pPr>
            <a:r>
              <a:rPr lang="en-US" sz="1200">
                <a:solidFill>
                  <a:srgbClr val="292A2E"/>
                </a:solidFill>
                <a:highlight>
                  <a:srgbClr val="FFFFFF"/>
                </a:highlight>
                <a:ea typeface="+mn-lt"/>
                <a:cs typeface="+mn-lt"/>
              </a:rPr>
              <a:t>Once identified &amp; determined to be eligible for streamlined renewals, start the renewal transaction in Unity for each of the eligible policies. </a:t>
            </a:r>
            <a:r>
              <a:rPr lang="en-US" sz="1200" u="sng">
                <a:solidFill>
                  <a:srgbClr val="292A2E"/>
                </a:solidFill>
                <a:highlight>
                  <a:srgbClr val="FFFFFF"/>
                </a:highlight>
                <a:ea typeface="+mn-lt"/>
                <a:cs typeface="+mn-lt"/>
              </a:rPr>
              <a:t>This will be 1st run</a:t>
            </a:r>
            <a:r>
              <a:rPr lang="en-US" sz="1200">
                <a:solidFill>
                  <a:srgbClr val="292A2E"/>
                </a:solidFill>
                <a:highlight>
                  <a:srgbClr val="FFFFFF"/>
                </a:highlight>
                <a:ea typeface="+mn-lt"/>
                <a:cs typeface="+mn-lt"/>
              </a:rPr>
              <a:t>, that would typically take place at 100 days prior to expiration.</a:t>
            </a:r>
            <a:endParaRPr lang="en-US" sz="1200">
              <a:ea typeface="Calibri"/>
              <a:cs typeface="Calibri"/>
            </a:endParaRPr>
          </a:p>
          <a:p>
            <a:pPr marL="685800" lvl="1" indent="-228600">
              <a:buFont typeface="Courier New" panose="020B0604020202020204" pitchFamily="34" charset="0"/>
              <a:buChar char="o"/>
            </a:pPr>
            <a:r>
              <a:rPr lang="en-US" sz="1200">
                <a:solidFill>
                  <a:srgbClr val="292A2E"/>
                </a:solidFill>
                <a:highlight>
                  <a:srgbClr val="FFFFFF"/>
                </a:highlight>
                <a:ea typeface="+mn-lt"/>
                <a:cs typeface="+mn-lt"/>
              </a:rPr>
              <a:t>While initiating the renewal transaction in Unity, the processor must assume the authority of a Wholesale Agent (or Retail AM) to ensure that appropriate UW referral rules are triggered and applied. </a:t>
            </a:r>
          </a:p>
          <a:p>
            <a:pPr marL="685800" lvl="1" indent="-228600">
              <a:buFont typeface="Courier New" panose="020B0604020202020204" pitchFamily="34" charset="0"/>
              <a:buChar char="o"/>
            </a:pPr>
            <a:r>
              <a:rPr lang="en-US" sz="1200">
                <a:solidFill>
                  <a:srgbClr val="292A2E"/>
                </a:solidFill>
                <a:highlight>
                  <a:srgbClr val="FFFFFF"/>
                </a:highlight>
                <a:ea typeface="+mn-lt"/>
                <a:cs typeface="+mn-lt"/>
              </a:rPr>
              <a:t>Note: The execution of integrations (3rd party &amp; in-house), resetting of fields &amp; factors, UW referral rules, and DFM pricing guidance will be housed in Unity, and not the processor.</a:t>
            </a:r>
          </a:p>
          <a:p>
            <a:pPr marL="228600" indent="-228600">
              <a:buAutoNum type="arabicPeriod"/>
            </a:pPr>
            <a:r>
              <a:rPr lang="en-US" sz="1200" b="1">
                <a:solidFill>
                  <a:srgbClr val="292A2E"/>
                </a:solidFill>
                <a:highlight>
                  <a:srgbClr val="FFFFFF"/>
                </a:highlight>
                <a:ea typeface="+mn-lt"/>
                <a:cs typeface="+mn-lt"/>
              </a:rPr>
              <a:t>Renewal Transaction Processing:</a:t>
            </a:r>
          </a:p>
          <a:p>
            <a:pPr marL="685800" lvl="1">
              <a:buFont typeface="Courier New" panose="020B0604020202020204" pitchFamily="34" charset="0"/>
              <a:buChar char="o"/>
            </a:pPr>
            <a:r>
              <a:rPr lang="en-US" sz="1200">
                <a:solidFill>
                  <a:srgbClr val="292A2E"/>
                </a:solidFill>
                <a:highlight>
                  <a:srgbClr val="FFFFFF"/>
                </a:highlight>
                <a:ea typeface="+mn-lt"/>
                <a:cs typeface="+mn-lt"/>
              </a:rPr>
              <a:t>If the policy passes all UW referral rules and DFM is achievable, then processor criteria for streamlined renewal is satisfied and it will be assigned to Wholesale Agent or Retail AM.</a:t>
            </a:r>
          </a:p>
          <a:p>
            <a:pPr marL="1085850" lvl="2">
              <a:buFont typeface="Wingdings" panose="020B0604020202020204" pitchFamily="34" charset="0"/>
              <a:buChar char="§"/>
            </a:pPr>
            <a:r>
              <a:rPr lang="en-US" sz="1200">
                <a:solidFill>
                  <a:srgbClr val="292A2E"/>
                </a:solidFill>
                <a:highlight>
                  <a:srgbClr val="FFFFFF"/>
                </a:highlight>
                <a:ea typeface="+mn-lt"/>
                <a:cs typeface="+mn-lt"/>
              </a:rPr>
              <a:t>For Wholesale, the policy will be kept in a holding pattern until 61 days from expiry and then assigned to the agent. Prior to assigning, the processor must perform another round of executing integrations, UW referral rules, and pricing guidance. </a:t>
            </a:r>
            <a:r>
              <a:rPr lang="en-US" sz="1200" u="sng">
                <a:solidFill>
                  <a:srgbClr val="292A2E"/>
                </a:solidFill>
                <a:highlight>
                  <a:srgbClr val="FFFFFF"/>
                </a:highlight>
                <a:ea typeface="+mn-lt"/>
                <a:cs typeface="+mn-lt"/>
              </a:rPr>
              <a:t>This will be the 2nd run.</a:t>
            </a:r>
            <a:r>
              <a:rPr lang="en-US" sz="1200">
                <a:solidFill>
                  <a:srgbClr val="292A2E"/>
                </a:solidFill>
                <a:highlight>
                  <a:srgbClr val="FFFFFF"/>
                </a:highlight>
                <a:ea typeface="+mn-lt"/>
                <a:cs typeface="+mn-lt"/>
              </a:rPr>
              <a:t> </a:t>
            </a:r>
          </a:p>
          <a:p>
            <a:pPr marL="1085850" lvl="2">
              <a:buFont typeface="Wingdings" panose="020B0604020202020204" pitchFamily="34" charset="0"/>
              <a:buChar char="§"/>
            </a:pPr>
            <a:r>
              <a:rPr lang="en-US" sz="1200">
                <a:solidFill>
                  <a:srgbClr val="292A2E"/>
                </a:solidFill>
                <a:highlight>
                  <a:srgbClr val="FFFFFF"/>
                </a:highlight>
                <a:ea typeface="Calibri" panose="020F0502020204030204"/>
                <a:cs typeface="Calibri" panose="020F0502020204030204"/>
              </a:rPr>
              <a:t>For Retail, the policy will be immediately assigned to the Retail AM. There is no hold.</a:t>
            </a:r>
          </a:p>
          <a:p>
            <a:pPr marL="685800" lvl="1">
              <a:buFont typeface="Courier New" panose="020B0604020202020204" pitchFamily="34" charset="0"/>
              <a:buChar char="o"/>
            </a:pPr>
            <a:r>
              <a:rPr lang="en-US" sz="1200">
                <a:solidFill>
                  <a:srgbClr val="292A2E"/>
                </a:solidFill>
                <a:highlight>
                  <a:srgbClr val="FFFFFF"/>
                </a:highlight>
                <a:ea typeface="+mn-lt"/>
                <a:cs typeface="+mn-lt"/>
              </a:rPr>
              <a:t>If the policy fails an UW referral rule or DFM is not achievable, then processor criteria for streamlined renewal is not satisfied and it will be assigned to the UW.</a:t>
            </a:r>
          </a:p>
          <a:p>
            <a:pPr marL="1085850" lvl="2">
              <a:buFont typeface="Wingdings" panose="020B0604020202020204" pitchFamily="34" charset="0"/>
              <a:buChar char="§"/>
            </a:pPr>
            <a:r>
              <a:rPr lang="en-US" sz="1200">
                <a:solidFill>
                  <a:srgbClr val="292A2E"/>
                </a:solidFill>
                <a:highlight>
                  <a:srgbClr val="FFFFFF"/>
                </a:highlight>
                <a:ea typeface="+mn-lt"/>
                <a:cs typeface="+mn-lt"/>
              </a:rPr>
              <a:t>The UW will review the policy and determine next steps. If they decide to proceed with offering renewal, they will Approve the policy and assign it back to the processor. Depending on the business segment and the # of days of expiry, Unity/processor will determine whether it should be assigned over to the Agent/AM or kept in a holding pattern.</a:t>
            </a:r>
          </a:p>
          <a:p>
            <a:pPr marL="685800" lvl="1">
              <a:buFont typeface="Courier New" panose="020B0604020202020204" pitchFamily="34" charset="0"/>
              <a:buChar char="o"/>
            </a:pPr>
            <a:r>
              <a:rPr lang="en-US" sz="1200">
                <a:solidFill>
                  <a:srgbClr val="292A2E"/>
                </a:solidFill>
                <a:highlight>
                  <a:srgbClr val="FFFFFF"/>
                </a:highlight>
                <a:ea typeface="+mn-lt"/>
                <a:cs typeface="+mn-lt"/>
              </a:rPr>
              <a:t>Once a policy has been assigned over to the Wholesale Agent or Retail AM, the marks the end of processor's workflow on that policy. Any further processing will be handled by users through a manual process.</a:t>
            </a:r>
          </a:p>
          <a:p>
            <a:pPr marL="228600" indent="-228600">
              <a:buAutoNum type="arabicPeriod"/>
            </a:pPr>
            <a:r>
              <a:rPr lang="en-US" sz="1200" b="1">
                <a:solidFill>
                  <a:srgbClr val="292A2E"/>
                </a:solidFill>
                <a:highlight>
                  <a:srgbClr val="FFFFFF"/>
                </a:highlight>
                <a:ea typeface="+mn-lt"/>
                <a:cs typeface="+mn-lt"/>
              </a:rPr>
              <a:t>Error Handling and Audit Logs:</a:t>
            </a:r>
          </a:p>
          <a:p>
            <a:pPr marL="685800" lvl="1">
              <a:buFont typeface="Courier New" panose="020B0604020202020204" pitchFamily="34" charset="0"/>
              <a:buChar char="o"/>
            </a:pPr>
            <a:r>
              <a:rPr lang="en-US" sz="1200">
                <a:solidFill>
                  <a:srgbClr val="292A2E"/>
                </a:solidFill>
                <a:highlight>
                  <a:srgbClr val="FFFFFF"/>
                </a:highlight>
                <a:ea typeface="+mn-lt"/>
                <a:cs typeface="+mn-lt"/>
              </a:rPr>
              <a:t>Must  be configured to have an error handling workflow to notify the necessary parties in the event of unexpected system failures.</a:t>
            </a:r>
          </a:p>
          <a:p>
            <a:pPr marL="685800" lvl="1">
              <a:buFont typeface="Courier New" panose="020B0604020202020204" pitchFamily="34" charset="0"/>
              <a:buChar char="o"/>
            </a:pPr>
            <a:r>
              <a:rPr lang="en-US" sz="1200">
                <a:solidFill>
                  <a:srgbClr val="292A2E"/>
                </a:solidFill>
                <a:highlight>
                  <a:srgbClr val="FFFFFF"/>
                </a:highlight>
                <a:ea typeface="+mn-lt"/>
                <a:cs typeface="+mn-lt"/>
              </a:rPr>
              <a:t>Must maintain an activity log of the daily renewal list API requests and individual policy processing history.</a:t>
            </a:r>
          </a:p>
          <a:p>
            <a:pPr marL="685800" lvl="1">
              <a:buFont typeface="Courier New" panose="020B0604020202020204" pitchFamily="34" charset="0"/>
              <a:buChar char="o"/>
            </a:pPr>
            <a:endParaRPr lang="en-US" sz="1100">
              <a:solidFill>
                <a:srgbClr val="292A2E"/>
              </a:solidFill>
              <a:highlight>
                <a:srgbClr val="FFFFFF"/>
              </a:highlight>
              <a:ea typeface="+mn-lt"/>
              <a:cs typeface="+mn-lt"/>
            </a:endParaRPr>
          </a:p>
          <a:p>
            <a:pPr marL="685800" lvl="1">
              <a:buFont typeface="Courier New" panose="020B0604020202020204" pitchFamily="34" charset="0"/>
              <a:buChar char="o"/>
            </a:pPr>
            <a:endParaRPr lang="en-US" sz="1100">
              <a:solidFill>
                <a:srgbClr val="292A2E"/>
              </a:solidFill>
              <a:highlight>
                <a:srgbClr val="FFFFFF"/>
              </a:highlight>
              <a:ea typeface="+mn-lt"/>
              <a:cs typeface="+mn-lt"/>
            </a:endParaRPr>
          </a:p>
          <a:p>
            <a:pPr marL="228600" indent="-228600">
              <a:buFont typeface="Arial" panose="020B0604020202020204" pitchFamily="34" charset="0"/>
              <a:buAutoNum type="arabicPeriod"/>
            </a:pPr>
            <a:endParaRPr lang="en-US" sz="1200">
              <a:solidFill>
                <a:srgbClr val="292A2E"/>
              </a:solidFill>
              <a:highlight>
                <a:srgbClr val="FFFFFF"/>
              </a:highlight>
              <a:ea typeface="+mn-lt"/>
              <a:cs typeface="+mn-lt"/>
            </a:endParaRPr>
          </a:p>
          <a:p>
            <a:pPr marL="228600" indent="-228600">
              <a:buFont typeface="Arial" panose="020B0604020202020204" pitchFamily="34" charset="0"/>
              <a:buAutoNum type="arabicPeriod"/>
            </a:pPr>
            <a:endParaRPr lang="en-US" sz="1000">
              <a:solidFill>
                <a:srgbClr val="292A2E"/>
              </a:solidFill>
              <a:highlight>
                <a:srgbClr val="FFFFFF"/>
              </a:highlight>
              <a:ea typeface="+mn-lt"/>
              <a:cs typeface="+mn-lt"/>
            </a:endParaRPr>
          </a:p>
          <a:p>
            <a:pPr marL="685800" lvl="1" indent="-228600">
              <a:buFont typeface="Courier New" panose="020B0604020202020204" pitchFamily="34" charset="0"/>
              <a:buChar char="o"/>
            </a:pPr>
            <a:endParaRPr lang="en-US" sz="700">
              <a:solidFill>
                <a:srgbClr val="292A2E"/>
              </a:solidFill>
              <a:highlight>
                <a:srgbClr val="FFFFFF"/>
              </a:highlight>
              <a:ea typeface="+mn-lt"/>
              <a:cs typeface="+mn-lt"/>
            </a:endParaRPr>
          </a:p>
          <a:p>
            <a:pPr marL="228600" indent="-228600">
              <a:buFont typeface="Arial" panose="020B0604020202020204" pitchFamily="34" charset="0"/>
              <a:buAutoNum type="arabicPeriod"/>
            </a:pPr>
            <a:endParaRPr lang="en-US" sz="1000">
              <a:solidFill>
                <a:srgbClr val="292A2E"/>
              </a:solidFill>
              <a:highlight>
                <a:srgbClr val="FFFFFF"/>
              </a:highlight>
              <a:ea typeface="+mn-lt"/>
              <a:cs typeface="+mn-lt"/>
            </a:endParaRPr>
          </a:p>
        </p:txBody>
      </p:sp>
    </p:spTree>
    <p:extLst>
      <p:ext uri="{BB962C8B-B14F-4D97-AF65-F5344CB8AC3E}">
        <p14:creationId xmlns:p14="http://schemas.microsoft.com/office/powerpoint/2010/main" val="1697088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45A441A-074C-1061-F9DD-BBCD9AF42963}"/>
              </a:ext>
            </a:extLst>
          </p:cNvPr>
          <p:cNvSpPr>
            <a:spLocks noGrp="1"/>
          </p:cNvSpPr>
          <p:nvPr>
            <p:ph type="title"/>
          </p:nvPr>
        </p:nvSpPr>
        <p:spPr/>
        <p:txBody>
          <a:bodyPr>
            <a:normAutofit/>
          </a:bodyPr>
          <a:lstStyle/>
          <a:p>
            <a:r>
              <a:rPr lang="en-US" sz="3200"/>
              <a:t>Renewal List Identification – System Workflow</a:t>
            </a:r>
          </a:p>
        </p:txBody>
      </p:sp>
      <p:sp>
        <p:nvSpPr>
          <p:cNvPr id="12" name="Rectangle: Rounded Corners 11">
            <a:extLst>
              <a:ext uri="{FF2B5EF4-FFF2-40B4-BE49-F238E27FC236}">
                <a16:creationId xmlns:a16="http://schemas.microsoft.com/office/drawing/2014/main" id="{0977C530-0D02-60C6-7EA1-C84336602FE0}"/>
              </a:ext>
            </a:extLst>
          </p:cNvPr>
          <p:cNvSpPr/>
          <p:nvPr/>
        </p:nvSpPr>
        <p:spPr>
          <a:xfrm>
            <a:off x="480723" y="1282045"/>
            <a:ext cx="2271904" cy="6033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Transaction Processor</a:t>
            </a:r>
          </a:p>
        </p:txBody>
      </p:sp>
      <p:sp>
        <p:nvSpPr>
          <p:cNvPr id="13" name="Rectangle: Rounded Corners 12">
            <a:extLst>
              <a:ext uri="{FF2B5EF4-FFF2-40B4-BE49-F238E27FC236}">
                <a16:creationId xmlns:a16="http://schemas.microsoft.com/office/drawing/2014/main" id="{E7B6F9AA-C63B-BE2D-7355-831307253FE3}"/>
              </a:ext>
            </a:extLst>
          </p:cNvPr>
          <p:cNvSpPr/>
          <p:nvPr/>
        </p:nvSpPr>
        <p:spPr>
          <a:xfrm>
            <a:off x="6472800" y="1282045"/>
            <a:ext cx="2276856" cy="60331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Data Insights</a:t>
            </a:r>
          </a:p>
        </p:txBody>
      </p:sp>
      <p:sp>
        <p:nvSpPr>
          <p:cNvPr id="14" name="Rectangle: Rounded Corners 13">
            <a:extLst>
              <a:ext uri="{FF2B5EF4-FFF2-40B4-BE49-F238E27FC236}">
                <a16:creationId xmlns:a16="http://schemas.microsoft.com/office/drawing/2014/main" id="{5E0E6B52-5D29-0240-4654-CC7AEC8E17A7}"/>
              </a:ext>
            </a:extLst>
          </p:cNvPr>
          <p:cNvSpPr/>
          <p:nvPr/>
        </p:nvSpPr>
        <p:spPr>
          <a:xfrm>
            <a:off x="3474285" y="1265528"/>
            <a:ext cx="2276856" cy="603316"/>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Integration Layer</a:t>
            </a:r>
          </a:p>
        </p:txBody>
      </p:sp>
      <p:sp>
        <p:nvSpPr>
          <p:cNvPr id="18" name="Rectangle 17">
            <a:extLst>
              <a:ext uri="{FF2B5EF4-FFF2-40B4-BE49-F238E27FC236}">
                <a16:creationId xmlns:a16="http://schemas.microsoft.com/office/drawing/2014/main" id="{677C760F-788B-8BF4-1219-DCD16C272753}"/>
              </a:ext>
            </a:extLst>
          </p:cNvPr>
          <p:cNvSpPr/>
          <p:nvPr/>
        </p:nvSpPr>
        <p:spPr>
          <a:xfrm>
            <a:off x="475770" y="1991302"/>
            <a:ext cx="2276856" cy="9434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Inputs</a:t>
            </a:r>
          </a:p>
          <a:p>
            <a:pPr algn="ctr"/>
            <a:r>
              <a:rPr lang="en-US" sz="1600"/>
              <a:t>Business Segment</a:t>
            </a:r>
          </a:p>
          <a:p>
            <a:pPr algn="ctr"/>
            <a:r>
              <a:rPr lang="en-US" sz="1600"/>
              <a:t>Today’s Date</a:t>
            </a:r>
          </a:p>
          <a:p>
            <a:pPr algn="ctr"/>
            <a:r>
              <a:rPr lang="en-US" sz="1600"/>
              <a:t># of Days</a:t>
            </a:r>
          </a:p>
        </p:txBody>
      </p:sp>
      <p:sp>
        <p:nvSpPr>
          <p:cNvPr id="20" name="Rectangle 19">
            <a:extLst>
              <a:ext uri="{FF2B5EF4-FFF2-40B4-BE49-F238E27FC236}">
                <a16:creationId xmlns:a16="http://schemas.microsoft.com/office/drawing/2014/main" id="{3AAC1D56-CFDA-1EDA-DCE0-55DAFBBC1306}"/>
              </a:ext>
            </a:extLst>
          </p:cNvPr>
          <p:cNvSpPr/>
          <p:nvPr/>
        </p:nvSpPr>
        <p:spPr>
          <a:xfrm>
            <a:off x="3474285" y="2007152"/>
            <a:ext cx="2276856" cy="58521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Internal API</a:t>
            </a:r>
          </a:p>
        </p:txBody>
      </p:sp>
      <p:sp>
        <p:nvSpPr>
          <p:cNvPr id="21" name="Rectangle 20">
            <a:extLst>
              <a:ext uri="{FF2B5EF4-FFF2-40B4-BE49-F238E27FC236}">
                <a16:creationId xmlns:a16="http://schemas.microsoft.com/office/drawing/2014/main" id="{58F2D43B-3E96-B404-2ED3-F070428ABAE4}"/>
              </a:ext>
            </a:extLst>
          </p:cNvPr>
          <p:cNvSpPr/>
          <p:nvPr/>
        </p:nvSpPr>
        <p:spPr>
          <a:xfrm>
            <a:off x="6472800" y="2013033"/>
            <a:ext cx="2276856" cy="178734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Stored Procedure</a:t>
            </a:r>
          </a:p>
          <a:p>
            <a:pPr algn="ctr"/>
            <a:r>
              <a:rPr lang="en-US" sz="1600"/>
              <a:t>Policies expiring within the specified window</a:t>
            </a:r>
          </a:p>
          <a:p>
            <a:pPr algn="ctr"/>
            <a:r>
              <a:rPr lang="en-US" sz="1600"/>
              <a:t>&amp;</a:t>
            </a:r>
          </a:p>
          <a:p>
            <a:pPr algn="ctr"/>
            <a:r>
              <a:rPr lang="en-US" sz="1600"/>
              <a:t>Policies that are overdue for renewal processing</a:t>
            </a:r>
            <a:endParaRPr lang="en-US" sz="1600" b="1"/>
          </a:p>
        </p:txBody>
      </p:sp>
      <p:sp>
        <p:nvSpPr>
          <p:cNvPr id="22" name="Rectangle 21">
            <a:extLst>
              <a:ext uri="{FF2B5EF4-FFF2-40B4-BE49-F238E27FC236}">
                <a16:creationId xmlns:a16="http://schemas.microsoft.com/office/drawing/2014/main" id="{D125CC41-BE2E-5182-5E12-C29678BE5B02}"/>
              </a:ext>
            </a:extLst>
          </p:cNvPr>
          <p:cNvSpPr/>
          <p:nvPr/>
        </p:nvSpPr>
        <p:spPr>
          <a:xfrm>
            <a:off x="475770" y="3040681"/>
            <a:ext cx="2276856" cy="26466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t>Outputs</a:t>
            </a:r>
          </a:p>
          <a:p>
            <a:pPr algn="ctr"/>
            <a:r>
              <a:rPr lang="en-US" sz="1600"/>
              <a:t>Insured Name</a:t>
            </a:r>
          </a:p>
          <a:p>
            <a:pPr algn="ctr"/>
            <a:r>
              <a:rPr lang="en-US" sz="1600"/>
              <a:t>Policy Number</a:t>
            </a:r>
          </a:p>
          <a:p>
            <a:pPr algn="ctr"/>
            <a:r>
              <a:rPr lang="en-US" sz="1600"/>
              <a:t>Eff Date</a:t>
            </a:r>
          </a:p>
          <a:p>
            <a:pPr algn="ctr"/>
            <a:r>
              <a:rPr lang="en-US" sz="1600"/>
              <a:t>Exp Date</a:t>
            </a:r>
          </a:p>
          <a:p>
            <a:pPr algn="ctr"/>
            <a:r>
              <a:rPr lang="en-US" sz="1600"/>
              <a:t>Primary Rating State</a:t>
            </a:r>
          </a:p>
          <a:p>
            <a:pPr algn="ctr"/>
            <a:r>
              <a:rPr lang="en-US" sz="1600"/>
              <a:t>LOB</a:t>
            </a:r>
          </a:p>
          <a:p>
            <a:pPr algn="ctr"/>
            <a:r>
              <a:rPr lang="en-US" sz="1600"/>
              <a:t>Agency</a:t>
            </a:r>
            <a:endParaRPr lang="en-US" sz="1600">
              <a:ea typeface="Calibri"/>
              <a:cs typeface="Calibri"/>
            </a:endParaRPr>
          </a:p>
          <a:p>
            <a:pPr algn="ctr"/>
            <a:r>
              <a:rPr lang="en-US" sz="1600">
                <a:ea typeface="Calibri"/>
                <a:cs typeface="Calibri"/>
              </a:rPr>
              <a:t>IAT Product</a:t>
            </a:r>
            <a:endParaRPr lang="en-US" sz="1600"/>
          </a:p>
          <a:p>
            <a:pPr algn="ctr"/>
            <a:r>
              <a:rPr lang="en-US" sz="1600">
                <a:ea typeface="Calibri"/>
                <a:cs typeface="Calibri"/>
              </a:rPr>
              <a:t>Business Segment</a:t>
            </a:r>
            <a:endParaRPr lang="en-US" sz="1600"/>
          </a:p>
          <a:p>
            <a:pPr algn="ctr"/>
            <a:r>
              <a:rPr lang="en-US" sz="1600"/>
              <a:t>Policy/Transaction Status</a:t>
            </a:r>
            <a:endParaRPr lang="en-US" sz="1600" b="1"/>
          </a:p>
        </p:txBody>
      </p:sp>
      <p:sp>
        <p:nvSpPr>
          <p:cNvPr id="23" name="Rectangle 22">
            <a:extLst>
              <a:ext uri="{FF2B5EF4-FFF2-40B4-BE49-F238E27FC236}">
                <a16:creationId xmlns:a16="http://schemas.microsoft.com/office/drawing/2014/main" id="{D432BD4A-3EB6-D745-34E3-9E4412F9770D}"/>
              </a:ext>
            </a:extLst>
          </p:cNvPr>
          <p:cNvSpPr/>
          <p:nvPr/>
        </p:nvSpPr>
        <p:spPr>
          <a:xfrm>
            <a:off x="475770" y="5889173"/>
            <a:ext cx="2276856" cy="850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Execute Business Rules</a:t>
            </a:r>
          </a:p>
          <a:p>
            <a:pPr algn="ctr"/>
            <a:r>
              <a:rPr lang="en-US" sz="1600"/>
              <a:t> Process Renewal on Eligible Policies</a:t>
            </a:r>
          </a:p>
        </p:txBody>
      </p:sp>
      <p:sp>
        <p:nvSpPr>
          <p:cNvPr id="40" name="TextBox 39">
            <a:extLst>
              <a:ext uri="{FF2B5EF4-FFF2-40B4-BE49-F238E27FC236}">
                <a16:creationId xmlns:a16="http://schemas.microsoft.com/office/drawing/2014/main" id="{0E63A589-3CAE-63DE-8217-4A5CE1EC8AC9}"/>
              </a:ext>
            </a:extLst>
          </p:cNvPr>
          <p:cNvSpPr txBox="1"/>
          <p:nvPr/>
        </p:nvSpPr>
        <p:spPr>
          <a:xfrm>
            <a:off x="2768457" y="2042930"/>
            <a:ext cx="689997" cy="276999"/>
          </a:xfrm>
          <a:prstGeom prst="rect">
            <a:avLst/>
          </a:prstGeom>
          <a:noFill/>
        </p:spPr>
        <p:txBody>
          <a:bodyPr wrap="none" rtlCol="0">
            <a:spAutoFit/>
          </a:bodyPr>
          <a:lstStyle/>
          <a:p>
            <a:r>
              <a:rPr lang="en-US" sz="1200"/>
              <a:t>Request</a:t>
            </a:r>
          </a:p>
        </p:txBody>
      </p:sp>
      <p:cxnSp>
        <p:nvCxnSpPr>
          <p:cNvPr id="44" name="Connector: Elbow 43">
            <a:extLst>
              <a:ext uri="{FF2B5EF4-FFF2-40B4-BE49-F238E27FC236}">
                <a16:creationId xmlns:a16="http://schemas.microsoft.com/office/drawing/2014/main" id="{D5236274-BB6D-0F26-3D2E-8FD4AADBE307}"/>
              </a:ext>
            </a:extLst>
          </p:cNvPr>
          <p:cNvCxnSpPr>
            <a:cxnSpLocks/>
            <a:stCxn id="20" idx="2"/>
            <a:endCxn id="22" idx="3"/>
          </p:cNvCxnSpPr>
          <p:nvPr/>
        </p:nvCxnSpPr>
        <p:spPr>
          <a:xfrm rot="5400000">
            <a:off x="2796861" y="2548134"/>
            <a:ext cx="1771618" cy="186008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0850415-B849-F645-127A-1591F559B0F3}"/>
              </a:ext>
            </a:extLst>
          </p:cNvPr>
          <p:cNvSpPr txBox="1"/>
          <p:nvPr/>
        </p:nvSpPr>
        <p:spPr>
          <a:xfrm>
            <a:off x="3291119" y="3800375"/>
            <a:ext cx="783099" cy="276999"/>
          </a:xfrm>
          <a:prstGeom prst="rect">
            <a:avLst/>
          </a:prstGeom>
          <a:noFill/>
        </p:spPr>
        <p:txBody>
          <a:bodyPr wrap="none" rtlCol="0">
            <a:spAutoFit/>
          </a:bodyPr>
          <a:lstStyle/>
          <a:p>
            <a:r>
              <a:rPr lang="en-US" sz="1200"/>
              <a:t>Response</a:t>
            </a:r>
            <a:endParaRPr lang="en-US" sz="1600"/>
          </a:p>
        </p:txBody>
      </p:sp>
      <p:sp>
        <p:nvSpPr>
          <p:cNvPr id="77" name="Rectangle: Rounded Corners 76">
            <a:extLst>
              <a:ext uri="{FF2B5EF4-FFF2-40B4-BE49-F238E27FC236}">
                <a16:creationId xmlns:a16="http://schemas.microsoft.com/office/drawing/2014/main" id="{CD5270C6-394E-D230-9F5B-C77FEA64FE7B}"/>
              </a:ext>
            </a:extLst>
          </p:cNvPr>
          <p:cNvSpPr/>
          <p:nvPr/>
        </p:nvSpPr>
        <p:spPr>
          <a:xfrm>
            <a:off x="9545272" y="1282045"/>
            <a:ext cx="2276856" cy="603316"/>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Unity</a:t>
            </a:r>
          </a:p>
        </p:txBody>
      </p:sp>
      <p:sp>
        <p:nvSpPr>
          <p:cNvPr id="90" name="Rectangle 89">
            <a:extLst>
              <a:ext uri="{FF2B5EF4-FFF2-40B4-BE49-F238E27FC236}">
                <a16:creationId xmlns:a16="http://schemas.microsoft.com/office/drawing/2014/main" id="{0A6FE478-A3F1-10D3-EFFB-C6EF270CE476}"/>
              </a:ext>
            </a:extLst>
          </p:cNvPr>
          <p:cNvSpPr/>
          <p:nvPr/>
        </p:nvSpPr>
        <p:spPr>
          <a:xfrm>
            <a:off x="9545272" y="2007152"/>
            <a:ext cx="2276856" cy="1421848"/>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Initiate Renewal Transaction</a:t>
            </a:r>
          </a:p>
          <a:p>
            <a:pPr algn="ctr"/>
            <a:r>
              <a:rPr lang="en-US" sz="1600" b="1"/>
              <a:t>Or</a:t>
            </a:r>
          </a:p>
          <a:p>
            <a:pPr algn="ctr"/>
            <a:r>
              <a:rPr lang="en-US" sz="1600" b="1"/>
              <a:t>Checkout an existing Renewal transaction</a:t>
            </a:r>
          </a:p>
        </p:txBody>
      </p:sp>
      <p:cxnSp>
        <p:nvCxnSpPr>
          <p:cNvPr id="92" name="Connector: Elbow 91">
            <a:extLst>
              <a:ext uri="{FF2B5EF4-FFF2-40B4-BE49-F238E27FC236}">
                <a16:creationId xmlns:a16="http://schemas.microsoft.com/office/drawing/2014/main" id="{80B13331-1FA7-9BE7-72A0-7BABE73984C0}"/>
              </a:ext>
            </a:extLst>
          </p:cNvPr>
          <p:cNvCxnSpPr>
            <a:cxnSpLocks/>
            <a:stCxn id="23" idx="3"/>
            <a:endCxn id="90" idx="2"/>
          </p:cNvCxnSpPr>
          <p:nvPr/>
        </p:nvCxnSpPr>
        <p:spPr>
          <a:xfrm flipV="1">
            <a:off x="2752626" y="3429000"/>
            <a:ext cx="7931074" cy="28856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C3543A9B-04AA-5254-3005-8D3FFA9513AB}"/>
              </a:ext>
            </a:extLst>
          </p:cNvPr>
          <p:cNvCxnSpPr>
            <a:cxnSpLocks/>
            <a:stCxn id="20" idx="3"/>
          </p:cNvCxnSpPr>
          <p:nvPr/>
        </p:nvCxnSpPr>
        <p:spPr>
          <a:xfrm>
            <a:off x="5751141" y="2299760"/>
            <a:ext cx="72165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FD1DD8BC-F4B2-F243-0FD9-D0DC2A7FE080}"/>
              </a:ext>
            </a:extLst>
          </p:cNvPr>
          <p:cNvCxnSpPr>
            <a:cxnSpLocks/>
            <a:endCxn id="20" idx="1"/>
          </p:cNvCxnSpPr>
          <p:nvPr/>
        </p:nvCxnSpPr>
        <p:spPr>
          <a:xfrm>
            <a:off x="2784288" y="2299760"/>
            <a:ext cx="6899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516CB546-D751-A900-C8EB-D142FA66F440}"/>
              </a:ext>
            </a:extLst>
          </p:cNvPr>
          <p:cNvCxnSpPr>
            <a:cxnSpLocks/>
            <a:stCxn id="22" idx="2"/>
            <a:endCxn id="23" idx="0"/>
          </p:cNvCxnSpPr>
          <p:nvPr/>
        </p:nvCxnSpPr>
        <p:spPr>
          <a:xfrm>
            <a:off x="1614198" y="5687290"/>
            <a:ext cx="0" cy="201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296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49757B8-B81F-C4B0-CE2F-55F0EF8FAB14}"/>
              </a:ext>
            </a:extLst>
          </p:cNvPr>
          <p:cNvSpPr>
            <a:spLocks noGrp="1"/>
          </p:cNvSpPr>
          <p:nvPr>
            <p:ph type="title"/>
          </p:nvPr>
        </p:nvSpPr>
        <p:spPr/>
        <p:txBody>
          <a:bodyPr>
            <a:normAutofit/>
          </a:bodyPr>
          <a:lstStyle/>
          <a:p>
            <a:r>
              <a:rPr lang="en-US" sz="3200"/>
              <a:t>Renewal List Identification – Business Requirements</a:t>
            </a:r>
          </a:p>
        </p:txBody>
      </p:sp>
      <p:sp>
        <p:nvSpPr>
          <p:cNvPr id="8" name="Content Placeholder 7">
            <a:extLst>
              <a:ext uri="{FF2B5EF4-FFF2-40B4-BE49-F238E27FC236}">
                <a16:creationId xmlns:a16="http://schemas.microsoft.com/office/drawing/2014/main" id="{077043D7-AABA-5231-719C-14AE440FBBA0}"/>
              </a:ext>
            </a:extLst>
          </p:cNvPr>
          <p:cNvSpPr>
            <a:spLocks noGrp="1"/>
          </p:cNvSpPr>
          <p:nvPr>
            <p:ph idx="10"/>
          </p:nvPr>
        </p:nvSpPr>
        <p:spPr>
          <a:xfrm>
            <a:off x="480723" y="1160254"/>
            <a:ext cx="11341405" cy="5580368"/>
          </a:xfrm>
        </p:spPr>
        <p:txBody>
          <a:bodyPr vert="horz" lIns="91440" tIns="45720" rIns="91440" bIns="45720" rtlCol="0" anchor="t">
            <a:noAutofit/>
          </a:bodyPr>
          <a:lstStyle/>
          <a:p>
            <a:pPr>
              <a:buAutoNum type="arabicPeriod"/>
            </a:pPr>
            <a:r>
              <a:rPr lang="en-US" sz="1300"/>
              <a:t>Daily, transaction processor will pass the following inputs through an internal API request:</a:t>
            </a:r>
            <a:endParaRPr lang="en-US" sz="1300">
              <a:ea typeface="Calibri"/>
              <a:cs typeface="Calibri"/>
            </a:endParaRPr>
          </a:p>
          <a:p>
            <a:pPr lvl="1"/>
            <a:r>
              <a:rPr lang="en-US" sz="1300">
                <a:ea typeface="Calibri"/>
                <a:cs typeface="Calibri"/>
              </a:rPr>
              <a:t>Business segment - GA truck, Retail truck</a:t>
            </a:r>
          </a:p>
          <a:p>
            <a:pPr lvl="1"/>
            <a:r>
              <a:rPr lang="en-US" sz="1300">
                <a:ea typeface="Calibri"/>
                <a:cs typeface="Calibri"/>
              </a:rPr>
              <a:t>Today's date – current system date</a:t>
            </a:r>
          </a:p>
          <a:p>
            <a:pPr lvl="1"/>
            <a:r>
              <a:rPr lang="en-US" sz="1300">
                <a:ea typeface="Calibri"/>
                <a:cs typeface="Calibri"/>
              </a:rPr>
              <a:t># of days – 100 (for 1st run) or 61 (for 2nd run)</a:t>
            </a:r>
          </a:p>
          <a:p>
            <a:pPr>
              <a:buAutoNum type="arabicPeriod"/>
            </a:pPr>
            <a:r>
              <a:rPr lang="en-US" sz="1300">
                <a:ea typeface="Calibri"/>
                <a:cs typeface="Calibri"/>
              </a:rPr>
              <a:t>Internal API will interact with data insights to fetch data sets based on the inputs passed above:</a:t>
            </a:r>
          </a:p>
          <a:p>
            <a:pPr lvl="1"/>
            <a:r>
              <a:rPr lang="en-US" sz="1300">
                <a:ea typeface="Calibri"/>
                <a:cs typeface="Calibri"/>
              </a:rPr>
              <a:t>Result set 1 – GA truck and Retail truck policies expiring in 100 days, based on current system date (Excluding policies in the following policy/transaction status : cancel pending, cancelled, expired, non-renewed)</a:t>
            </a:r>
          </a:p>
          <a:p>
            <a:pPr lvl="1"/>
            <a:r>
              <a:rPr lang="en-US" sz="1300">
                <a:ea typeface="Calibri"/>
                <a:cs typeface="Calibri"/>
              </a:rPr>
              <a:t>Result set 2 - GA truck and Retail truck policies that are expiring in less than 100 days (based on current system date), but do not have a renewal transaction started (Excluding policies in the following policy/transaction status : cancel pending, cancelled, expired, non-renewed)</a:t>
            </a:r>
          </a:p>
          <a:p>
            <a:pPr>
              <a:buAutoNum type="arabicPeriod"/>
            </a:pPr>
            <a:r>
              <a:rPr lang="en-US" sz="1300">
                <a:ea typeface="Calibri"/>
                <a:cs typeface="Calibri"/>
              </a:rPr>
              <a:t>The data sets must include the following attributes for each policy, which will be passed back to the transaction processor through the internal API response: </a:t>
            </a:r>
          </a:p>
          <a:p>
            <a:pPr lvl="1"/>
            <a:r>
              <a:rPr lang="en-US" sz="1300">
                <a:ea typeface="Calibri"/>
                <a:cs typeface="Calibri"/>
              </a:rPr>
              <a:t>Insured name</a:t>
            </a:r>
          </a:p>
          <a:p>
            <a:pPr lvl="1">
              <a:lnSpc>
                <a:spcPct val="70000"/>
              </a:lnSpc>
            </a:pPr>
            <a:r>
              <a:rPr lang="en-US" sz="1300">
                <a:ea typeface="Calibri"/>
                <a:cs typeface="Calibri"/>
              </a:rPr>
              <a:t>Policy number</a:t>
            </a:r>
          </a:p>
          <a:p>
            <a:pPr lvl="1">
              <a:lnSpc>
                <a:spcPct val="70000"/>
              </a:lnSpc>
            </a:pPr>
            <a:r>
              <a:rPr lang="en-US" sz="1300">
                <a:ea typeface="Calibri"/>
                <a:cs typeface="Calibri"/>
              </a:rPr>
              <a:t>Eff date</a:t>
            </a:r>
          </a:p>
          <a:p>
            <a:pPr lvl="1">
              <a:lnSpc>
                <a:spcPct val="70000"/>
              </a:lnSpc>
            </a:pPr>
            <a:r>
              <a:rPr lang="en-US" sz="1300">
                <a:ea typeface="Calibri"/>
                <a:cs typeface="Calibri"/>
              </a:rPr>
              <a:t>Exp date</a:t>
            </a:r>
          </a:p>
          <a:p>
            <a:pPr lvl="1">
              <a:lnSpc>
                <a:spcPct val="70000"/>
              </a:lnSpc>
            </a:pPr>
            <a:r>
              <a:rPr lang="en-US" sz="1300">
                <a:ea typeface="Calibri"/>
                <a:cs typeface="Calibri"/>
              </a:rPr>
              <a:t>Primary rating state</a:t>
            </a:r>
          </a:p>
          <a:p>
            <a:pPr lvl="1">
              <a:lnSpc>
                <a:spcPct val="70000"/>
              </a:lnSpc>
            </a:pPr>
            <a:r>
              <a:rPr lang="en-US" sz="1300">
                <a:ea typeface="Calibri"/>
                <a:cs typeface="Calibri"/>
              </a:rPr>
              <a:t>LOB</a:t>
            </a:r>
          </a:p>
          <a:p>
            <a:pPr lvl="1">
              <a:lnSpc>
                <a:spcPct val="70000"/>
              </a:lnSpc>
            </a:pPr>
            <a:r>
              <a:rPr lang="en-US" sz="1300">
                <a:ea typeface="Calibri"/>
                <a:cs typeface="Calibri"/>
              </a:rPr>
              <a:t>Agency</a:t>
            </a:r>
          </a:p>
          <a:p>
            <a:pPr lvl="1">
              <a:lnSpc>
                <a:spcPct val="70000"/>
              </a:lnSpc>
            </a:pPr>
            <a:r>
              <a:rPr lang="en-US" sz="1300">
                <a:ea typeface="Calibri"/>
                <a:cs typeface="Calibri"/>
              </a:rPr>
              <a:t>IAT product</a:t>
            </a:r>
          </a:p>
          <a:p>
            <a:pPr lvl="1">
              <a:lnSpc>
                <a:spcPct val="70000"/>
              </a:lnSpc>
            </a:pPr>
            <a:r>
              <a:rPr lang="en-US" sz="1300">
                <a:ea typeface="Calibri"/>
                <a:cs typeface="Calibri"/>
              </a:rPr>
              <a:t>Business segment</a:t>
            </a:r>
          </a:p>
          <a:p>
            <a:pPr lvl="1">
              <a:lnSpc>
                <a:spcPct val="70000"/>
              </a:lnSpc>
            </a:pPr>
            <a:r>
              <a:rPr lang="en-US" sz="1300">
                <a:ea typeface="Calibri"/>
                <a:cs typeface="Calibri"/>
              </a:rPr>
              <a:t>Policy status</a:t>
            </a:r>
          </a:p>
          <a:p>
            <a:pPr lvl="1">
              <a:lnSpc>
                <a:spcPct val="70000"/>
              </a:lnSpc>
            </a:pPr>
            <a:r>
              <a:rPr lang="en-US" sz="1300">
                <a:ea typeface="Calibri"/>
                <a:cs typeface="Calibri"/>
              </a:rPr>
              <a:t>Transaction status</a:t>
            </a:r>
          </a:p>
          <a:p>
            <a:pPr>
              <a:buAutoNum type="arabicPeriod"/>
            </a:pPr>
            <a:r>
              <a:rPr lang="en-US" sz="1300"/>
              <a:t>Transaction processor will execute the following business rule on the data sets to determine streamline renewal eligibility:</a:t>
            </a:r>
            <a:endParaRPr lang="en-US" sz="1300">
              <a:ea typeface="Calibri"/>
              <a:cs typeface="Calibri"/>
            </a:endParaRPr>
          </a:p>
          <a:p>
            <a:pPr lvl="1"/>
            <a:r>
              <a:rPr lang="en-US" sz="1300"/>
              <a:t>If </a:t>
            </a:r>
            <a:r>
              <a:rPr lang="en-US" sz="1300">
                <a:ea typeface="Calibri"/>
                <a:cs typeface="Calibri"/>
              </a:rPr>
              <a:t>IAT product = Harco truck or NTL or Old GL policies (GA Truck HNIC, etc.) , then consider the policy ineligible (Phase 1)</a:t>
            </a:r>
          </a:p>
        </p:txBody>
      </p:sp>
    </p:spTree>
    <p:extLst>
      <p:ext uri="{BB962C8B-B14F-4D97-AF65-F5344CB8AC3E}">
        <p14:creationId xmlns:p14="http://schemas.microsoft.com/office/powerpoint/2010/main" val="330213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3B03-F05B-4BA6-A8E4-F06F65942EE7}"/>
              </a:ext>
            </a:extLst>
          </p:cNvPr>
          <p:cNvSpPr>
            <a:spLocks noGrp="1"/>
          </p:cNvSpPr>
          <p:nvPr>
            <p:ph type="title"/>
          </p:nvPr>
        </p:nvSpPr>
        <p:spPr/>
        <p:txBody>
          <a:bodyPr>
            <a:normAutofit/>
          </a:bodyPr>
          <a:lstStyle/>
          <a:p>
            <a:r>
              <a:rPr lang="en-US" sz="3200"/>
              <a:t>Automated Renewal UW Rules - Hierarchy</a:t>
            </a:r>
            <a:endParaRPr lang="en-US" sz="3200">
              <a:ea typeface="Calibri"/>
              <a:cs typeface="Calibri"/>
            </a:endParaRPr>
          </a:p>
        </p:txBody>
      </p:sp>
      <p:graphicFrame>
        <p:nvGraphicFramePr>
          <p:cNvPr id="3" name="Diagram 2">
            <a:extLst>
              <a:ext uri="{FF2B5EF4-FFF2-40B4-BE49-F238E27FC236}">
                <a16:creationId xmlns:a16="http://schemas.microsoft.com/office/drawing/2014/main" id="{4A6795F1-3413-B503-6648-D7716111EFE2}"/>
              </a:ext>
            </a:extLst>
          </p:cNvPr>
          <p:cNvGraphicFramePr/>
          <p:nvPr/>
        </p:nvGraphicFramePr>
        <p:xfrm>
          <a:off x="480724" y="1160253"/>
          <a:ext cx="11230554" cy="5259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3902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3F32-8C29-8758-0753-0D4FA2EF70DF}"/>
              </a:ext>
            </a:extLst>
          </p:cNvPr>
          <p:cNvSpPr>
            <a:spLocks noGrp="1"/>
          </p:cNvSpPr>
          <p:nvPr>
            <p:ph type="title"/>
          </p:nvPr>
        </p:nvSpPr>
        <p:spPr>
          <a:xfrm>
            <a:off x="480723" y="293208"/>
            <a:ext cx="11341405" cy="867046"/>
          </a:xfrm>
        </p:spPr>
        <p:txBody>
          <a:bodyPr anchor="ctr">
            <a:normAutofit fontScale="90000"/>
          </a:bodyPr>
          <a:lstStyle/>
          <a:p>
            <a:r>
              <a:rPr lang="en-US"/>
              <a:t>Automated Renewal UW Rules – How Referral Behavior Changes</a:t>
            </a:r>
          </a:p>
        </p:txBody>
      </p:sp>
      <p:graphicFrame>
        <p:nvGraphicFramePr>
          <p:cNvPr id="5" name="Content Placeholder 2">
            <a:extLst>
              <a:ext uri="{FF2B5EF4-FFF2-40B4-BE49-F238E27FC236}">
                <a16:creationId xmlns:a16="http://schemas.microsoft.com/office/drawing/2014/main" id="{C1EDF4CD-75E0-E04D-49B5-AA5EE4FB11DE}"/>
              </a:ext>
            </a:extLst>
          </p:cNvPr>
          <p:cNvGraphicFramePr>
            <a:graphicFrameLocks noGrp="1"/>
          </p:cNvGraphicFramePr>
          <p:nvPr>
            <p:ph idx="1"/>
          </p:nvPr>
        </p:nvGraphicFramePr>
        <p:xfrm>
          <a:off x="480723" y="1160255"/>
          <a:ext cx="11341405" cy="5404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182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6C918-6771-1DE6-A968-118AABD3024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F4336A0-064D-74F7-CA97-6D6CDF1B559E}"/>
              </a:ext>
            </a:extLst>
          </p:cNvPr>
          <p:cNvSpPr>
            <a:spLocks noGrp="1"/>
          </p:cNvSpPr>
          <p:nvPr>
            <p:ph type="title"/>
          </p:nvPr>
        </p:nvSpPr>
        <p:spPr/>
        <p:txBody>
          <a:bodyPr>
            <a:normAutofit/>
          </a:bodyPr>
          <a:lstStyle/>
          <a:p>
            <a:r>
              <a:rPr lang="en-US" sz="3200"/>
              <a:t>Automated Renewal UW Rules - Business Requirements</a:t>
            </a:r>
          </a:p>
        </p:txBody>
      </p:sp>
      <p:sp>
        <p:nvSpPr>
          <p:cNvPr id="8" name="Content Placeholder 7">
            <a:extLst>
              <a:ext uri="{FF2B5EF4-FFF2-40B4-BE49-F238E27FC236}">
                <a16:creationId xmlns:a16="http://schemas.microsoft.com/office/drawing/2014/main" id="{55D009A7-E351-EFE4-56E8-914D62359089}"/>
              </a:ext>
            </a:extLst>
          </p:cNvPr>
          <p:cNvSpPr>
            <a:spLocks noGrp="1"/>
          </p:cNvSpPr>
          <p:nvPr>
            <p:ph idx="10"/>
          </p:nvPr>
        </p:nvSpPr>
        <p:spPr/>
        <p:txBody>
          <a:bodyPr vert="horz" lIns="91440" tIns="45720" rIns="91440" bIns="45720" rtlCol="0" anchor="t">
            <a:normAutofit/>
          </a:bodyPr>
          <a:lstStyle/>
          <a:p>
            <a:r>
              <a:rPr lang="en-US"/>
              <a:t>Referral Rules classified as an AUW rule must re-refer each year. </a:t>
            </a:r>
          </a:p>
          <a:p>
            <a:pPr lvl="1"/>
            <a:r>
              <a:rPr lang="en-US"/>
              <a:t>The UW approval must be valid for that specific policy term in which the rule was triggered and approved. If the condition is met, it must always re-trigger on the next term.</a:t>
            </a:r>
            <a:endParaRPr lang="en-US">
              <a:ea typeface="Calibri"/>
              <a:cs typeface="Calibri"/>
            </a:endParaRPr>
          </a:p>
          <a:p>
            <a:r>
              <a:rPr lang="en-US">
                <a:ea typeface="Calibri"/>
                <a:cs typeface="Calibri"/>
              </a:rPr>
              <a:t>List of AUW Rules:</a:t>
            </a:r>
          </a:p>
          <a:p>
            <a:pPr lvl="1"/>
            <a:r>
              <a:rPr lang="en-US">
                <a:ea typeface="Calibri"/>
                <a:cs typeface="Calibri"/>
              </a:rPr>
              <a:t>Initial rules list - </a:t>
            </a:r>
            <a:r>
              <a:rPr lang="en-US">
                <a:ea typeface="Calibri"/>
                <a:cs typeface="Calibri"/>
                <a:hlinkClick r:id="rId2"/>
              </a:rPr>
              <a:t>Automated UW Rules Draft v2025 12 04.xlsx</a:t>
            </a:r>
            <a:endParaRPr lang="en-US">
              <a:ea typeface="Calibri"/>
              <a:cs typeface="Calibri"/>
            </a:endParaRPr>
          </a:p>
          <a:p>
            <a:pPr lvl="1"/>
            <a:r>
              <a:rPr lang="en-US"/>
              <a:t>AUW rules to be added (that do not exist in the above sheet):</a:t>
            </a:r>
            <a:endParaRPr lang="en-US">
              <a:ea typeface="Calibri" panose="020F0502020204030204"/>
              <a:cs typeface="Calibri" panose="020F0502020204030204"/>
            </a:endParaRPr>
          </a:p>
          <a:p>
            <a:pPr lvl="2">
              <a:buFont typeface="Wingdings" panose="020B0604020202020204" pitchFamily="34" charset="0"/>
              <a:buChar char="§"/>
            </a:pPr>
            <a:r>
              <a:rPr lang="en-US"/>
              <a:t>If Drivers have 73+ years of age, then refer</a:t>
            </a:r>
            <a:endParaRPr lang="en-US">
              <a:ea typeface="Calibri"/>
              <a:cs typeface="Calibri"/>
            </a:endParaRPr>
          </a:p>
          <a:p>
            <a:pPr lvl="2">
              <a:buFont typeface="Wingdings" panose="020B0604020202020204" pitchFamily="34" charset="0"/>
              <a:buChar char="§"/>
            </a:pPr>
            <a:r>
              <a:rPr lang="en-US">
                <a:ea typeface="Calibri"/>
                <a:cs typeface="Calibri"/>
              </a:rPr>
              <a:t>If Deregulation/Rule 15 is used on prior term, then refer</a:t>
            </a:r>
          </a:p>
          <a:p>
            <a:pPr lvl="2">
              <a:buFont typeface="Wingdings" panose="020B0604020202020204" pitchFamily="34" charset="0"/>
              <a:buChar char="§"/>
            </a:pPr>
            <a:r>
              <a:rPr lang="en-US">
                <a:ea typeface="Calibri"/>
                <a:cs typeface="Calibri"/>
              </a:rPr>
              <a:t>If PRS = CA and effective date &lt; 6/1/2027, then refer</a:t>
            </a:r>
            <a:endParaRPr lang="en-US" sz="1800">
              <a:ea typeface="Calibri"/>
              <a:cs typeface="Calibri"/>
            </a:endParaRPr>
          </a:p>
          <a:p>
            <a:pPr lvl="2"/>
            <a:r>
              <a:rPr lang="en-US">
                <a:ea typeface="Calibri" panose="020F0502020204030204"/>
                <a:cs typeface="Calibri" panose="020F0502020204030204"/>
              </a:rPr>
              <a:t>If Policy is expiring in less than 60 days (based on the current system date), then refer</a:t>
            </a:r>
          </a:p>
          <a:p>
            <a:r>
              <a:rPr lang="en-US">
                <a:ea typeface="Calibri" panose="020F0502020204030204"/>
                <a:cs typeface="Calibri" panose="020F0502020204030204"/>
              </a:rPr>
              <a:t>The associated rating or referral messages for the failed rules must be displayed in Unity and passed on to </a:t>
            </a:r>
            <a:r>
              <a:rPr lang="en-US" err="1">
                <a:ea typeface="Calibri" panose="020F0502020204030204"/>
                <a:cs typeface="Calibri" panose="020F0502020204030204"/>
              </a:rPr>
              <a:t>Workview</a:t>
            </a:r>
            <a:r>
              <a:rPr lang="en-US">
                <a:ea typeface="Calibri" panose="020F0502020204030204"/>
                <a:cs typeface="Calibri" panose="020F0502020204030204"/>
              </a:rPr>
              <a:t> (to be displayed in the task).</a:t>
            </a:r>
          </a:p>
          <a:p>
            <a:endParaRPr lang="en-US"/>
          </a:p>
          <a:p>
            <a:pPr marL="457200" lvl="1" indent="0">
              <a:buNone/>
            </a:pPr>
            <a:endParaRPr lang="en-US"/>
          </a:p>
          <a:p>
            <a:endParaRPr lang="en-US"/>
          </a:p>
          <a:p>
            <a:endParaRPr lang="en-US"/>
          </a:p>
          <a:p>
            <a:endParaRPr lang="en-US"/>
          </a:p>
          <a:p>
            <a:endParaRPr lang="en-US"/>
          </a:p>
        </p:txBody>
      </p:sp>
    </p:spTree>
    <p:extLst>
      <p:ext uri="{BB962C8B-B14F-4D97-AF65-F5344CB8AC3E}">
        <p14:creationId xmlns:p14="http://schemas.microsoft.com/office/powerpoint/2010/main" val="3649617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34D46-1142-3941-C813-7BB1EA933B6C}"/>
              </a:ext>
            </a:extLst>
          </p:cNvPr>
          <p:cNvSpPr>
            <a:spLocks noGrp="1"/>
          </p:cNvSpPr>
          <p:nvPr>
            <p:ph type="title"/>
          </p:nvPr>
        </p:nvSpPr>
        <p:spPr/>
        <p:txBody>
          <a:bodyPr>
            <a:normAutofit/>
          </a:bodyPr>
          <a:lstStyle/>
          <a:p>
            <a:r>
              <a:rPr lang="en-US" sz="3200"/>
              <a:t>Pricing Guidance (DFM) - System Workflow</a:t>
            </a:r>
            <a:endParaRPr lang="en-US" sz="3200">
              <a:ea typeface="Calibri"/>
              <a:cs typeface="Calibri"/>
            </a:endParaRPr>
          </a:p>
        </p:txBody>
      </p:sp>
      <p:sp>
        <p:nvSpPr>
          <p:cNvPr id="8" name="Content Placeholder 7">
            <a:extLst>
              <a:ext uri="{FF2B5EF4-FFF2-40B4-BE49-F238E27FC236}">
                <a16:creationId xmlns:a16="http://schemas.microsoft.com/office/drawing/2014/main" id="{37C78A8E-A33F-E8F4-2106-2E4F10782D20}"/>
              </a:ext>
            </a:extLst>
          </p:cNvPr>
          <p:cNvSpPr>
            <a:spLocks noGrp="1"/>
          </p:cNvSpPr>
          <p:nvPr>
            <p:ph idx="10"/>
          </p:nvPr>
        </p:nvSpPr>
        <p:spPr>
          <a:xfrm>
            <a:off x="3242822" y="1160254"/>
            <a:ext cx="8579310" cy="5523350"/>
          </a:xfrm>
        </p:spPr>
        <p:txBody>
          <a:bodyPr vert="horz" lIns="91440" tIns="45720" rIns="91440" bIns="45720" rtlCol="0" anchor="t">
            <a:normAutofit fontScale="55000" lnSpcReduction="20000"/>
          </a:bodyPr>
          <a:lstStyle/>
          <a:p>
            <a:pPr marL="0" indent="0">
              <a:lnSpc>
                <a:spcPct val="110000"/>
              </a:lnSpc>
              <a:buNone/>
            </a:pPr>
            <a:r>
              <a:rPr lang="en-US" sz="3400" b="1">
                <a:solidFill>
                  <a:srgbClr val="0070C0"/>
                </a:solidFill>
              </a:rPr>
              <a:t>System Workflow:</a:t>
            </a:r>
          </a:p>
          <a:p>
            <a:pPr marL="457200" indent="-457200">
              <a:buFont typeface="+mj-lt"/>
              <a:buAutoNum type="arabicPeriod"/>
            </a:pPr>
            <a:r>
              <a:rPr lang="en-US" sz="2500"/>
              <a:t>Lookup DFM Table to fetch the Target DFM and Min &amp; Max Rate Change for the defined Policy Eff Date, State and Segment</a:t>
            </a:r>
            <a:endParaRPr lang="en-US" sz="2500">
              <a:ea typeface="Calibri"/>
              <a:cs typeface="Calibri"/>
            </a:endParaRPr>
          </a:p>
          <a:p>
            <a:pPr marL="457200" indent="-457200">
              <a:buFont typeface="+mj-lt"/>
              <a:buAutoNum type="arabicPeriod"/>
            </a:pPr>
            <a:r>
              <a:rPr lang="en-US" sz="2500"/>
              <a:t>Simulate the application of scheduled mod based on Target DFM, to each LOB</a:t>
            </a:r>
            <a:endParaRPr lang="en-US" sz="2500">
              <a:ea typeface="Calibri"/>
              <a:cs typeface="Calibri"/>
            </a:endParaRPr>
          </a:p>
          <a:p>
            <a:pPr marL="457200" indent="-457200">
              <a:buFont typeface="+mj-lt"/>
              <a:buAutoNum type="arabicPeriod"/>
            </a:pPr>
            <a:r>
              <a:rPr lang="en-US" sz="2500"/>
              <a:t>Compare total policy rate change% with the min and max value defined for that state and RSS combination</a:t>
            </a:r>
            <a:endParaRPr lang="en-US" sz="2500">
              <a:ea typeface="Calibri"/>
              <a:cs typeface="Calibri"/>
            </a:endParaRPr>
          </a:p>
          <a:p>
            <a:pPr lvl="1"/>
            <a:r>
              <a:rPr lang="en-US" sz="2200"/>
              <a:t>If rate change% lies between the min% and max%, rate adjustment factor must be set to 1.000</a:t>
            </a:r>
            <a:endParaRPr lang="en-US" sz="2200">
              <a:ea typeface="Calibri"/>
              <a:cs typeface="Calibri"/>
            </a:endParaRPr>
          </a:p>
          <a:p>
            <a:pPr lvl="1"/>
            <a:r>
              <a:rPr lang="en-US" sz="2200"/>
              <a:t>If rate change% is less than min%, then adjustment factor = (1+ min%)/(1+rate change%)</a:t>
            </a:r>
            <a:endParaRPr lang="en-US" sz="2200">
              <a:ea typeface="Calibri"/>
              <a:cs typeface="Calibri"/>
            </a:endParaRPr>
          </a:p>
          <a:p>
            <a:pPr lvl="1"/>
            <a:r>
              <a:rPr lang="en-US" sz="2200"/>
              <a:t>If rate change% is greater than max%, then adjustment factor = (1+ max%)/(1+rate change%)</a:t>
            </a:r>
            <a:endParaRPr lang="en-US" sz="2200">
              <a:ea typeface="Calibri"/>
              <a:cs typeface="Calibri"/>
            </a:endParaRPr>
          </a:p>
          <a:p>
            <a:pPr marL="457200" indent="-457200">
              <a:buFont typeface="+mj-lt"/>
              <a:buAutoNum type="arabicPeriod"/>
            </a:pPr>
            <a:r>
              <a:rPr lang="en-US" sz="2500"/>
              <a:t>Apply the determined rate adjustment factor to the previously determined scheduled mod, for each LOB</a:t>
            </a:r>
            <a:endParaRPr lang="en-US" sz="2500">
              <a:ea typeface="Calibri"/>
              <a:cs typeface="Calibri"/>
            </a:endParaRPr>
          </a:p>
          <a:p>
            <a:pPr marL="457200" indent="-457200">
              <a:buFont typeface="+mj-lt"/>
              <a:buAutoNum type="arabicPeriod"/>
            </a:pPr>
            <a:r>
              <a:rPr lang="en-US" sz="2500"/>
              <a:t>Repeat Step#2, until rate change% lies between min% and max%</a:t>
            </a:r>
            <a:endParaRPr lang="en-US" sz="2500">
              <a:ea typeface="Calibri"/>
              <a:cs typeface="Calibri"/>
            </a:endParaRPr>
          </a:p>
          <a:p>
            <a:pPr marL="457200" indent="-457200">
              <a:buFont typeface="+mj-lt"/>
              <a:buAutoNum type="arabicPeriod"/>
            </a:pPr>
            <a:r>
              <a:rPr lang="en-US" sz="2500"/>
              <a:t>Compare the final scheduled mod with agent authority grid</a:t>
            </a:r>
            <a:endParaRPr lang="en-US" sz="2500">
              <a:ea typeface="Calibri"/>
              <a:cs typeface="Calibri"/>
            </a:endParaRPr>
          </a:p>
          <a:p>
            <a:pPr lvl="1"/>
            <a:r>
              <a:rPr lang="en-US" sz="2200"/>
              <a:t>If within agent authority and state limits, then DFM is achievable and hand over to Agent/AM with recommendation</a:t>
            </a:r>
            <a:endParaRPr lang="en-US" sz="2200">
              <a:ea typeface="Calibri"/>
              <a:cs typeface="Calibri"/>
            </a:endParaRPr>
          </a:p>
          <a:p>
            <a:pPr lvl="1"/>
            <a:r>
              <a:rPr lang="en-US" sz="2200"/>
              <a:t>If beyond agent authority or state limits, then DFM is not achievable and hand over to UW.</a:t>
            </a:r>
            <a:endParaRPr lang="en-US" sz="2200">
              <a:ea typeface="+mn-lt"/>
              <a:cs typeface="+mn-lt"/>
            </a:endParaRPr>
          </a:p>
          <a:p>
            <a:pPr>
              <a:buAutoNum type="arabicPeriod"/>
            </a:pPr>
            <a:r>
              <a:rPr lang="en-US" sz="2500">
                <a:ea typeface="+mn-lt"/>
                <a:cs typeface="+mn-lt"/>
              </a:rPr>
              <a:t>If DFM is not achievable, UW may take it down the DFM approval path</a:t>
            </a:r>
            <a:endParaRPr lang="en-US" sz="2500">
              <a:ea typeface="Calibri"/>
              <a:cs typeface="Calibri"/>
            </a:endParaRPr>
          </a:p>
          <a:p>
            <a:pPr lvl="1"/>
            <a:r>
              <a:rPr lang="en-US" sz="2200">
                <a:ea typeface="+mn-lt"/>
                <a:cs typeface="+mn-lt"/>
              </a:rPr>
              <a:t>With the proper approvals, UW decides to set a lower DFM than recommended. This will be acknowledged through a checkbox and field to enter the Revised DFM. </a:t>
            </a:r>
          </a:p>
          <a:p>
            <a:pPr lvl="1"/>
            <a:r>
              <a:rPr lang="en-US" sz="2200">
                <a:ea typeface="+mn-lt"/>
                <a:cs typeface="+mn-lt"/>
              </a:rPr>
              <a:t>UW can also use deregulation or Rule 15, if the recommended DFM must be achieved.</a:t>
            </a:r>
          </a:p>
          <a:p>
            <a:pPr>
              <a:buAutoNum type="arabicPeriod"/>
            </a:pPr>
            <a:r>
              <a:rPr lang="en-US" sz="2500">
                <a:ea typeface="+mn-lt"/>
                <a:cs typeface="+mn-lt"/>
              </a:rPr>
              <a:t>UW puts the policy back on the conveyor belt and handed over to Agent/AM. If changes are made and:</a:t>
            </a:r>
            <a:endParaRPr lang="en-US" sz="2500">
              <a:ea typeface="Calibri" panose="020F0502020204030204"/>
              <a:cs typeface="Calibri" panose="020F0502020204030204"/>
            </a:endParaRPr>
          </a:p>
          <a:p>
            <a:pPr lvl="1"/>
            <a:r>
              <a:rPr lang="en-US" sz="2200">
                <a:ea typeface="+mn-lt"/>
                <a:cs typeface="+mn-lt"/>
              </a:rPr>
              <a:t>If segment does not change, stick with UW override</a:t>
            </a:r>
            <a:endParaRPr lang="en-US" sz="2200">
              <a:ea typeface="Calibri"/>
              <a:cs typeface="Calibri"/>
            </a:endParaRPr>
          </a:p>
          <a:p>
            <a:pPr lvl="1"/>
            <a:r>
              <a:rPr lang="en-US" sz="2200">
                <a:ea typeface="+mn-lt"/>
                <a:cs typeface="+mn-lt"/>
              </a:rPr>
              <a:t>If segment gets better, system resets the UW override and re-run the system recommended DFM. Repeat Steps 2-6.</a:t>
            </a:r>
            <a:endParaRPr lang="en-US" sz="2200">
              <a:ea typeface="Calibri"/>
              <a:cs typeface="Calibri"/>
            </a:endParaRPr>
          </a:p>
          <a:p>
            <a:pPr lvl="1"/>
            <a:r>
              <a:rPr lang="en-US" sz="2200">
                <a:ea typeface="+mn-lt"/>
                <a:cs typeface="+mn-lt"/>
              </a:rPr>
              <a:t>If segment gets worse, stick with the UW override and refer to UW.</a:t>
            </a:r>
            <a:endParaRPr lang="en-US" sz="2200">
              <a:ea typeface="Calibri"/>
              <a:cs typeface="Calibri"/>
            </a:endParaRPr>
          </a:p>
          <a:p>
            <a:pPr marL="0" indent="0">
              <a:buNone/>
            </a:pPr>
            <a:endParaRPr lang="en-US"/>
          </a:p>
        </p:txBody>
      </p:sp>
      <p:graphicFrame>
        <p:nvGraphicFramePr>
          <p:cNvPr id="10" name="Table 9">
            <a:extLst>
              <a:ext uri="{FF2B5EF4-FFF2-40B4-BE49-F238E27FC236}">
                <a16:creationId xmlns:a16="http://schemas.microsoft.com/office/drawing/2014/main" id="{8BE4FCFB-D3FB-5837-4454-E1F398BC5232}"/>
              </a:ext>
            </a:extLst>
          </p:cNvPr>
          <p:cNvGraphicFramePr>
            <a:graphicFrameLocks noGrp="1"/>
          </p:cNvGraphicFramePr>
          <p:nvPr>
            <p:extLst>
              <p:ext uri="{D42A27DB-BD31-4B8C-83A1-F6EECF244321}">
                <p14:modId xmlns:p14="http://schemas.microsoft.com/office/powerpoint/2010/main" val="3657309438"/>
              </p:ext>
            </p:extLst>
          </p:nvPr>
        </p:nvGraphicFramePr>
        <p:xfrm>
          <a:off x="480722" y="1317275"/>
          <a:ext cx="2658404" cy="2349752"/>
        </p:xfrm>
        <a:graphic>
          <a:graphicData uri="http://schemas.openxmlformats.org/drawingml/2006/table">
            <a:tbl>
              <a:tblPr firstRow="1" bandRow="1">
                <a:tableStyleId>{5C22544A-7EE6-4342-B048-85BDC9FD1C3A}</a:tableStyleId>
              </a:tblPr>
              <a:tblGrid>
                <a:gridCol w="2658404">
                  <a:extLst>
                    <a:ext uri="{9D8B030D-6E8A-4147-A177-3AD203B41FA5}">
                      <a16:colId xmlns:a16="http://schemas.microsoft.com/office/drawing/2014/main" val="626216597"/>
                    </a:ext>
                  </a:extLst>
                </a:gridCol>
              </a:tblGrid>
              <a:tr h="587438">
                <a:tc>
                  <a:txBody>
                    <a:bodyPr/>
                    <a:lstStyle/>
                    <a:p>
                      <a:r>
                        <a:rPr lang="en-US"/>
                        <a:t>Inputs</a:t>
                      </a:r>
                    </a:p>
                  </a:txBody>
                  <a:tcPr/>
                </a:tc>
                <a:extLst>
                  <a:ext uri="{0D108BD9-81ED-4DB2-BD59-A6C34878D82A}">
                    <a16:rowId xmlns:a16="http://schemas.microsoft.com/office/drawing/2014/main" val="2972512677"/>
                  </a:ext>
                </a:extLst>
              </a:tr>
              <a:tr h="587438">
                <a:tc>
                  <a:txBody>
                    <a:bodyPr/>
                    <a:lstStyle/>
                    <a:p>
                      <a:r>
                        <a:rPr lang="en-US"/>
                        <a:t>Policy Effective Date</a:t>
                      </a:r>
                    </a:p>
                  </a:txBody>
                  <a:tcPr/>
                </a:tc>
                <a:extLst>
                  <a:ext uri="{0D108BD9-81ED-4DB2-BD59-A6C34878D82A}">
                    <a16:rowId xmlns:a16="http://schemas.microsoft.com/office/drawing/2014/main" val="2538412197"/>
                  </a:ext>
                </a:extLst>
              </a:tr>
              <a:tr h="587438">
                <a:tc>
                  <a:txBody>
                    <a:bodyPr/>
                    <a:lstStyle/>
                    <a:p>
                      <a:r>
                        <a:rPr lang="en-US"/>
                        <a:t>State</a:t>
                      </a:r>
                    </a:p>
                  </a:txBody>
                  <a:tcPr/>
                </a:tc>
                <a:extLst>
                  <a:ext uri="{0D108BD9-81ED-4DB2-BD59-A6C34878D82A}">
                    <a16:rowId xmlns:a16="http://schemas.microsoft.com/office/drawing/2014/main" val="885750254"/>
                  </a:ext>
                </a:extLst>
              </a:tr>
              <a:tr h="587438">
                <a:tc>
                  <a:txBody>
                    <a:bodyPr/>
                    <a:lstStyle/>
                    <a:p>
                      <a:r>
                        <a:rPr lang="en-US"/>
                        <a:t>Segment</a:t>
                      </a:r>
                    </a:p>
                  </a:txBody>
                  <a:tcPr/>
                </a:tc>
                <a:extLst>
                  <a:ext uri="{0D108BD9-81ED-4DB2-BD59-A6C34878D82A}">
                    <a16:rowId xmlns:a16="http://schemas.microsoft.com/office/drawing/2014/main" val="3190638215"/>
                  </a:ext>
                </a:extLst>
              </a:tr>
            </a:tbl>
          </a:graphicData>
        </a:graphic>
      </p:graphicFrame>
      <p:graphicFrame>
        <p:nvGraphicFramePr>
          <p:cNvPr id="11" name="Table 10">
            <a:extLst>
              <a:ext uri="{FF2B5EF4-FFF2-40B4-BE49-F238E27FC236}">
                <a16:creationId xmlns:a16="http://schemas.microsoft.com/office/drawing/2014/main" id="{8E1EEB50-75B1-13AB-F9DA-38B197484F13}"/>
              </a:ext>
            </a:extLst>
          </p:cNvPr>
          <p:cNvGraphicFramePr>
            <a:graphicFrameLocks noGrp="1"/>
          </p:cNvGraphicFramePr>
          <p:nvPr>
            <p:extLst>
              <p:ext uri="{D42A27DB-BD31-4B8C-83A1-F6EECF244321}">
                <p14:modId xmlns:p14="http://schemas.microsoft.com/office/powerpoint/2010/main" val="2901965634"/>
              </p:ext>
            </p:extLst>
          </p:nvPr>
        </p:nvGraphicFramePr>
        <p:xfrm>
          <a:off x="480722" y="3824048"/>
          <a:ext cx="2658404" cy="2350008"/>
        </p:xfrm>
        <a:graphic>
          <a:graphicData uri="http://schemas.openxmlformats.org/drawingml/2006/table">
            <a:tbl>
              <a:tblPr firstRow="1" bandRow="1">
                <a:tableStyleId>{5C22544A-7EE6-4342-B048-85BDC9FD1C3A}</a:tableStyleId>
              </a:tblPr>
              <a:tblGrid>
                <a:gridCol w="2658404">
                  <a:extLst>
                    <a:ext uri="{9D8B030D-6E8A-4147-A177-3AD203B41FA5}">
                      <a16:colId xmlns:a16="http://schemas.microsoft.com/office/drawing/2014/main" val="626216597"/>
                    </a:ext>
                  </a:extLst>
                </a:gridCol>
              </a:tblGrid>
              <a:tr h="587502">
                <a:tc>
                  <a:txBody>
                    <a:bodyPr/>
                    <a:lstStyle/>
                    <a:p>
                      <a:r>
                        <a:rPr lang="en-US"/>
                        <a:t>Outputs</a:t>
                      </a:r>
                    </a:p>
                  </a:txBody>
                  <a:tcPr/>
                </a:tc>
                <a:extLst>
                  <a:ext uri="{0D108BD9-81ED-4DB2-BD59-A6C34878D82A}">
                    <a16:rowId xmlns:a16="http://schemas.microsoft.com/office/drawing/2014/main" val="2972512677"/>
                  </a:ext>
                </a:extLst>
              </a:tr>
              <a:tr h="587502">
                <a:tc>
                  <a:txBody>
                    <a:bodyPr/>
                    <a:lstStyle/>
                    <a:p>
                      <a:r>
                        <a:rPr lang="en-US"/>
                        <a:t>Scheduled Debit/Credit</a:t>
                      </a:r>
                    </a:p>
                  </a:txBody>
                  <a:tcPr/>
                </a:tc>
                <a:extLst>
                  <a:ext uri="{0D108BD9-81ED-4DB2-BD59-A6C34878D82A}">
                    <a16:rowId xmlns:a16="http://schemas.microsoft.com/office/drawing/2014/main" val="2538412197"/>
                  </a:ext>
                </a:extLst>
              </a:tr>
              <a:tr h="587502">
                <a:tc>
                  <a:txBody>
                    <a:bodyPr/>
                    <a:lstStyle/>
                    <a:p>
                      <a:r>
                        <a:rPr lang="en-US"/>
                        <a:t>Adjustment Factor</a:t>
                      </a:r>
                    </a:p>
                  </a:txBody>
                  <a:tcPr/>
                </a:tc>
                <a:extLst>
                  <a:ext uri="{0D108BD9-81ED-4DB2-BD59-A6C34878D82A}">
                    <a16:rowId xmlns:a16="http://schemas.microsoft.com/office/drawing/2014/main" val="885750254"/>
                  </a:ext>
                </a:extLst>
              </a:tr>
              <a:tr h="587502">
                <a:tc>
                  <a:txBody>
                    <a:bodyPr/>
                    <a:lstStyle/>
                    <a:p>
                      <a:r>
                        <a:rPr lang="en-US"/>
                        <a:t>Min &amp; Max Rate Change</a:t>
                      </a:r>
                    </a:p>
                  </a:txBody>
                  <a:tcPr/>
                </a:tc>
                <a:extLst>
                  <a:ext uri="{0D108BD9-81ED-4DB2-BD59-A6C34878D82A}">
                    <a16:rowId xmlns:a16="http://schemas.microsoft.com/office/drawing/2014/main" val="3190638215"/>
                  </a:ext>
                </a:extLst>
              </a:tr>
            </a:tbl>
          </a:graphicData>
        </a:graphic>
      </p:graphicFrame>
      <p:sp>
        <p:nvSpPr>
          <p:cNvPr id="3" name="TextBox 2">
            <a:extLst>
              <a:ext uri="{FF2B5EF4-FFF2-40B4-BE49-F238E27FC236}">
                <a16:creationId xmlns:a16="http://schemas.microsoft.com/office/drawing/2014/main" id="{3E78E085-E19C-AFBC-65FC-422F8148DA87}"/>
              </a:ext>
            </a:extLst>
          </p:cNvPr>
          <p:cNvSpPr txBox="1"/>
          <p:nvPr/>
        </p:nvSpPr>
        <p:spPr>
          <a:xfrm>
            <a:off x="478692" y="6291385"/>
            <a:ext cx="303823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u="sng" strike="noStrike" baseline="0">
                <a:solidFill>
                  <a:srgbClr val="0563C1"/>
                </a:solidFill>
                <a:latin typeface="Calibri"/>
                <a:ea typeface="Segoe UI"/>
                <a:cs typeface="Segoe UI"/>
                <a:hlinkClick r:id="rId2"/>
              </a:rPr>
              <a:t>Streamlined Renewals_DFM Workflow.xlsx</a:t>
            </a:r>
            <a:endParaRPr lang="en-US"/>
          </a:p>
          <a:p>
            <a:pPr algn="ctr"/>
            <a:endParaRPr lang="en-US"/>
          </a:p>
        </p:txBody>
      </p:sp>
    </p:spTree>
    <p:extLst>
      <p:ext uri="{BB962C8B-B14F-4D97-AF65-F5344CB8AC3E}">
        <p14:creationId xmlns:p14="http://schemas.microsoft.com/office/powerpoint/2010/main" val="906113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4C7E8-A74D-B7CB-DDD9-650D7CF72B5E}"/>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3C131507-2F8B-816F-9FFF-72563D938110}"/>
              </a:ext>
            </a:extLst>
          </p:cNvPr>
          <p:cNvSpPr>
            <a:spLocks noGrp="1"/>
          </p:cNvSpPr>
          <p:nvPr>
            <p:ph idx="1"/>
          </p:nvPr>
        </p:nvSpPr>
        <p:spPr>
          <a:xfrm>
            <a:off x="480723" y="1710648"/>
            <a:ext cx="11343953" cy="2148052"/>
          </a:xfrm>
        </p:spPr>
        <p:txBody>
          <a:bodyPr vert="horz" lIns="91440" tIns="45720" rIns="91440" bIns="45720" rtlCol="0" anchor="t">
            <a:normAutofit fontScale="62500" lnSpcReduction="20000"/>
          </a:bodyPr>
          <a:lstStyle/>
          <a:p>
            <a:pPr marL="0" indent="0">
              <a:lnSpc>
                <a:spcPct val="110000"/>
              </a:lnSpc>
              <a:buNone/>
            </a:pPr>
            <a:r>
              <a:rPr lang="en-US" sz="3400" b="1">
                <a:solidFill>
                  <a:srgbClr val="000000"/>
                </a:solidFill>
                <a:ea typeface="Calibri"/>
                <a:cs typeface="Calibri"/>
              </a:rPr>
              <a:t>Underwriters (Wholesale and Retail) </a:t>
            </a:r>
            <a:r>
              <a:rPr lang="en-US" sz="3400" i="1">
                <a:solidFill>
                  <a:srgbClr val="000000"/>
                </a:solidFill>
                <a:ea typeface="Calibri"/>
                <a:cs typeface="Calibri"/>
              </a:rPr>
              <a:t>- Informational</a:t>
            </a:r>
          </a:p>
          <a:p>
            <a:pPr marL="0" indent="0">
              <a:lnSpc>
                <a:spcPct val="110000"/>
              </a:lnSpc>
              <a:buNone/>
            </a:pPr>
            <a:r>
              <a:rPr lang="en-US" sz="3400" i="1">
                <a:solidFill>
                  <a:srgbClr val="0000FF"/>
                </a:solidFill>
                <a:ea typeface="Calibri"/>
                <a:cs typeface="Calibri"/>
              </a:rPr>
              <a:t>The recommended pricing guidance for this account in AZ is 15. DFM is achievable.</a:t>
            </a:r>
            <a:endParaRPr lang="en-US">
              <a:ea typeface="Calibri"/>
              <a:cs typeface="Calibri"/>
            </a:endParaRPr>
          </a:p>
          <a:p>
            <a:pPr marL="0" indent="0">
              <a:lnSpc>
                <a:spcPct val="110000"/>
              </a:lnSpc>
              <a:buNone/>
            </a:pPr>
            <a:r>
              <a:rPr lang="en-US" sz="3500" b="1">
                <a:solidFill>
                  <a:srgbClr val="000000"/>
                </a:solidFill>
                <a:ea typeface="Calibri"/>
                <a:cs typeface="Calibri"/>
              </a:rPr>
              <a:t>Wholesale Agents &amp; Retail AMs – </a:t>
            </a:r>
            <a:r>
              <a:rPr lang="en-US" sz="3500" i="1">
                <a:solidFill>
                  <a:srgbClr val="000000"/>
                </a:solidFill>
                <a:ea typeface="Calibri"/>
                <a:cs typeface="Calibri"/>
              </a:rPr>
              <a:t>Hard Stop</a:t>
            </a:r>
          </a:p>
          <a:p>
            <a:pPr marL="0" indent="0">
              <a:lnSpc>
                <a:spcPct val="110000"/>
              </a:lnSpc>
              <a:buNone/>
            </a:pPr>
            <a:r>
              <a:rPr lang="en-US" sz="3500" i="1">
                <a:solidFill>
                  <a:srgbClr val="FF0000"/>
                </a:solidFill>
                <a:ea typeface="Calibri"/>
                <a:cs typeface="Calibri"/>
              </a:rPr>
              <a:t>Your pricing authority for this account in AZ is 15. Please adjust your pricing to comply, otherwise, refer to your IAT underwriter to proceed.</a:t>
            </a:r>
            <a:endParaRPr lang="en-US" sz="3400" i="1">
              <a:solidFill>
                <a:srgbClr val="FF0000"/>
              </a:solidFill>
              <a:ea typeface="Calibri"/>
              <a:cs typeface="Calibri"/>
            </a:endParaRPr>
          </a:p>
          <a:p>
            <a:pPr marL="0" indent="0">
              <a:lnSpc>
                <a:spcPct val="110000"/>
              </a:lnSpc>
              <a:buNone/>
            </a:pPr>
            <a:endParaRPr lang="en-US" sz="3400">
              <a:solidFill>
                <a:srgbClr val="000000"/>
              </a:solidFill>
              <a:ea typeface="Calibri"/>
              <a:cs typeface="Calibri"/>
            </a:endParaRPr>
          </a:p>
          <a:p>
            <a:pPr marL="0" indent="0">
              <a:buNone/>
            </a:pPr>
            <a:endParaRPr lang="en-US" sz="3400">
              <a:solidFill>
                <a:srgbClr val="0070C0"/>
              </a:solidFill>
              <a:ea typeface="+mn-lt"/>
              <a:cs typeface="+mn-lt"/>
            </a:endParaRPr>
          </a:p>
        </p:txBody>
      </p:sp>
      <p:sp>
        <p:nvSpPr>
          <p:cNvPr id="2" name="Title 1">
            <a:extLst>
              <a:ext uri="{FF2B5EF4-FFF2-40B4-BE49-F238E27FC236}">
                <a16:creationId xmlns:a16="http://schemas.microsoft.com/office/drawing/2014/main" id="{F2B5D106-5DB8-3591-40A9-091CB7C87A0A}"/>
              </a:ext>
            </a:extLst>
          </p:cNvPr>
          <p:cNvSpPr>
            <a:spLocks noGrp="1"/>
          </p:cNvSpPr>
          <p:nvPr>
            <p:ph type="title"/>
          </p:nvPr>
        </p:nvSpPr>
        <p:spPr/>
        <p:txBody>
          <a:bodyPr>
            <a:normAutofit/>
          </a:bodyPr>
          <a:lstStyle/>
          <a:p>
            <a:r>
              <a:rPr lang="en-US" sz="3200"/>
              <a:t>Pricing Guidance (DFM) - Messaging to Users</a:t>
            </a:r>
            <a:endParaRPr lang="en-US" sz="3200">
              <a:ea typeface="Calibri"/>
              <a:cs typeface="Calibri"/>
            </a:endParaRPr>
          </a:p>
        </p:txBody>
      </p:sp>
      <p:sp>
        <p:nvSpPr>
          <p:cNvPr id="3" name="Content Placeholder 2">
            <a:extLst>
              <a:ext uri="{FF2B5EF4-FFF2-40B4-BE49-F238E27FC236}">
                <a16:creationId xmlns:a16="http://schemas.microsoft.com/office/drawing/2014/main" id="{91F55FB8-D214-AE9B-9721-D5085B447ED5}"/>
              </a:ext>
            </a:extLst>
          </p:cNvPr>
          <p:cNvSpPr>
            <a:spLocks noGrp="1"/>
          </p:cNvSpPr>
          <p:nvPr>
            <p:ph idx="10"/>
          </p:nvPr>
        </p:nvSpPr>
        <p:spPr>
          <a:xfrm>
            <a:off x="507486" y="4514417"/>
            <a:ext cx="11343953" cy="2148052"/>
          </a:xfrm>
        </p:spPr>
        <p:txBody>
          <a:bodyPr vert="horz" lIns="91440" tIns="45720" rIns="91440" bIns="45720" rtlCol="0" anchor="t">
            <a:normAutofit fontScale="85000" lnSpcReduction="20000"/>
          </a:bodyPr>
          <a:lstStyle/>
          <a:p>
            <a:pPr marL="0" indent="0">
              <a:lnSpc>
                <a:spcPct val="110000"/>
              </a:lnSpc>
              <a:buNone/>
            </a:pPr>
            <a:r>
              <a:rPr lang="en-US" sz="2600" b="1">
                <a:ea typeface="Calibri"/>
                <a:cs typeface="Calibri"/>
              </a:rPr>
              <a:t>Underwriters (Wholesale and Retail) – </a:t>
            </a:r>
            <a:r>
              <a:rPr lang="en-US" sz="2600" i="1">
                <a:ea typeface="Calibri"/>
                <a:cs typeface="Calibri"/>
              </a:rPr>
              <a:t>Informational</a:t>
            </a:r>
            <a:endParaRPr lang="en-US" sz="2600" b="1">
              <a:ea typeface="Calibri"/>
              <a:cs typeface="Calibri"/>
            </a:endParaRPr>
          </a:p>
          <a:p>
            <a:pPr marL="0" indent="0">
              <a:lnSpc>
                <a:spcPct val="110000"/>
              </a:lnSpc>
              <a:buNone/>
            </a:pPr>
            <a:r>
              <a:rPr lang="en-US" sz="2600" i="1">
                <a:solidFill>
                  <a:srgbClr val="0000FF"/>
                </a:solidFill>
                <a:ea typeface="Calibri"/>
                <a:cs typeface="Calibri"/>
              </a:rPr>
              <a:t>The recommended pricing guidance for this account is AZ is 45. DFM is not achievable.</a:t>
            </a:r>
            <a:endParaRPr lang="en-US" sz="2600">
              <a:ea typeface="Calibri"/>
              <a:cs typeface="Calibri"/>
            </a:endParaRPr>
          </a:p>
          <a:p>
            <a:pPr marL="0" indent="0">
              <a:lnSpc>
                <a:spcPct val="110000"/>
              </a:lnSpc>
              <a:buNone/>
            </a:pPr>
            <a:r>
              <a:rPr lang="en-US" sz="2600" b="1">
                <a:ea typeface="Calibri"/>
                <a:cs typeface="Calibri"/>
              </a:rPr>
              <a:t>Wholesale Agents &amp; Retail AMs – </a:t>
            </a:r>
            <a:r>
              <a:rPr lang="en-US" sz="2600" i="1">
                <a:ea typeface="Calibri"/>
                <a:cs typeface="Calibri"/>
              </a:rPr>
              <a:t>Hard Stop</a:t>
            </a:r>
            <a:endParaRPr lang="en-US" sz="2600" b="1"/>
          </a:p>
          <a:p>
            <a:pPr marL="0" indent="0">
              <a:lnSpc>
                <a:spcPct val="110000"/>
              </a:lnSpc>
              <a:buNone/>
            </a:pPr>
            <a:r>
              <a:rPr lang="en-US" sz="2600" i="1" dirty="0">
                <a:solidFill>
                  <a:srgbClr val="FF0000"/>
                </a:solidFill>
                <a:ea typeface="Calibri"/>
                <a:cs typeface="Calibri"/>
              </a:rPr>
              <a:t>You do not have any pricing authority for this account in AZ, please refer to an IAT underwriter to proceed.</a:t>
            </a:r>
            <a:endParaRPr lang="en-US" sz="2600" dirty="0">
              <a:ea typeface="Calibri"/>
              <a:cs typeface="Calibri"/>
            </a:endParaRPr>
          </a:p>
          <a:p>
            <a:endParaRPr lang="en-US" sz="2600" dirty="0">
              <a:ea typeface="Calibri"/>
              <a:cs typeface="Calibri"/>
            </a:endParaRPr>
          </a:p>
        </p:txBody>
      </p:sp>
      <p:sp>
        <p:nvSpPr>
          <p:cNvPr id="4" name="Content Placeholder 3">
            <a:extLst>
              <a:ext uri="{FF2B5EF4-FFF2-40B4-BE49-F238E27FC236}">
                <a16:creationId xmlns:a16="http://schemas.microsoft.com/office/drawing/2014/main" id="{CF6C34E3-FB4B-108D-0E3D-BB15F1D123D9}"/>
              </a:ext>
            </a:extLst>
          </p:cNvPr>
          <p:cNvSpPr>
            <a:spLocks noGrp="1"/>
          </p:cNvSpPr>
          <p:nvPr>
            <p:ph idx="11"/>
          </p:nvPr>
        </p:nvSpPr>
        <p:spPr>
          <a:xfrm>
            <a:off x="480722" y="1156787"/>
            <a:ext cx="5462877" cy="542975"/>
          </a:xfrm>
        </p:spPr>
        <p:txBody>
          <a:bodyPr>
            <a:normAutofit/>
          </a:bodyPr>
          <a:lstStyle/>
          <a:p>
            <a:r>
              <a:rPr lang="en-US" sz="2800">
                <a:ea typeface="+mn-lt"/>
                <a:cs typeface="+mn-lt"/>
              </a:rPr>
              <a:t>DFM Achievable:</a:t>
            </a:r>
            <a:endParaRPr lang="en-US" sz="2800">
              <a:ea typeface="Calibri"/>
              <a:cs typeface="Calibri"/>
            </a:endParaRPr>
          </a:p>
        </p:txBody>
      </p:sp>
      <p:sp>
        <p:nvSpPr>
          <p:cNvPr id="5" name="Content Placeholder 4">
            <a:extLst>
              <a:ext uri="{FF2B5EF4-FFF2-40B4-BE49-F238E27FC236}">
                <a16:creationId xmlns:a16="http://schemas.microsoft.com/office/drawing/2014/main" id="{08A2D4BC-FFBE-DD5F-480A-83DFF27D04ED}"/>
              </a:ext>
            </a:extLst>
          </p:cNvPr>
          <p:cNvSpPr>
            <a:spLocks noGrp="1"/>
          </p:cNvSpPr>
          <p:nvPr>
            <p:ph idx="12"/>
          </p:nvPr>
        </p:nvSpPr>
        <p:spPr>
          <a:xfrm>
            <a:off x="507486" y="3971442"/>
            <a:ext cx="5462877" cy="552744"/>
          </a:xfrm>
        </p:spPr>
        <p:txBody>
          <a:bodyPr>
            <a:normAutofit/>
          </a:bodyPr>
          <a:lstStyle/>
          <a:p>
            <a:r>
              <a:rPr lang="en-US" sz="2800">
                <a:ea typeface="+mn-lt"/>
                <a:cs typeface="+mn-lt"/>
              </a:rPr>
              <a:t>DFM Not Achievable:</a:t>
            </a:r>
          </a:p>
        </p:txBody>
      </p:sp>
    </p:spTree>
    <p:extLst>
      <p:ext uri="{BB962C8B-B14F-4D97-AF65-F5344CB8AC3E}">
        <p14:creationId xmlns:p14="http://schemas.microsoft.com/office/powerpoint/2010/main" val="1388528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AD84C-B156-1BC3-0BC9-9513A365E6AF}"/>
              </a:ext>
            </a:extLst>
          </p:cNvPr>
          <p:cNvSpPr>
            <a:spLocks noGrp="1"/>
          </p:cNvSpPr>
          <p:nvPr>
            <p:ph type="title"/>
          </p:nvPr>
        </p:nvSpPr>
        <p:spPr/>
        <p:txBody>
          <a:bodyPr>
            <a:normAutofit/>
          </a:bodyPr>
          <a:lstStyle/>
          <a:p>
            <a:r>
              <a:rPr lang="en-US" sz="3200">
                <a:ea typeface="Calibri"/>
                <a:cs typeface="Calibri"/>
              </a:rPr>
              <a:t>Retail Workflow – Deviations from Wholesale</a:t>
            </a:r>
          </a:p>
        </p:txBody>
      </p:sp>
      <p:sp>
        <p:nvSpPr>
          <p:cNvPr id="3" name="Content Placeholder 2">
            <a:extLst>
              <a:ext uri="{FF2B5EF4-FFF2-40B4-BE49-F238E27FC236}">
                <a16:creationId xmlns:a16="http://schemas.microsoft.com/office/drawing/2014/main" id="{2BF13E0B-87F8-0E39-4757-A323E429E1FD}"/>
              </a:ext>
            </a:extLst>
          </p:cNvPr>
          <p:cNvSpPr>
            <a:spLocks noGrp="1"/>
          </p:cNvSpPr>
          <p:nvPr>
            <p:ph idx="10"/>
          </p:nvPr>
        </p:nvSpPr>
        <p:spPr/>
        <p:txBody>
          <a:bodyPr vert="horz" lIns="91440" tIns="45720" rIns="91440" bIns="45720" rtlCol="0" anchor="t">
            <a:normAutofit/>
          </a:bodyPr>
          <a:lstStyle/>
          <a:p>
            <a:pPr marL="0" indent="0">
              <a:buNone/>
            </a:pPr>
            <a:r>
              <a:rPr lang="en-US">
                <a:ea typeface="Calibri"/>
                <a:cs typeface="Calibri"/>
              </a:rPr>
              <a:t>The following are Retail Segment specific requirements, that are a deviation from Wholesale workflow: </a:t>
            </a:r>
          </a:p>
          <a:p>
            <a:pPr marL="457200" indent="-457200">
              <a:buAutoNum type="arabicPeriod"/>
            </a:pPr>
            <a:r>
              <a:rPr lang="en-US">
                <a:ea typeface="Calibri"/>
                <a:cs typeface="Calibri"/>
              </a:rPr>
              <a:t>Retail AMs will need new user profiles (replicating wholesale agent) to ensure the UW referral rules apply to them. This will create a consistent Referral -&gt; Approval workflow between Retail and Wholesale.</a:t>
            </a:r>
          </a:p>
          <a:p>
            <a:pPr lvl="1"/>
            <a:r>
              <a:rPr lang="en-US" sz="2000">
                <a:ea typeface="Calibri"/>
                <a:cs typeface="Calibri"/>
              </a:rPr>
              <a:t>Business need is to show referral messages to AMs, all other authority related to transactions, submission override, etc. must remain the same as an internal user.</a:t>
            </a:r>
          </a:p>
          <a:p>
            <a:pPr lvl="1"/>
            <a:r>
              <a:rPr lang="en-US" sz="2000">
                <a:ea typeface="Calibri"/>
                <a:cs typeface="Calibri"/>
              </a:rPr>
              <a:t>Since there could be a potential future need where AMs would be supporting multiple segments: N</a:t>
            </a:r>
            <a:r>
              <a:rPr lang="en-US">
                <a:ea typeface="Calibri"/>
                <a:cs typeface="Calibri"/>
              </a:rPr>
              <a:t>eed</a:t>
            </a:r>
            <a:r>
              <a:rPr lang="en-US" sz="1800">
                <a:ea typeface="Calibri"/>
                <a:cs typeface="Calibri"/>
              </a:rPr>
              <a:t> 2 sets </a:t>
            </a:r>
            <a:r>
              <a:rPr lang="en-US">
                <a:ea typeface="Calibri"/>
                <a:cs typeface="Calibri"/>
              </a:rPr>
              <a:t>of new</a:t>
            </a:r>
            <a:r>
              <a:rPr lang="en-US" sz="1800">
                <a:ea typeface="Calibri"/>
                <a:cs typeface="Calibri"/>
              </a:rPr>
              <a:t> user profiles – 1 for Retails </a:t>
            </a:r>
            <a:r>
              <a:rPr lang="en-US">
                <a:ea typeface="Calibri"/>
                <a:cs typeface="Calibri"/>
              </a:rPr>
              <a:t>Non Fleet AMs</a:t>
            </a:r>
            <a:r>
              <a:rPr lang="en-US" sz="1800">
                <a:ea typeface="Calibri"/>
                <a:cs typeface="Calibri"/>
              </a:rPr>
              <a:t> and 1 for </a:t>
            </a:r>
            <a:r>
              <a:rPr lang="en-US">
                <a:ea typeface="Calibri"/>
                <a:cs typeface="Calibri"/>
              </a:rPr>
              <a:t>all</a:t>
            </a:r>
            <a:r>
              <a:rPr lang="en-US" sz="1800">
                <a:ea typeface="Calibri"/>
                <a:cs typeface="Calibri"/>
              </a:rPr>
              <a:t> other Retail </a:t>
            </a:r>
            <a:r>
              <a:rPr lang="en-US">
                <a:ea typeface="Calibri"/>
                <a:cs typeface="Calibri"/>
              </a:rPr>
              <a:t>Non Fleet Internal</a:t>
            </a:r>
            <a:r>
              <a:rPr lang="en-US" sz="1800">
                <a:ea typeface="Calibri"/>
                <a:cs typeface="Calibri"/>
              </a:rPr>
              <a:t> users</a:t>
            </a:r>
            <a:r>
              <a:rPr lang="en-US">
                <a:ea typeface="Calibri"/>
                <a:cs typeface="Calibri"/>
              </a:rPr>
              <a:t>, to drive Retail Non Fleet authority through dedicated user profiles.</a:t>
            </a:r>
            <a:endParaRPr lang="en-US" sz="2000">
              <a:highlight>
                <a:srgbClr val="FFFF00"/>
              </a:highlight>
              <a:ea typeface="Calibri"/>
              <a:cs typeface="Calibri"/>
            </a:endParaRPr>
          </a:p>
          <a:p>
            <a:pPr lvl="2">
              <a:buFont typeface="Wingdings" panose="020B0604020202020204" pitchFamily="34" charset="0"/>
              <a:buChar char="§"/>
            </a:pPr>
            <a:r>
              <a:rPr lang="en-US" sz="1800">
                <a:ea typeface="Calibri"/>
                <a:cs typeface="Calibri"/>
              </a:rPr>
              <a:t>E.g.: </a:t>
            </a:r>
            <a:endParaRPr lang="en-US" sz="1800">
              <a:ea typeface="+mn-lt"/>
              <a:cs typeface="+mn-lt"/>
            </a:endParaRPr>
          </a:p>
          <a:p>
            <a:pPr lvl="3">
              <a:buFont typeface="Wingdings" panose="020B0604020202020204" pitchFamily="34" charset="0"/>
              <a:buChar char="§"/>
            </a:pPr>
            <a:r>
              <a:rPr lang="en-US" sz="1600">
                <a:ea typeface="+mn-lt"/>
                <a:cs typeface="+mn-lt"/>
              </a:rPr>
              <a:t>CA_Coverage001 – Assigned to Internal users for Fleet, Non Fleet (Except Wilshire Retail)</a:t>
            </a:r>
            <a:endParaRPr lang="en-US" sz="1600">
              <a:ea typeface="Calibri"/>
              <a:cs typeface="Calibri"/>
            </a:endParaRPr>
          </a:p>
          <a:p>
            <a:pPr lvl="3">
              <a:buFont typeface="Wingdings" panose="020B0604020202020204" pitchFamily="34" charset="0"/>
              <a:buChar char="§"/>
            </a:pPr>
            <a:r>
              <a:rPr lang="en-US" sz="1600">
                <a:ea typeface="+mn-lt"/>
                <a:cs typeface="+mn-lt"/>
              </a:rPr>
              <a:t>CA_Coverage002 – Assigned to External users for Non Fleet</a:t>
            </a:r>
            <a:endParaRPr lang="en-US" sz="1600">
              <a:ea typeface="Calibri"/>
              <a:cs typeface="Calibri"/>
            </a:endParaRPr>
          </a:p>
          <a:p>
            <a:pPr lvl="3">
              <a:buFont typeface="Wingdings" panose="020B0604020202020204" pitchFamily="34" charset="0"/>
              <a:buChar char="§"/>
            </a:pPr>
            <a:r>
              <a:rPr lang="en-US" sz="1600">
                <a:ea typeface="+mn-lt"/>
                <a:cs typeface="+mn-lt"/>
              </a:rPr>
              <a:t>CA_Coverage003 - Assigned to Internal users for Non Fleet (Wilshire Retail only) </a:t>
            </a:r>
            <a:r>
              <a:rPr lang="en-US" sz="1600" i="1">
                <a:highlight>
                  <a:srgbClr val="FFFF00"/>
                </a:highlight>
                <a:ea typeface="+mn-lt"/>
                <a:cs typeface="+mn-lt"/>
              </a:rPr>
              <a:t>- New</a:t>
            </a:r>
          </a:p>
          <a:p>
            <a:pPr lvl="3">
              <a:buFont typeface="Wingdings" panose="020B0604020202020204" pitchFamily="34" charset="0"/>
              <a:buChar char="§"/>
            </a:pPr>
            <a:r>
              <a:rPr lang="en-US" sz="1600">
                <a:ea typeface="+mn-lt"/>
                <a:cs typeface="+mn-lt"/>
              </a:rPr>
              <a:t>CA_Coverage004 - Assigned to Internal users (AMs) for Non Fleet (Wilshire Retail only)</a:t>
            </a:r>
            <a:r>
              <a:rPr lang="en-US" sz="1600" i="1">
                <a:ea typeface="+mn-lt"/>
                <a:cs typeface="+mn-lt"/>
              </a:rPr>
              <a:t> </a:t>
            </a:r>
            <a:r>
              <a:rPr lang="en-US" sz="1600" i="1">
                <a:highlight>
                  <a:srgbClr val="FFFF00"/>
                </a:highlight>
                <a:ea typeface="+mn-lt"/>
                <a:cs typeface="+mn-lt"/>
              </a:rPr>
              <a:t>- New</a:t>
            </a:r>
          </a:p>
          <a:p>
            <a:pPr>
              <a:buAutoNum type="arabicPeriod"/>
            </a:pPr>
            <a:r>
              <a:rPr lang="en-US">
                <a:solidFill>
                  <a:srgbClr val="000000"/>
                </a:solidFill>
                <a:ea typeface="Calibri"/>
                <a:cs typeface="Calibri"/>
              </a:rPr>
              <a:t>If the policy passes all UW referral rules and DFM is achievable,</a:t>
            </a:r>
            <a:r>
              <a:rPr lang="en-US">
                <a:ea typeface="Calibri"/>
                <a:cs typeface="Calibri"/>
              </a:rPr>
              <a:t> there is no holding up of renewals for Retail AMs. They will immediately get it assigned.</a:t>
            </a:r>
          </a:p>
        </p:txBody>
      </p:sp>
    </p:spTree>
    <p:extLst>
      <p:ext uri="{BB962C8B-B14F-4D97-AF65-F5344CB8AC3E}">
        <p14:creationId xmlns:p14="http://schemas.microsoft.com/office/powerpoint/2010/main" val="1963675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441B4-0237-E1D4-97C0-9DD70834A935}"/>
              </a:ext>
            </a:extLst>
          </p:cNvPr>
          <p:cNvSpPr>
            <a:spLocks noGrp="1"/>
          </p:cNvSpPr>
          <p:nvPr>
            <p:ph type="title"/>
          </p:nvPr>
        </p:nvSpPr>
        <p:spPr/>
        <p:txBody>
          <a:bodyPr>
            <a:normAutofit/>
          </a:bodyPr>
          <a:lstStyle/>
          <a:p>
            <a:r>
              <a:rPr lang="en-US" sz="3200"/>
              <a:t>Unity to Downstream Data Mapping - Requirements</a:t>
            </a:r>
            <a:endParaRPr lang="en-US" sz="3200">
              <a:ea typeface="Calibri"/>
              <a:cs typeface="Calibri"/>
            </a:endParaRPr>
          </a:p>
        </p:txBody>
      </p:sp>
      <p:sp>
        <p:nvSpPr>
          <p:cNvPr id="3" name="Content Placeholder 2">
            <a:extLst>
              <a:ext uri="{FF2B5EF4-FFF2-40B4-BE49-F238E27FC236}">
                <a16:creationId xmlns:a16="http://schemas.microsoft.com/office/drawing/2014/main" id="{F1618F95-CD73-4E2C-978D-5BFE657094D1}"/>
              </a:ext>
            </a:extLst>
          </p:cNvPr>
          <p:cNvSpPr>
            <a:spLocks noGrp="1"/>
          </p:cNvSpPr>
          <p:nvPr>
            <p:ph idx="10"/>
          </p:nvPr>
        </p:nvSpPr>
        <p:spPr/>
        <p:txBody>
          <a:bodyPr vert="horz" lIns="91440" tIns="45720" rIns="91440" bIns="45720" rtlCol="0" anchor="t">
            <a:normAutofit/>
          </a:bodyPr>
          <a:lstStyle/>
          <a:p>
            <a:pPr marL="457200" indent="-457200">
              <a:buAutoNum type="arabicPeriod"/>
            </a:pPr>
            <a:r>
              <a:rPr lang="en-US">
                <a:ea typeface="Calibri" panose="020F0502020204030204"/>
                <a:cs typeface="Calibri" panose="020F0502020204030204"/>
              </a:rPr>
              <a:t>The failed UW Rules (includes referrals and Automated UW rules), must be sent downstream to Insights (Leveraging existing referral downstream mapping).</a:t>
            </a:r>
          </a:p>
          <a:p>
            <a:pPr marL="914400" lvl="1" indent="-457200">
              <a:buFont typeface="Courier New"/>
              <a:buChar char="o"/>
            </a:pPr>
            <a:r>
              <a:rPr lang="en-US">
                <a:ea typeface="Calibri" panose="020F0502020204030204"/>
                <a:cs typeface="Calibri" panose="020F0502020204030204"/>
              </a:rPr>
              <a:t>Note: Currently, referral messages are concatenated into a single field downstream, creating challenges for automated reporting. There may be a need to revisit and change this behavior.</a:t>
            </a:r>
          </a:p>
          <a:p>
            <a:pPr marL="457200" indent="-457200">
              <a:buAutoNum type="arabicPeriod"/>
            </a:pPr>
            <a:r>
              <a:rPr lang="en-US">
                <a:ea typeface="Calibri" panose="020F0502020204030204"/>
                <a:cs typeface="Calibri" panose="020F0502020204030204"/>
              </a:rPr>
              <a:t>As a part of the DFM workflow, the following data points must be sent downstream to Insights:</a:t>
            </a:r>
          </a:p>
          <a:p>
            <a:pPr marL="914400" lvl="1" indent="-457200">
              <a:buFont typeface="Courier New" panose="020B0604020202020204" pitchFamily="34" charset="0"/>
              <a:buChar char="o"/>
            </a:pPr>
            <a:r>
              <a:rPr lang="en-US">
                <a:ea typeface="Calibri" panose="020F0502020204030204"/>
                <a:cs typeface="Calibri" panose="020F0502020204030204"/>
              </a:rPr>
              <a:t>DFM achievable (Y/N) Indicator</a:t>
            </a:r>
          </a:p>
          <a:p>
            <a:pPr marL="914400" lvl="1" indent="-457200">
              <a:buFont typeface="Courier New" panose="020B0604020202020204" pitchFamily="34" charset="0"/>
              <a:buChar char="o"/>
            </a:pPr>
            <a:r>
              <a:rPr lang="en-US">
                <a:ea typeface="Calibri" panose="020F0502020204030204"/>
                <a:cs typeface="Calibri" panose="020F0502020204030204"/>
              </a:rPr>
              <a:t>System recommended Target DFM value</a:t>
            </a:r>
          </a:p>
          <a:p>
            <a:pPr marL="914400" lvl="1" indent="-457200">
              <a:buFont typeface="Courier New" panose="020B0604020202020204" pitchFamily="34" charset="0"/>
              <a:buChar char="o"/>
            </a:pPr>
            <a:r>
              <a:rPr lang="en-US">
                <a:ea typeface="Calibri" panose="020F0502020204030204"/>
                <a:cs typeface="Calibri" panose="020F0502020204030204"/>
              </a:rPr>
              <a:t>If DFM not achievable and DFM Override Approval is used – Indicator, UW entered DFM value, Justification/Reason</a:t>
            </a:r>
          </a:p>
          <a:p>
            <a:pPr marL="457200" indent="-457200">
              <a:buAutoNum type="arabicPeriod"/>
            </a:pPr>
            <a:r>
              <a:rPr lang="en-US">
                <a:ea typeface="Calibri" panose="020F0502020204030204"/>
                <a:cs typeface="Calibri" panose="020F0502020204030204"/>
              </a:rPr>
              <a:t>Individually Flagged policies for UW review on next renewal. The  flag and any other associated fields must be sent downstream to Insights.</a:t>
            </a:r>
          </a:p>
          <a:p>
            <a:pPr marL="457200" indent="-457200">
              <a:buAutoNum type="arabicPeriod"/>
            </a:pPr>
            <a:endParaRPr lang="en-US">
              <a:ea typeface="Calibri" panose="020F0502020204030204"/>
              <a:cs typeface="Calibri" panose="020F0502020204030204"/>
            </a:endParaRPr>
          </a:p>
          <a:p>
            <a:pPr marL="914400" lvl="1" indent="-457200">
              <a:buFont typeface="Courier New" panose="020B0604020202020204" pitchFamily="34" charset="0"/>
              <a:buChar char="o"/>
            </a:pPr>
            <a:endParaRPr lang="en-US">
              <a:ea typeface="Calibri" panose="020F0502020204030204"/>
              <a:cs typeface="Calibri" panose="020F0502020204030204"/>
            </a:endParaRPr>
          </a:p>
          <a:p>
            <a:pPr marL="457200" indent="-457200">
              <a:buFont typeface="Arial" panose="020B0604020202020204" pitchFamily="34" charset="0"/>
              <a:buAutoNum type="arabicPeriod"/>
            </a:pPr>
            <a:endParaRPr lang="en-US">
              <a:ea typeface="Calibri" panose="020F0502020204030204"/>
              <a:cs typeface="Calibri" panose="020F0502020204030204"/>
            </a:endParaRPr>
          </a:p>
          <a:p>
            <a:pPr marL="457200" indent="-457200">
              <a:buAutoNum type="arabicPeriod"/>
            </a:pPr>
            <a:endParaRPr lang="en-US">
              <a:ea typeface="Calibri" panose="020F0502020204030204"/>
              <a:cs typeface="Calibri" panose="020F0502020204030204"/>
            </a:endParaRPr>
          </a:p>
          <a:p>
            <a:pPr>
              <a:buAutoNum type="arabicPeriod"/>
            </a:pPr>
            <a:endParaRPr lang="en-US">
              <a:ea typeface="Calibri" panose="020F0502020204030204"/>
              <a:cs typeface="Calibri" panose="020F0502020204030204"/>
            </a:endParaRPr>
          </a:p>
          <a:p>
            <a:pPr>
              <a:buAutoNum type="arabicPeriod"/>
            </a:pPr>
            <a:endParaRPr lang="en-US">
              <a:ea typeface="Calibri" panose="020F0502020204030204"/>
              <a:cs typeface="Calibri" panose="020F0502020204030204"/>
            </a:endParaRPr>
          </a:p>
          <a:p>
            <a:pPr>
              <a:buAutoNum type="arabicPeriod"/>
            </a:pPr>
            <a:endParaRPr lang="en-US">
              <a:ea typeface="Calibri" panose="020F0502020204030204"/>
              <a:cs typeface="Calibri" panose="020F0502020204030204"/>
            </a:endParaRPr>
          </a:p>
        </p:txBody>
      </p:sp>
    </p:spTree>
    <p:extLst>
      <p:ext uri="{BB962C8B-B14F-4D97-AF65-F5344CB8AC3E}">
        <p14:creationId xmlns:p14="http://schemas.microsoft.com/office/powerpoint/2010/main" val="4251684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237C-6B18-EF39-50D8-A3FF510D3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32B4C-8AC5-4BD3-6D04-F47688BE4EC6}"/>
              </a:ext>
            </a:extLst>
          </p:cNvPr>
          <p:cNvSpPr>
            <a:spLocks noGrp="1"/>
          </p:cNvSpPr>
          <p:nvPr>
            <p:ph type="title"/>
          </p:nvPr>
        </p:nvSpPr>
        <p:spPr/>
        <p:txBody>
          <a:bodyPr>
            <a:normAutofit/>
          </a:bodyPr>
          <a:lstStyle/>
          <a:p>
            <a:r>
              <a:rPr lang="en-US" sz="3200"/>
              <a:t>Misc. Requirements</a:t>
            </a:r>
            <a:endParaRPr lang="en-US" sz="3200">
              <a:ea typeface="Calibri"/>
              <a:cs typeface="Calibri"/>
            </a:endParaRPr>
          </a:p>
        </p:txBody>
      </p:sp>
      <p:sp>
        <p:nvSpPr>
          <p:cNvPr id="3" name="Content Placeholder 2">
            <a:extLst>
              <a:ext uri="{FF2B5EF4-FFF2-40B4-BE49-F238E27FC236}">
                <a16:creationId xmlns:a16="http://schemas.microsoft.com/office/drawing/2014/main" id="{D5E34576-A6E0-8F4D-2F88-EBE25AA04450}"/>
              </a:ext>
            </a:extLst>
          </p:cNvPr>
          <p:cNvSpPr>
            <a:spLocks noGrp="1"/>
          </p:cNvSpPr>
          <p:nvPr>
            <p:ph idx="10"/>
          </p:nvPr>
        </p:nvSpPr>
        <p:spPr/>
        <p:txBody>
          <a:bodyPr vert="horz" lIns="91440" tIns="45720" rIns="91440" bIns="45720" rtlCol="0" anchor="t">
            <a:normAutofit/>
          </a:bodyPr>
          <a:lstStyle/>
          <a:p>
            <a:pPr marL="457200" indent="-457200">
              <a:buAutoNum type="arabicPeriod"/>
            </a:pPr>
            <a:r>
              <a:rPr lang="en-US"/>
              <a:t>Remove existing referral for +/- $5 premium change.</a:t>
            </a:r>
          </a:p>
          <a:p>
            <a:pPr marL="457200" indent="-457200">
              <a:buAutoNum type="arabicPeriod"/>
            </a:pPr>
            <a:r>
              <a:rPr lang="en-US"/>
              <a:t>Enable display of MVR Points and MVR Status on Driver schedule screen (Similar to Fleet) for Internal users only.</a:t>
            </a:r>
            <a:endParaRPr lang="en-US">
              <a:ea typeface="Calibri" panose="020F0502020204030204"/>
              <a:cs typeface="Calibri" panose="020F0502020204030204"/>
            </a:endParaRPr>
          </a:p>
          <a:p>
            <a:pPr marL="457200" indent="-457200">
              <a:buAutoNum type="arabicPeriod"/>
            </a:pPr>
            <a:r>
              <a:rPr lang="en-US"/>
              <a:t>Change sequence of CAB &amp; RSS, IAT Losses and MVR Ordering at the time of renewal initiation. RSS has to be ordered last, since it is dependent on inputs from other integrations.</a:t>
            </a:r>
            <a:endParaRPr lang="en-US">
              <a:ea typeface="Calibri"/>
              <a:cs typeface="Calibri"/>
            </a:endParaRPr>
          </a:p>
          <a:p>
            <a:pPr marL="457200" indent="-457200">
              <a:buAutoNum type="arabicPeriod"/>
            </a:pPr>
            <a:r>
              <a:rPr lang="en-US"/>
              <a:t>Provide ability to flag individual policies for an UW review on next renewal. </a:t>
            </a:r>
          </a:p>
          <a:p>
            <a:pPr marL="914400" lvl="1"/>
            <a:r>
              <a:rPr lang="en-US"/>
              <a:t>Add field/questions on a screen, allowing UWs to update on information/endorse transaction, etc. May need reasons/text box for documentation.</a:t>
            </a:r>
            <a:endParaRPr lang="en-US">
              <a:ea typeface="Calibri" panose="020F0502020204030204"/>
              <a:cs typeface="Calibri" panose="020F0502020204030204"/>
            </a:endParaRPr>
          </a:p>
          <a:p>
            <a:pPr marL="457200">
              <a:buAutoNum type="arabicPeriod"/>
            </a:pPr>
            <a:r>
              <a:rPr lang="en-US">
                <a:ea typeface="Calibri" panose="020F0502020204030204"/>
                <a:cs typeface="Calibri" panose="020F0502020204030204"/>
              </a:rPr>
              <a:t>Currently Wholesale Agents have access to Renewals when they are in </a:t>
            </a:r>
            <a:r>
              <a:rPr lang="en-US" err="1">
                <a:ea typeface="Calibri" panose="020F0502020204030204"/>
                <a:cs typeface="Calibri" panose="020F0502020204030204"/>
              </a:rPr>
              <a:t>Inforce</a:t>
            </a:r>
            <a:r>
              <a:rPr lang="en-US">
                <a:ea typeface="Calibri" panose="020F0502020204030204"/>
                <a:cs typeface="Calibri" panose="020F0502020204030204"/>
              </a:rPr>
              <a:t>-Renew-Approved status. This needs to be updated to consider the holding renewals b/w 100 and 61 days</a:t>
            </a:r>
          </a:p>
          <a:p>
            <a:pPr marL="914400" lvl="1"/>
            <a:r>
              <a:rPr lang="en-US">
                <a:ea typeface="Calibri" panose="020F0502020204030204"/>
                <a:cs typeface="Calibri" panose="020F0502020204030204"/>
              </a:rPr>
              <a:t>A condition needs to be added, to allow agent access only when difference between Current System Date and Policy Expiration Date &lt;= 61 days</a:t>
            </a:r>
          </a:p>
          <a:p>
            <a:pPr marL="914400" lvl="1"/>
            <a:r>
              <a:rPr lang="en-US">
                <a:ea typeface="Calibri" panose="020F0502020204030204"/>
                <a:cs typeface="Calibri" panose="020F0502020204030204"/>
              </a:rPr>
              <a:t>Email notification and its trigger condition needs to be revisited </a:t>
            </a:r>
          </a:p>
          <a:p>
            <a:pPr marL="457200" indent="-457200">
              <a:buAutoNum type="arabicPeriod"/>
            </a:pPr>
            <a:r>
              <a:rPr lang="en-US">
                <a:ea typeface="Calibri" panose="020F0502020204030204"/>
                <a:cs typeface="Calibri" panose="020F0502020204030204"/>
              </a:rPr>
              <a:t>Need an indicator in Unity to track whether conditional renewal notice trigger was sent to </a:t>
            </a:r>
            <a:r>
              <a:rPr lang="en-US" err="1">
                <a:ea typeface="Calibri" panose="020F0502020204030204"/>
                <a:cs typeface="Calibri" panose="020F0502020204030204"/>
              </a:rPr>
              <a:t>Workview</a:t>
            </a:r>
            <a:r>
              <a:rPr lang="en-US">
                <a:ea typeface="Calibri" panose="020F0502020204030204"/>
                <a:cs typeface="Calibri" panose="020F0502020204030204"/>
              </a:rPr>
              <a:t> or not. This is to automate the conditional renewal notice when a policy fails at 100 days, goes to an UW and then comes back to the </a:t>
            </a:r>
            <a:r>
              <a:rPr lang="en-US" err="1">
                <a:ea typeface="Calibri" panose="020F0502020204030204"/>
                <a:cs typeface="Calibri" panose="020F0502020204030204"/>
              </a:rPr>
              <a:t>happ</a:t>
            </a:r>
            <a:r>
              <a:rPr lang="en-US">
                <a:ea typeface="Calibri" panose="020F0502020204030204"/>
                <a:cs typeface="Calibri" panose="020F0502020204030204"/>
              </a:rPr>
              <a:t>y path.</a:t>
            </a:r>
          </a:p>
          <a:p>
            <a:pPr marL="457200" indent="-457200">
              <a:buAutoNum type="arabicPeriod"/>
            </a:pPr>
            <a:endParaRPr lang="en-US">
              <a:ea typeface="Calibri" panose="020F0502020204030204"/>
              <a:cs typeface="Calibri" panose="020F0502020204030204"/>
            </a:endParaRPr>
          </a:p>
          <a:p>
            <a:pPr>
              <a:buAutoNum type="arabicPeriod"/>
            </a:pPr>
            <a:endParaRPr lang="en-US">
              <a:ea typeface="Calibri" panose="020F0502020204030204"/>
              <a:cs typeface="Calibri" panose="020F0502020204030204"/>
            </a:endParaRPr>
          </a:p>
          <a:p>
            <a:pPr>
              <a:buAutoNum type="arabicPeriod"/>
            </a:pPr>
            <a:endParaRPr lang="en-US">
              <a:ea typeface="Calibri" panose="020F0502020204030204"/>
              <a:cs typeface="Calibri" panose="020F0502020204030204"/>
            </a:endParaRPr>
          </a:p>
          <a:p>
            <a:pPr>
              <a:buAutoNum type="arabicPeriod"/>
            </a:pPr>
            <a:endParaRPr lang="en-US">
              <a:ea typeface="Calibri" panose="020F0502020204030204"/>
              <a:cs typeface="Calibri" panose="020F0502020204030204"/>
            </a:endParaRPr>
          </a:p>
        </p:txBody>
      </p:sp>
    </p:spTree>
    <p:extLst>
      <p:ext uri="{BB962C8B-B14F-4D97-AF65-F5344CB8AC3E}">
        <p14:creationId xmlns:p14="http://schemas.microsoft.com/office/powerpoint/2010/main" val="2028758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93566-2B9E-4E9E-BE2E-C1A05249DB9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1FB4BF1-97AA-487B-AFEA-075D0E9F8C0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48814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86CD-EB01-4587-8EEA-76195DD77F2D}"/>
              </a:ext>
            </a:extLst>
          </p:cNvPr>
          <p:cNvSpPr>
            <a:spLocks noGrp="1"/>
          </p:cNvSpPr>
          <p:nvPr>
            <p:ph type="title"/>
          </p:nvPr>
        </p:nvSpPr>
        <p:spPr/>
        <p:txBody>
          <a:bodyPr/>
          <a:lstStyle/>
          <a:p>
            <a:r>
              <a:rPr lang="en-US">
                <a:ea typeface="Calibri"/>
                <a:cs typeface="Calibri"/>
              </a:rPr>
              <a:t>Appendix</a:t>
            </a:r>
            <a:endParaRPr lang="en-US"/>
          </a:p>
        </p:txBody>
      </p:sp>
    </p:spTree>
    <p:extLst>
      <p:ext uri="{BB962C8B-B14F-4D97-AF65-F5344CB8AC3E}">
        <p14:creationId xmlns:p14="http://schemas.microsoft.com/office/powerpoint/2010/main" val="3599994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3B03-F05B-4BA6-A8E4-F06F65942EE7}"/>
              </a:ext>
            </a:extLst>
          </p:cNvPr>
          <p:cNvSpPr>
            <a:spLocks noGrp="1"/>
          </p:cNvSpPr>
          <p:nvPr>
            <p:ph type="title"/>
          </p:nvPr>
        </p:nvSpPr>
        <p:spPr>
          <a:xfrm>
            <a:off x="480724" y="293208"/>
            <a:ext cx="11341404" cy="867046"/>
          </a:xfrm>
        </p:spPr>
        <p:txBody>
          <a:bodyPr anchor="ctr">
            <a:normAutofit/>
          </a:bodyPr>
          <a:lstStyle/>
          <a:p>
            <a:r>
              <a:rPr lang="en-US"/>
              <a:t>Future State Process Flow – Happy Path</a:t>
            </a:r>
          </a:p>
        </p:txBody>
      </p:sp>
      <p:sp>
        <p:nvSpPr>
          <p:cNvPr id="33" name="TextBox 32">
            <a:extLst>
              <a:ext uri="{FF2B5EF4-FFF2-40B4-BE49-F238E27FC236}">
                <a16:creationId xmlns:a16="http://schemas.microsoft.com/office/drawing/2014/main" id="{06CACC0D-A81B-2CD6-98FC-A0E15E87D0C3}"/>
              </a:ext>
            </a:extLst>
          </p:cNvPr>
          <p:cNvSpPr txBox="1"/>
          <p:nvPr/>
        </p:nvSpPr>
        <p:spPr>
          <a:xfrm>
            <a:off x="383797" y="3824305"/>
            <a:ext cx="11610979" cy="1785104"/>
          </a:xfrm>
          <a:prstGeom prst="rect">
            <a:avLst/>
          </a:prstGeom>
          <a:noFill/>
        </p:spPr>
        <p:txBody>
          <a:bodyPr wrap="square" rtlCol="0">
            <a:spAutoFit/>
          </a:bodyPr>
          <a:lstStyle/>
          <a:p>
            <a:pPr>
              <a:spcBef>
                <a:spcPts val="600"/>
              </a:spcBef>
            </a:pPr>
            <a:r>
              <a:rPr lang="en-US" b="1">
                <a:solidFill>
                  <a:srgbClr val="1E355E"/>
                </a:solidFill>
              </a:rPr>
              <a:t>Recommendations:</a:t>
            </a:r>
          </a:p>
          <a:p>
            <a:pPr marL="285750" indent="-285750">
              <a:spcBef>
                <a:spcPts val="600"/>
              </a:spcBef>
              <a:buFont typeface="Arial" panose="020B0604020202020204" pitchFamily="34" charset="0"/>
              <a:buChar char="•"/>
            </a:pPr>
            <a:r>
              <a:rPr lang="en-US">
                <a:solidFill>
                  <a:srgbClr val="1E355E"/>
                </a:solidFill>
              </a:rPr>
              <a:t>Agent (WS) or AM (Retail) will be provided automated pricing guidance, allowing for rounding to nearest whole number</a:t>
            </a:r>
          </a:p>
          <a:p>
            <a:pPr marL="285750" indent="-285750">
              <a:spcBef>
                <a:spcPts val="600"/>
              </a:spcBef>
              <a:buFont typeface="Arial" panose="020B0604020202020204" pitchFamily="34" charset="0"/>
              <a:buChar char="•"/>
            </a:pPr>
            <a:r>
              <a:rPr lang="en-US">
                <a:solidFill>
                  <a:srgbClr val="1E355E"/>
                </a:solidFill>
              </a:rPr>
              <a:t>Conditional Renewal Notices will be sent on all renewals</a:t>
            </a:r>
          </a:p>
          <a:p>
            <a:pPr marL="285750" indent="-285750">
              <a:spcBef>
                <a:spcPts val="600"/>
              </a:spcBef>
              <a:buFont typeface="Arial" panose="020B0604020202020204" pitchFamily="34" charset="0"/>
              <a:buChar char="•"/>
            </a:pPr>
            <a:r>
              <a:rPr lang="en-US">
                <a:solidFill>
                  <a:srgbClr val="1E355E"/>
                </a:solidFill>
              </a:rPr>
              <a:t>RSS will be updated until bind</a:t>
            </a:r>
          </a:p>
          <a:p>
            <a:pPr marL="285750" indent="-285750">
              <a:spcBef>
                <a:spcPts val="600"/>
              </a:spcBef>
              <a:buFont typeface="Arial" panose="020B0604020202020204" pitchFamily="34" charset="0"/>
              <a:buChar char="•"/>
            </a:pPr>
            <a:endParaRPr lang="en-US">
              <a:solidFill>
                <a:srgbClr val="1E355E"/>
              </a:solidFill>
            </a:endParaRPr>
          </a:p>
        </p:txBody>
      </p:sp>
      <p:pic>
        <p:nvPicPr>
          <p:cNvPr id="35" name="Picture 34">
            <a:extLst>
              <a:ext uri="{FF2B5EF4-FFF2-40B4-BE49-F238E27FC236}">
                <a16:creationId xmlns:a16="http://schemas.microsoft.com/office/drawing/2014/main" id="{A5D4BA1F-F902-5B05-E182-D1529A5A6272}"/>
              </a:ext>
            </a:extLst>
          </p:cNvPr>
          <p:cNvPicPr>
            <a:picLocks noChangeAspect="1"/>
          </p:cNvPicPr>
          <p:nvPr/>
        </p:nvPicPr>
        <p:blipFill>
          <a:blip r:embed="rId3"/>
          <a:stretch>
            <a:fillRect/>
          </a:stretch>
        </p:blipFill>
        <p:spPr>
          <a:xfrm>
            <a:off x="80682" y="1267989"/>
            <a:ext cx="11822128" cy="1949560"/>
          </a:xfrm>
          <a:prstGeom prst="rect">
            <a:avLst/>
          </a:prstGeom>
        </p:spPr>
      </p:pic>
    </p:spTree>
    <p:extLst>
      <p:ext uri="{BB962C8B-B14F-4D97-AF65-F5344CB8AC3E}">
        <p14:creationId xmlns:p14="http://schemas.microsoft.com/office/powerpoint/2010/main" val="1752169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958D-9C28-F242-2ECD-F7AAED3F0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3D3B9-FFA9-7BC5-6227-4D9A6AB12665}"/>
              </a:ext>
            </a:extLst>
          </p:cNvPr>
          <p:cNvSpPr>
            <a:spLocks noGrp="1"/>
          </p:cNvSpPr>
          <p:nvPr>
            <p:ph type="title"/>
          </p:nvPr>
        </p:nvSpPr>
        <p:spPr>
          <a:xfrm>
            <a:off x="480724" y="293208"/>
            <a:ext cx="11341404" cy="867046"/>
          </a:xfrm>
        </p:spPr>
        <p:txBody>
          <a:bodyPr anchor="ctr">
            <a:normAutofit/>
          </a:bodyPr>
          <a:lstStyle/>
          <a:p>
            <a:r>
              <a:rPr lang="en-US"/>
              <a:t>Future State Process Flow – Alternative Path</a:t>
            </a:r>
          </a:p>
        </p:txBody>
      </p:sp>
      <p:sp>
        <p:nvSpPr>
          <p:cNvPr id="33" name="TextBox 32">
            <a:extLst>
              <a:ext uri="{FF2B5EF4-FFF2-40B4-BE49-F238E27FC236}">
                <a16:creationId xmlns:a16="http://schemas.microsoft.com/office/drawing/2014/main" id="{D769AE37-15BA-1DEC-E3B5-4693F109F0AD}"/>
              </a:ext>
            </a:extLst>
          </p:cNvPr>
          <p:cNvSpPr txBox="1"/>
          <p:nvPr/>
        </p:nvSpPr>
        <p:spPr>
          <a:xfrm>
            <a:off x="285757" y="4368844"/>
            <a:ext cx="11731337" cy="2062103"/>
          </a:xfrm>
          <a:prstGeom prst="rect">
            <a:avLst/>
          </a:prstGeom>
          <a:noFill/>
        </p:spPr>
        <p:txBody>
          <a:bodyPr wrap="square" rtlCol="0">
            <a:spAutoFit/>
          </a:bodyPr>
          <a:lstStyle/>
          <a:p>
            <a:pPr>
              <a:spcBef>
                <a:spcPts val="600"/>
              </a:spcBef>
            </a:pPr>
            <a:r>
              <a:rPr lang="en-US" b="1">
                <a:solidFill>
                  <a:srgbClr val="1E355E"/>
                </a:solidFill>
              </a:rPr>
              <a:t>Recommendations:</a:t>
            </a:r>
          </a:p>
          <a:p>
            <a:pPr marL="285750" indent="-285750">
              <a:spcBef>
                <a:spcPts val="600"/>
              </a:spcBef>
              <a:buFont typeface="Arial" panose="020B0604020202020204" pitchFamily="34" charset="0"/>
              <a:buChar char="•"/>
            </a:pPr>
            <a:r>
              <a:rPr lang="en-US">
                <a:solidFill>
                  <a:srgbClr val="1E355E"/>
                </a:solidFill>
              </a:rPr>
              <a:t>If, </a:t>
            </a:r>
            <a:r>
              <a:rPr lang="en-US" i="1">
                <a:solidFill>
                  <a:srgbClr val="1E355E"/>
                </a:solidFill>
              </a:rPr>
              <a:t>at any point in the process</a:t>
            </a:r>
            <a:r>
              <a:rPr lang="en-US">
                <a:solidFill>
                  <a:srgbClr val="1E355E"/>
                </a:solidFill>
              </a:rPr>
              <a:t>, a risk does not pass UW rules or meet DFM minimums, UW will review for acceptability and send back to Agent (WS) or AM (Retail) for completion if decision is made to move forward</a:t>
            </a:r>
          </a:p>
          <a:p>
            <a:pPr marL="742950" lvl="1" indent="-285750">
              <a:spcBef>
                <a:spcPts val="600"/>
              </a:spcBef>
              <a:buFont typeface="Arial" panose="020B0604020202020204" pitchFamily="34" charset="0"/>
              <a:buChar char="•"/>
            </a:pPr>
            <a:r>
              <a:rPr lang="en-US">
                <a:solidFill>
                  <a:srgbClr val="1E355E"/>
                </a:solidFill>
              </a:rPr>
              <a:t>Agent (WS) or AM (Retail) will receive visibility to rule(s) that failed</a:t>
            </a:r>
          </a:p>
          <a:p>
            <a:pPr marL="285750" indent="-285750">
              <a:spcBef>
                <a:spcPts val="600"/>
              </a:spcBef>
              <a:buFont typeface="Arial" panose="020B0604020202020204" pitchFamily="34" charset="0"/>
              <a:buChar char="•"/>
            </a:pPr>
            <a:r>
              <a:rPr lang="en-US">
                <a:solidFill>
                  <a:srgbClr val="1E355E"/>
                </a:solidFill>
              </a:rPr>
              <a:t>All Insured Notices will be handled by IAT via Oden – vs. Wholesale Agents using Wolters Kluwer</a:t>
            </a:r>
          </a:p>
          <a:p>
            <a:pPr marL="285750" indent="-285750">
              <a:spcBef>
                <a:spcPts val="600"/>
              </a:spcBef>
              <a:buFont typeface="Arial" panose="020B0604020202020204" pitchFamily="34" charset="0"/>
              <a:buChar char="•"/>
            </a:pPr>
            <a:r>
              <a:rPr lang="en-US">
                <a:solidFill>
                  <a:srgbClr val="1E355E"/>
                </a:solidFill>
              </a:rPr>
              <a:t>DFM approval path will be created to allow for adjustment via the collaboration path</a:t>
            </a:r>
          </a:p>
        </p:txBody>
      </p:sp>
      <p:pic>
        <p:nvPicPr>
          <p:cNvPr id="5" name="Picture 4">
            <a:extLst>
              <a:ext uri="{FF2B5EF4-FFF2-40B4-BE49-F238E27FC236}">
                <a16:creationId xmlns:a16="http://schemas.microsoft.com/office/drawing/2014/main" id="{F7C393A0-E547-F3F8-1F8F-E4752ABBF3F2}"/>
              </a:ext>
            </a:extLst>
          </p:cNvPr>
          <p:cNvPicPr>
            <a:picLocks noChangeAspect="1"/>
          </p:cNvPicPr>
          <p:nvPr/>
        </p:nvPicPr>
        <p:blipFill>
          <a:blip r:embed="rId3"/>
          <a:stretch>
            <a:fillRect/>
          </a:stretch>
        </p:blipFill>
        <p:spPr>
          <a:xfrm>
            <a:off x="369872" y="1160254"/>
            <a:ext cx="10744455" cy="2940950"/>
          </a:xfrm>
          <a:prstGeom prst="rect">
            <a:avLst/>
          </a:prstGeom>
        </p:spPr>
      </p:pic>
    </p:spTree>
    <p:extLst>
      <p:ext uri="{BB962C8B-B14F-4D97-AF65-F5344CB8AC3E}">
        <p14:creationId xmlns:p14="http://schemas.microsoft.com/office/powerpoint/2010/main" val="3514645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00E1-6507-79A2-A940-0984C6E795B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C02D1BE-7CCE-A392-93A4-FCE3D3C7F616}"/>
              </a:ext>
            </a:extLst>
          </p:cNvPr>
          <p:cNvSpPr>
            <a:spLocks noGrp="1"/>
          </p:cNvSpPr>
          <p:nvPr>
            <p:ph type="title"/>
          </p:nvPr>
        </p:nvSpPr>
        <p:spPr/>
        <p:txBody>
          <a:bodyPr>
            <a:normAutofit/>
          </a:bodyPr>
          <a:lstStyle/>
          <a:p>
            <a:r>
              <a:rPr lang="en-US" sz="3200"/>
              <a:t>Renewal List - Clarifications</a:t>
            </a:r>
          </a:p>
        </p:txBody>
      </p:sp>
      <p:sp>
        <p:nvSpPr>
          <p:cNvPr id="8" name="Content Placeholder 7">
            <a:extLst>
              <a:ext uri="{FF2B5EF4-FFF2-40B4-BE49-F238E27FC236}">
                <a16:creationId xmlns:a16="http://schemas.microsoft.com/office/drawing/2014/main" id="{2DCBEBBA-9826-2915-9466-426721C95EF4}"/>
              </a:ext>
            </a:extLst>
          </p:cNvPr>
          <p:cNvSpPr>
            <a:spLocks noGrp="1"/>
          </p:cNvSpPr>
          <p:nvPr>
            <p:ph idx="10"/>
          </p:nvPr>
        </p:nvSpPr>
        <p:spPr/>
        <p:txBody>
          <a:bodyPr vert="horz" lIns="91440" tIns="45720" rIns="91440" bIns="45720" rtlCol="0" anchor="t">
            <a:normAutofit fontScale="92500" lnSpcReduction="10000"/>
          </a:bodyPr>
          <a:lstStyle/>
          <a:p>
            <a:r>
              <a:rPr lang="en-US"/>
              <a:t>Are we using Standard # of days before expiration across all states and agency channels? </a:t>
            </a:r>
            <a:r>
              <a:rPr lang="en-US">
                <a:highlight>
                  <a:srgbClr val="FFFF00"/>
                </a:highlight>
              </a:rPr>
              <a:t>100 days</a:t>
            </a:r>
          </a:p>
          <a:p>
            <a:r>
              <a:rPr lang="en-US"/>
              <a:t>Business Definition for Streamline Renewal Eligibility:</a:t>
            </a:r>
          </a:p>
          <a:p>
            <a:pPr lvl="1"/>
            <a:r>
              <a:rPr lang="en-US"/>
              <a:t>What policy/transaction statuses qualify for the streamlined process? Below are the different statuses a policy could be in at the time of renewal</a:t>
            </a:r>
          </a:p>
          <a:p>
            <a:pPr lvl="2"/>
            <a:r>
              <a:rPr lang="en-US"/>
              <a:t>Cancel Pending- </a:t>
            </a:r>
            <a:r>
              <a:rPr lang="en-US">
                <a:highlight>
                  <a:srgbClr val="FFFF00"/>
                </a:highlight>
              </a:rPr>
              <a:t>N</a:t>
            </a:r>
            <a:endParaRPr lang="en-US">
              <a:highlight>
                <a:srgbClr val="FFFF00"/>
              </a:highlight>
              <a:ea typeface="Calibri"/>
              <a:cs typeface="Calibri"/>
            </a:endParaRPr>
          </a:p>
          <a:p>
            <a:pPr lvl="2"/>
            <a:r>
              <a:rPr lang="en-US"/>
              <a:t>Cancelled - </a:t>
            </a:r>
            <a:r>
              <a:rPr lang="en-US">
                <a:highlight>
                  <a:srgbClr val="FFFF00"/>
                </a:highlight>
              </a:rPr>
              <a:t>N</a:t>
            </a:r>
            <a:endParaRPr lang="en-US">
              <a:highlight>
                <a:srgbClr val="FFFF00"/>
              </a:highlight>
              <a:ea typeface="Calibri"/>
              <a:cs typeface="Calibri"/>
            </a:endParaRPr>
          </a:p>
          <a:p>
            <a:pPr lvl="2"/>
            <a:r>
              <a:rPr lang="en-US"/>
              <a:t>Expired (Past Exp Dt) - </a:t>
            </a:r>
            <a:r>
              <a:rPr lang="en-US">
                <a:highlight>
                  <a:srgbClr val="FFFF00"/>
                </a:highlight>
              </a:rPr>
              <a:t>N</a:t>
            </a:r>
            <a:endParaRPr lang="en-US">
              <a:highlight>
                <a:srgbClr val="FFFF00"/>
              </a:highlight>
              <a:ea typeface="Calibri"/>
              <a:cs typeface="Calibri"/>
            </a:endParaRPr>
          </a:p>
          <a:p>
            <a:pPr lvl="2"/>
            <a:r>
              <a:rPr lang="en-US"/>
              <a:t>Renewal already initiated (maybe manually) – </a:t>
            </a:r>
            <a:r>
              <a:rPr lang="en-US">
                <a:highlight>
                  <a:srgbClr val="FFFF00"/>
                </a:highlight>
              </a:rPr>
              <a:t>Y</a:t>
            </a:r>
            <a:endParaRPr lang="en-US">
              <a:highlight>
                <a:srgbClr val="FFFF00"/>
              </a:highlight>
              <a:ea typeface="Calibri"/>
              <a:cs typeface="Calibri"/>
            </a:endParaRPr>
          </a:p>
          <a:p>
            <a:pPr lvl="2"/>
            <a:r>
              <a:rPr lang="en-US"/>
              <a:t>Endorse Pending – </a:t>
            </a:r>
            <a:r>
              <a:rPr lang="en-US">
                <a:highlight>
                  <a:srgbClr val="FFFF00"/>
                </a:highlight>
              </a:rPr>
              <a:t>Y </a:t>
            </a:r>
          </a:p>
          <a:p>
            <a:pPr lvl="2"/>
            <a:r>
              <a:rPr lang="en-US"/>
              <a:t>BOR (Renewal change) - </a:t>
            </a:r>
            <a:r>
              <a:rPr lang="en-US">
                <a:highlight>
                  <a:srgbClr val="FFFF00"/>
                </a:highlight>
              </a:rPr>
              <a:t>Truck not using Renewal Change transaction, so would not be a valid business scenario</a:t>
            </a:r>
            <a:endParaRPr lang="en-US">
              <a:highlight>
                <a:srgbClr val="FFFF00"/>
              </a:highlight>
              <a:ea typeface="Calibri"/>
              <a:cs typeface="Calibri"/>
            </a:endParaRPr>
          </a:p>
          <a:p>
            <a:pPr lvl="2"/>
            <a:r>
              <a:rPr lang="en-US"/>
              <a:t>Non-Renewed - </a:t>
            </a:r>
            <a:r>
              <a:rPr lang="en-US">
                <a:highlight>
                  <a:srgbClr val="FFFF00"/>
                </a:highlight>
              </a:rPr>
              <a:t>N</a:t>
            </a:r>
            <a:endParaRPr lang="en-US">
              <a:highlight>
                <a:srgbClr val="FFFF00"/>
              </a:highlight>
              <a:ea typeface="Calibri"/>
              <a:cs typeface="Calibri"/>
            </a:endParaRPr>
          </a:p>
          <a:p>
            <a:pPr lvl="2"/>
            <a:r>
              <a:rPr lang="en-US"/>
              <a:t>Non-Fleet to Fleet– How will the system identify? </a:t>
            </a:r>
            <a:r>
              <a:rPr lang="en-US">
                <a:highlight>
                  <a:srgbClr val="FFFF00"/>
                </a:highlight>
              </a:rPr>
              <a:t>System will not have any identifiers to this</a:t>
            </a:r>
            <a:endParaRPr lang="en-US">
              <a:highlight>
                <a:srgbClr val="FFFF00"/>
              </a:highlight>
              <a:ea typeface="Calibri"/>
              <a:cs typeface="Calibri"/>
            </a:endParaRPr>
          </a:p>
          <a:p>
            <a:pPr lvl="1"/>
            <a:r>
              <a:rPr lang="en-US"/>
              <a:t>Policies overdue for renewal processing – is there any grace period, after which it is no longer eligible for streamlined processing?- </a:t>
            </a:r>
            <a:r>
              <a:rPr lang="en-US">
                <a:highlight>
                  <a:srgbClr val="FFFF00"/>
                </a:highlight>
              </a:rPr>
              <a:t>60 days AUW Rule – initiates the renewal irrespective of # of days to expiry, but kicks it off to the UW through the AUW rule</a:t>
            </a:r>
            <a:endParaRPr lang="en-US">
              <a:highlight>
                <a:srgbClr val="FFFF00"/>
              </a:highlight>
              <a:ea typeface="Calibri"/>
              <a:cs typeface="Calibri"/>
            </a:endParaRPr>
          </a:p>
          <a:p>
            <a:r>
              <a:rPr lang="en-US"/>
              <a:t>What type of visibility is needed to internal users (UW, Leadership) into this process? Specifically, if certain policies are considered not-eligible. </a:t>
            </a:r>
            <a:r>
              <a:rPr lang="en-US">
                <a:highlight>
                  <a:srgbClr val="FFFF00"/>
                </a:highlight>
              </a:rPr>
              <a:t>Preferably a dashboard </a:t>
            </a:r>
            <a:r>
              <a:rPr lang="en-US">
                <a:highlight>
                  <a:srgbClr val="FFFF00"/>
                </a:highlight>
                <a:ea typeface="+mn-lt"/>
                <a:cs typeface="+mn-lt"/>
              </a:rPr>
              <a:t>for UWs to track policies along the renewal process, i.e., past activity and present status</a:t>
            </a:r>
            <a:endParaRPr lang="en-US">
              <a:highlight>
                <a:srgbClr val="FFFF00"/>
              </a:highlight>
            </a:endParaRPr>
          </a:p>
          <a:p>
            <a:r>
              <a:rPr lang="en-US"/>
              <a:t>This Renewal list process does not fully replace the existing expiring list maintained by UWs.</a:t>
            </a:r>
            <a:endParaRPr lang="en-US">
              <a:ea typeface="Calibri"/>
              <a:cs typeface="Calibri"/>
            </a:endParaRPr>
          </a:p>
          <a:p>
            <a:pPr marL="0" indent="0">
              <a:buNone/>
            </a:pPr>
            <a:endParaRPr lang="en-US">
              <a:ea typeface="Calibri"/>
              <a:cs typeface="Calibri"/>
            </a:endParaRPr>
          </a:p>
          <a:p>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252039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026A2-E57F-7DEB-C755-4BC8328E344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5F1A198-C8C5-FC84-6D42-5F015F281D52}"/>
              </a:ext>
            </a:extLst>
          </p:cNvPr>
          <p:cNvSpPr>
            <a:spLocks noGrp="1"/>
          </p:cNvSpPr>
          <p:nvPr>
            <p:ph type="title"/>
          </p:nvPr>
        </p:nvSpPr>
        <p:spPr/>
        <p:txBody>
          <a:bodyPr>
            <a:normAutofit/>
          </a:bodyPr>
          <a:lstStyle/>
          <a:p>
            <a:r>
              <a:rPr lang="en-US" sz="3200"/>
              <a:t>Automated UW Rules - Clarifications</a:t>
            </a:r>
          </a:p>
        </p:txBody>
      </p:sp>
      <p:sp>
        <p:nvSpPr>
          <p:cNvPr id="8" name="Content Placeholder 7">
            <a:extLst>
              <a:ext uri="{FF2B5EF4-FFF2-40B4-BE49-F238E27FC236}">
                <a16:creationId xmlns:a16="http://schemas.microsoft.com/office/drawing/2014/main" id="{6C473F01-A8F7-191B-F1C9-201A0FFEC302}"/>
              </a:ext>
            </a:extLst>
          </p:cNvPr>
          <p:cNvSpPr>
            <a:spLocks noGrp="1"/>
          </p:cNvSpPr>
          <p:nvPr>
            <p:ph idx="10"/>
          </p:nvPr>
        </p:nvSpPr>
        <p:spPr/>
        <p:txBody>
          <a:bodyPr vert="horz" lIns="91440" tIns="45720" rIns="91440" bIns="45720" rtlCol="0" anchor="t">
            <a:normAutofit/>
          </a:bodyPr>
          <a:lstStyle/>
          <a:p>
            <a:r>
              <a:rPr lang="en-US"/>
              <a:t>Do we need an automated UW rule based on the policy expiring window? </a:t>
            </a:r>
            <a:r>
              <a:rPr lang="en-US">
                <a:highlight>
                  <a:srgbClr val="FFFF00"/>
                </a:highlight>
              </a:rPr>
              <a:t>Yes, at 60 days</a:t>
            </a:r>
            <a:r>
              <a:rPr lang="en-US"/>
              <a:t>.</a:t>
            </a:r>
          </a:p>
          <a:p>
            <a:pPr lvl="1"/>
            <a:r>
              <a:rPr lang="en-US"/>
              <a:t>This is for policies, that were put into the streamlined process after the 100-day window.</a:t>
            </a:r>
          </a:p>
          <a:p>
            <a:r>
              <a:rPr lang="en-US"/>
              <a:t>AUW rules must re-refer each year, Perpetual approval must not apply to them.</a:t>
            </a:r>
          </a:p>
          <a:p>
            <a:r>
              <a:rPr lang="en-US"/>
              <a:t>New AUW rules:</a:t>
            </a:r>
          </a:p>
          <a:p>
            <a:pPr lvl="1"/>
            <a:r>
              <a:rPr lang="en-US"/>
              <a:t>For Drivers 73+ years , then refer</a:t>
            </a:r>
            <a:endParaRPr lang="en-US">
              <a:ea typeface="Calibri"/>
              <a:cs typeface="Calibri"/>
            </a:endParaRPr>
          </a:p>
          <a:p>
            <a:pPr lvl="1"/>
            <a:r>
              <a:rPr lang="en-US">
                <a:ea typeface="Calibri"/>
                <a:cs typeface="Calibri"/>
              </a:rPr>
              <a:t>If Deregulation/Rule 15 is used on prior term, then refer</a:t>
            </a:r>
          </a:p>
          <a:p>
            <a:pPr lvl="1"/>
            <a:r>
              <a:rPr lang="en-US">
                <a:ea typeface="Calibri"/>
                <a:cs typeface="Calibri"/>
              </a:rPr>
              <a:t>PRS = CA and effective date &lt; 6/1/2027, then refer</a:t>
            </a:r>
            <a:endParaRPr lang="en-US"/>
          </a:p>
          <a:p>
            <a:pPr lvl="1"/>
            <a:r>
              <a:rPr lang="en-US">
                <a:ea typeface="Calibri" panose="020F0502020204030204"/>
                <a:cs typeface="Calibri" panose="020F0502020204030204"/>
              </a:rPr>
              <a:t>If prior term had Rule 15 or Deregulation, then refer</a:t>
            </a:r>
            <a:endParaRPr lang="en-US"/>
          </a:p>
          <a:p>
            <a:r>
              <a:rPr lang="en-US">
                <a:ea typeface="Calibri"/>
                <a:cs typeface="Calibri"/>
              </a:rPr>
              <a:t>When AUW rules or referrals or DFM fails and renewal is handed to UW – the associated messages for the failed rules must be displayed in Unity and </a:t>
            </a:r>
            <a:r>
              <a:rPr lang="en-US" err="1">
                <a:ea typeface="Calibri"/>
                <a:cs typeface="Calibri"/>
              </a:rPr>
              <a:t>Workview</a:t>
            </a:r>
            <a:r>
              <a:rPr lang="en-US">
                <a:ea typeface="Calibri"/>
                <a:cs typeface="Calibri"/>
              </a:rPr>
              <a:t>.</a:t>
            </a:r>
          </a:p>
          <a:p>
            <a:r>
              <a:rPr lang="en-US">
                <a:hlinkClick r:id="rId2"/>
              </a:rPr>
              <a:t>Automated UW Rules Draft v2025 12 04.xlsx</a:t>
            </a:r>
            <a:endParaRPr lang="en-US"/>
          </a:p>
          <a:p>
            <a:pPr marL="457200" lvl="1" indent="0">
              <a:buNone/>
            </a:pPr>
            <a:endParaRPr lang="en-US"/>
          </a:p>
          <a:p>
            <a:endParaRPr lang="en-US"/>
          </a:p>
          <a:p>
            <a:endParaRPr lang="en-US"/>
          </a:p>
          <a:p>
            <a:endParaRPr lang="en-US"/>
          </a:p>
          <a:p>
            <a:endParaRPr lang="en-US"/>
          </a:p>
        </p:txBody>
      </p:sp>
    </p:spTree>
    <p:extLst>
      <p:ext uri="{BB962C8B-B14F-4D97-AF65-F5344CB8AC3E}">
        <p14:creationId xmlns:p14="http://schemas.microsoft.com/office/powerpoint/2010/main" val="2895080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0EA45-DFA6-28BC-6194-5E5A14EE5B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17B775B-349F-A529-6325-84F9489EBBE1}"/>
              </a:ext>
            </a:extLst>
          </p:cNvPr>
          <p:cNvSpPr>
            <a:spLocks noGrp="1"/>
          </p:cNvSpPr>
          <p:nvPr>
            <p:ph type="title"/>
          </p:nvPr>
        </p:nvSpPr>
        <p:spPr/>
        <p:txBody>
          <a:bodyPr>
            <a:normAutofit/>
          </a:bodyPr>
          <a:lstStyle/>
          <a:p>
            <a:r>
              <a:rPr lang="en-US"/>
              <a:t>Pricing Guidance (DFM) Workflow - Clarifications</a:t>
            </a:r>
          </a:p>
        </p:txBody>
      </p:sp>
      <p:sp>
        <p:nvSpPr>
          <p:cNvPr id="8" name="Content Placeholder 7">
            <a:extLst>
              <a:ext uri="{FF2B5EF4-FFF2-40B4-BE49-F238E27FC236}">
                <a16:creationId xmlns:a16="http://schemas.microsoft.com/office/drawing/2014/main" id="{599A4F8B-E20A-748E-7801-E07EBA69ADC5}"/>
              </a:ext>
            </a:extLst>
          </p:cNvPr>
          <p:cNvSpPr>
            <a:spLocks noGrp="1"/>
          </p:cNvSpPr>
          <p:nvPr>
            <p:ph idx="10"/>
          </p:nvPr>
        </p:nvSpPr>
        <p:spPr/>
        <p:txBody>
          <a:bodyPr vert="horz" lIns="91440" tIns="45720" rIns="91440" bIns="45720" rtlCol="0" anchor="t">
            <a:normAutofit fontScale="85000" lnSpcReduction="20000"/>
          </a:bodyPr>
          <a:lstStyle/>
          <a:p>
            <a:pPr marL="457200" indent="-457200">
              <a:buAutoNum type="arabicPeriod"/>
            </a:pPr>
            <a:r>
              <a:rPr lang="en-US"/>
              <a:t>If recommended DFM is a credit? Should the system follow the same process? And do we force the users to apply it? </a:t>
            </a:r>
            <a:r>
              <a:rPr lang="en-US">
                <a:highlight>
                  <a:srgbClr val="FFFF00"/>
                </a:highlight>
              </a:rPr>
              <a:t>Same workflow for debit and credit</a:t>
            </a:r>
          </a:p>
          <a:p>
            <a:pPr marL="457200" indent="-457200">
              <a:buAutoNum type="arabicPeriod"/>
            </a:pPr>
            <a:r>
              <a:rPr lang="en-US"/>
              <a:t>Multi Location Scenario: Impacts Auto, not Cargo – </a:t>
            </a:r>
            <a:r>
              <a:rPr lang="en-US">
                <a:highlight>
                  <a:srgbClr val="FFFF00"/>
                </a:highlight>
              </a:rPr>
              <a:t>System will attempt same workflow as single location. Low frequency, so don’t need the additional system complexity.</a:t>
            </a:r>
            <a:endParaRPr lang="en-US">
              <a:highlight>
                <a:srgbClr val="FFFF00"/>
              </a:highlight>
              <a:ea typeface="Calibri"/>
              <a:cs typeface="Calibri"/>
            </a:endParaRPr>
          </a:p>
          <a:p>
            <a:pPr lvl="1"/>
            <a:r>
              <a:rPr lang="en-US"/>
              <a:t>Premium weightage could differ among states - Do we still apply the same Target DFM across the board? Or should there be any weighted logic? - </a:t>
            </a:r>
            <a:r>
              <a:rPr lang="en-US">
                <a:highlight>
                  <a:srgbClr val="FFFF00"/>
                </a:highlight>
              </a:rPr>
              <a:t>Same DFM across all locations, no premium weightage logic</a:t>
            </a:r>
            <a:endParaRPr lang="en-US">
              <a:highlight>
                <a:srgbClr val="FFFF00"/>
              </a:highlight>
              <a:ea typeface="Calibri"/>
              <a:cs typeface="Calibri"/>
            </a:endParaRPr>
          </a:p>
          <a:p>
            <a:pPr lvl="1"/>
            <a:r>
              <a:rPr lang="en-US"/>
              <a:t>State Limits could vary - Target DFM is based on Primary rating state, but some states may have a threshold that is lower than the target DFM, but other states don't. - </a:t>
            </a:r>
            <a:r>
              <a:rPr lang="en-US">
                <a:highlight>
                  <a:srgbClr val="FFFF00"/>
                </a:highlight>
              </a:rPr>
              <a:t>This would be a DFM not achievable scenario and must refer to UW.</a:t>
            </a:r>
            <a:endParaRPr lang="en-US">
              <a:highlight>
                <a:srgbClr val="FFFF00"/>
              </a:highlight>
              <a:ea typeface="Calibri"/>
              <a:cs typeface="Calibri"/>
            </a:endParaRPr>
          </a:p>
          <a:p>
            <a:pPr marL="0" indent="0">
              <a:buNone/>
            </a:pPr>
            <a:r>
              <a:rPr lang="en-US"/>
              <a:t>2. GL is excluded from the application of DFM - correct? </a:t>
            </a:r>
            <a:r>
              <a:rPr lang="en-US">
                <a:highlight>
                  <a:srgbClr val="FFFF00"/>
                </a:highlight>
              </a:rPr>
              <a:t>Yes</a:t>
            </a:r>
            <a:endParaRPr lang="en-US">
              <a:highlight>
                <a:srgbClr val="FFFF00"/>
              </a:highlight>
              <a:ea typeface="Calibri"/>
              <a:cs typeface="Calibri"/>
            </a:endParaRPr>
          </a:p>
          <a:p>
            <a:pPr marL="0" indent="0">
              <a:buNone/>
            </a:pPr>
            <a:r>
              <a:rPr lang="en-US"/>
              <a:t>3. At what point in the Quote process, do we stop running the DFM logic? Until Bind? </a:t>
            </a:r>
            <a:r>
              <a:rPr lang="en-US">
                <a:highlight>
                  <a:srgbClr val="FFFF00"/>
                </a:highlight>
              </a:rPr>
              <a:t>Run until Bind</a:t>
            </a:r>
            <a:endParaRPr lang="en-US">
              <a:highlight>
                <a:srgbClr val="FFFF00"/>
              </a:highlight>
              <a:ea typeface="Calibri"/>
              <a:cs typeface="Calibri"/>
            </a:endParaRPr>
          </a:p>
          <a:p>
            <a:pPr marL="0" indent="0">
              <a:buNone/>
            </a:pPr>
            <a:r>
              <a:rPr lang="en-US"/>
              <a:t>4. Recommendation to Users: Rating message, which will specify the total Scheduled Mod/IRPM that must be applied to each LOB. Do we need another independent rating message that enforces the min and max rate change? </a:t>
            </a:r>
            <a:r>
              <a:rPr lang="en-US">
                <a:highlight>
                  <a:srgbClr val="FFFF00"/>
                </a:highlight>
              </a:rPr>
              <a:t>Yes. We would also need to consider rounding issues and add some cushion (0.5%)</a:t>
            </a:r>
            <a:endParaRPr lang="en-US">
              <a:highlight>
                <a:srgbClr val="FFFF00"/>
              </a:highlight>
              <a:ea typeface="Calibri"/>
              <a:cs typeface="Calibri"/>
            </a:endParaRPr>
          </a:p>
          <a:p>
            <a:pPr lvl="1"/>
            <a:r>
              <a:rPr lang="en-US"/>
              <a:t>Wholesale Agents: Hard Stop rating message - </a:t>
            </a:r>
            <a:r>
              <a:rPr lang="en-US">
                <a:highlight>
                  <a:srgbClr val="FFFF00"/>
                </a:highlight>
              </a:rPr>
              <a:t>Will be forced to comply with the recommendation to move forward. For Debits, they can apply more than recommended, but not less.</a:t>
            </a:r>
            <a:endParaRPr lang="en-US">
              <a:highlight>
                <a:srgbClr val="FFFF00"/>
              </a:highlight>
              <a:ea typeface="Calibri"/>
              <a:cs typeface="Calibri"/>
            </a:endParaRPr>
          </a:p>
          <a:p>
            <a:pPr lvl="1"/>
            <a:r>
              <a:rPr lang="en-US"/>
              <a:t>Retail AMs : Informational message or Hard Stop, similar to agents? – </a:t>
            </a:r>
            <a:r>
              <a:rPr lang="en-US">
                <a:highlight>
                  <a:srgbClr val="FFFF00"/>
                </a:highlight>
              </a:rPr>
              <a:t>Hard stop</a:t>
            </a:r>
            <a:endParaRPr lang="en-US">
              <a:highlight>
                <a:srgbClr val="FFFF00"/>
              </a:highlight>
              <a:ea typeface="Calibri"/>
              <a:cs typeface="Calibri"/>
            </a:endParaRPr>
          </a:p>
          <a:p>
            <a:pPr lvl="1"/>
            <a:r>
              <a:rPr lang="en-US"/>
              <a:t>UWs: Informational message – </a:t>
            </a:r>
            <a:r>
              <a:rPr lang="en-US">
                <a:highlight>
                  <a:srgbClr val="FFFF00"/>
                </a:highlight>
              </a:rPr>
              <a:t>Yes</a:t>
            </a:r>
            <a:endParaRPr lang="en-US">
              <a:highlight>
                <a:srgbClr val="FFFF00"/>
              </a:highlight>
              <a:ea typeface="Calibri"/>
              <a:cs typeface="Calibri"/>
            </a:endParaRPr>
          </a:p>
          <a:p>
            <a:r>
              <a:rPr lang="en-US">
                <a:highlight>
                  <a:srgbClr val="FFFF00"/>
                </a:highlight>
              </a:rPr>
              <a:t>There could be a need to approve DFM, i.e., UW may need to deviate from recommended DFM, but that should not stop the agent from proceeding. </a:t>
            </a:r>
            <a:endParaRPr lang="en-US">
              <a:highlight>
                <a:srgbClr val="FFFF00"/>
              </a:highlight>
              <a:ea typeface="Calibri"/>
              <a:cs typeface="Calibri"/>
            </a:endParaRPr>
          </a:p>
          <a:p>
            <a:pPr lvl="1"/>
            <a:r>
              <a:rPr lang="en-US">
                <a:highlight>
                  <a:srgbClr val="FFFF00"/>
                </a:highlight>
              </a:rPr>
              <a:t>Could add a UI fields to display override, when used the DFM logic only looks at this value and the not the lookup table</a:t>
            </a:r>
            <a:endParaRPr lang="en-US">
              <a:highlight>
                <a:srgbClr val="FFFF00"/>
              </a:highlight>
              <a:ea typeface="Calibri"/>
              <a:cs typeface="Calibri"/>
            </a:endParaRPr>
          </a:p>
          <a:p>
            <a:pPr lvl="1"/>
            <a:r>
              <a:rPr lang="en-US">
                <a:highlight>
                  <a:srgbClr val="FFFF00"/>
                </a:highlight>
              </a:rPr>
              <a:t>The override must reset when segment changes to a better score and re-run system recommended DFM</a:t>
            </a:r>
            <a:endParaRPr lang="en-US">
              <a:highlight>
                <a:srgbClr val="FFFF00"/>
              </a:highlight>
              <a:ea typeface="Calibri"/>
              <a:cs typeface="Calibri"/>
            </a:endParaRPr>
          </a:p>
          <a:p>
            <a:pPr lvl="1"/>
            <a:r>
              <a:rPr lang="en-US">
                <a:highlight>
                  <a:srgbClr val="FFFF00"/>
                </a:highlight>
              </a:rPr>
              <a:t>Deregulation or Rule 15 maybe used – When they are used, DFM lookup must be disabled. Must refer in whenever segment changes in these situations, includes better or worse.</a:t>
            </a:r>
            <a:endParaRPr lang="en-US">
              <a:highlight>
                <a:srgbClr val="FFFF00"/>
              </a:highlight>
              <a:ea typeface="Calibri" panose="020F0502020204030204"/>
              <a:cs typeface="Calibri" panose="020F0502020204030204"/>
            </a:endParaRPr>
          </a:p>
          <a:p>
            <a:pPr marL="0" indent="0">
              <a:buNone/>
            </a:pPr>
            <a:endParaRPr lang="en-US">
              <a:highlight>
                <a:srgbClr val="FFFF00"/>
              </a:highlight>
              <a:ea typeface="Calibri" panose="020F0502020204030204"/>
              <a:cs typeface="Calibri" panose="020F0502020204030204"/>
            </a:endParaRPr>
          </a:p>
          <a:p>
            <a:pPr marL="0" indent="0">
              <a:buNone/>
            </a:pPr>
            <a:endParaRPr lang="en-US" sz="2500" i="1" u="sng">
              <a:ea typeface="Calibri"/>
              <a:cs typeface="Calibri"/>
            </a:endParaRPr>
          </a:p>
          <a:p>
            <a:pPr marL="0" indent="0">
              <a:buNone/>
            </a:pPr>
            <a:endParaRPr lang="en-US">
              <a:ea typeface="Calibri"/>
              <a:cs typeface="Calibri"/>
            </a:endParaRPr>
          </a:p>
          <a:p>
            <a:endParaRPr lang="en-US"/>
          </a:p>
          <a:p>
            <a:endParaRPr lang="en-US"/>
          </a:p>
          <a:p>
            <a:endParaRPr lang="en-US"/>
          </a:p>
        </p:txBody>
      </p:sp>
    </p:spTree>
    <p:extLst>
      <p:ext uri="{BB962C8B-B14F-4D97-AF65-F5344CB8AC3E}">
        <p14:creationId xmlns:p14="http://schemas.microsoft.com/office/powerpoint/2010/main" val="1846989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ED2B7-7182-265A-4D5B-E93E2C24E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CE144-B13D-43D6-E2A8-5E3B2AEDA110}"/>
              </a:ext>
            </a:extLst>
          </p:cNvPr>
          <p:cNvSpPr>
            <a:spLocks noGrp="1"/>
          </p:cNvSpPr>
          <p:nvPr>
            <p:ph type="title"/>
          </p:nvPr>
        </p:nvSpPr>
        <p:spPr/>
        <p:txBody>
          <a:bodyPr>
            <a:normAutofit/>
          </a:bodyPr>
          <a:lstStyle/>
          <a:p>
            <a:r>
              <a:rPr lang="en-US" sz="3200"/>
              <a:t>Pricing Guidance (DFM) - Existing Messages for Wholesale Agents</a:t>
            </a:r>
            <a:endParaRPr lang="en-US" sz="3200">
              <a:ea typeface="Calibri"/>
              <a:cs typeface="Calibri"/>
            </a:endParaRPr>
          </a:p>
        </p:txBody>
      </p:sp>
      <p:sp>
        <p:nvSpPr>
          <p:cNvPr id="8" name="Content Placeholder 7">
            <a:extLst>
              <a:ext uri="{FF2B5EF4-FFF2-40B4-BE49-F238E27FC236}">
                <a16:creationId xmlns:a16="http://schemas.microsoft.com/office/drawing/2014/main" id="{4D38523A-EEF3-A169-786F-EE8270A12F48}"/>
              </a:ext>
            </a:extLst>
          </p:cNvPr>
          <p:cNvSpPr>
            <a:spLocks noGrp="1"/>
          </p:cNvSpPr>
          <p:nvPr>
            <p:ph idx="10"/>
          </p:nvPr>
        </p:nvSpPr>
        <p:spPr>
          <a:xfrm>
            <a:off x="478130" y="1160254"/>
            <a:ext cx="11344002" cy="5523350"/>
          </a:xfrm>
        </p:spPr>
        <p:txBody>
          <a:bodyPr vert="horz" lIns="91440" tIns="45720" rIns="91440" bIns="45720" rtlCol="0" anchor="t">
            <a:normAutofit/>
          </a:bodyPr>
          <a:lstStyle/>
          <a:p>
            <a:pPr marL="0" indent="0">
              <a:buNone/>
            </a:pPr>
            <a:r>
              <a:rPr lang="en-US" sz="3400" b="1">
                <a:ea typeface="+mn-lt"/>
                <a:cs typeface="+mn-lt"/>
              </a:rPr>
              <a:t>Pricing authority is within State Limits: </a:t>
            </a:r>
            <a:endParaRPr lang="en-US" b="1">
              <a:ea typeface="Calibri"/>
              <a:cs typeface="Calibri"/>
            </a:endParaRPr>
          </a:p>
          <a:p>
            <a:r>
              <a:rPr lang="en-US" sz="3400">
                <a:ea typeface="+mn-lt"/>
                <a:cs typeface="+mn-lt"/>
              </a:rPr>
              <a:t>Informational: Your pricing authority for this account is between 21 and 40.</a:t>
            </a:r>
          </a:p>
          <a:p>
            <a:r>
              <a:rPr lang="en-US" sz="3400">
                <a:ea typeface="+mn-lt"/>
                <a:cs typeface="+mn-lt"/>
              </a:rPr>
              <a:t>Referral: You are outside your authority range of 21 to 40 for liability schedule mod for this account in AZ.  Please adjust your pricing to comply, otherwise, refer to your IAT underwriter to proceed.</a:t>
            </a:r>
            <a:endParaRPr lang="en-US">
              <a:ea typeface="Calibri"/>
              <a:cs typeface="Calibri"/>
            </a:endParaRPr>
          </a:p>
          <a:p>
            <a:pPr marL="0" indent="0">
              <a:buNone/>
            </a:pPr>
            <a:r>
              <a:rPr lang="en-US" sz="3400" b="1">
                <a:ea typeface="+mn-lt"/>
                <a:cs typeface="+mn-lt"/>
              </a:rPr>
              <a:t>Pricing authority is outside State Limits: </a:t>
            </a:r>
          </a:p>
          <a:p>
            <a:r>
              <a:rPr lang="en-US" sz="3400">
                <a:ea typeface="+mn-lt"/>
                <a:cs typeface="+mn-lt"/>
              </a:rPr>
              <a:t>Referral: You do not have any pricing authority for this account in AZ, please refer to an IAT underwriter to proceed.</a:t>
            </a:r>
            <a:endParaRPr lang="en-US" sz="2200">
              <a:ea typeface="Calibri" panose="020F0502020204030204"/>
              <a:cs typeface="Calibri" panose="020F0502020204030204"/>
            </a:endParaRPr>
          </a:p>
          <a:p>
            <a:endParaRPr lang="en-US" sz="3400">
              <a:solidFill>
                <a:srgbClr val="0070C0"/>
              </a:solidFill>
              <a:ea typeface="+mn-lt"/>
              <a:cs typeface="+mn-lt"/>
            </a:endParaRPr>
          </a:p>
        </p:txBody>
      </p:sp>
    </p:spTree>
    <p:extLst>
      <p:ext uri="{BB962C8B-B14F-4D97-AF65-F5344CB8AC3E}">
        <p14:creationId xmlns:p14="http://schemas.microsoft.com/office/powerpoint/2010/main" val="1185982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CDB97-A2E4-7290-99D0-CC03028A1C62}"/>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EB4DA430-15A6-F5B6-834B-1B65FAA7FAD0}"/>
              </a:ext>
            </a:extLst>
          </p:cNvPr>
          <p:cNvSpPr>
            <a:spLocks noGrp="1"/>
          </p:cNvSpPr>
          <p:nvPr>
            <p:ph idx="1"/>
          </p:nvPr>
        </p:nvSpPr>
        <p:spPr>
          <a:xfrm>
            <a:off x="480723" y="1613445"/>
            <a:ext cx="5462877" cy="3046847"/>
          </a:xfrm>
        </p:spPr>
        <p:txBody>
          <a:bodyPr>
            <a:normAutofit fontScale="92500" lnSpcReduction="20000"/>
          </a:bodyPr>
          <a:lstStyle/>
          <a:p>
            <a:r>
              <a:rPr lang="en-US"/>
              <a:t>Determines whether a specific user has the authority to perform a certain action within a specific transaction.</a:t>
            </a:r>
          </a:p>
          <a:p>
            <a:r>
              <a:rPr lang="en-US"/>
              <a:t>Rules are typically Policy/Transaction specific and User specific.</a:t>
            </a:r>
          </a:p>
          <a:p>
            <a:r>
              <a:rPr lang="en-US"/>
              <a:t>No ability to override or approve each referral rule. The entire policy/transaction is either approved/approved with changes/sent back.</a:t>
            </a:r>
          </a:p>
          <a:p>
            <a:r>
              <a:rPr lang="en-US"/>
              <a:t>Rules do not typically re-trigger for referral, if approved on the previous instance and none of the attributes have changed since the last approval.</a:t>
            </a:r>
          </a:p>
          <a:p>
            <a:endParaRPr lang="en-US"/>
          </a:p>
          <a:p>
            <a:endParaRPr lang="en-US"/>
          </a:p>
          <a:p>
            <a:endParaRPr lang="en-US"/>
          </a:p>
          <a:p>
            <a:endParaRPr lang="en-US"/>
          </a:p>
          <a:p>
            <a:endParaRPr lang="en-US"/>
          </a:p>
        </p:txBody>
      </p:sp>
      <p:sp>
        <p:nvSpPr>
          <p:cNvPr id="7" name="Title 6">
            <a:extLst>
              <a:ext uri="{FF2B5EF4-FFF2-40B4-BE49-F238E27FC236}">
                <a16:creationId xmlns:a16="http://schemas.microsoft.com/office/drawing/2014/main" id="{43FF9FAF-5FFC-39E7-CA6C-8A1D3126D7C4}"/>
              </a:ext>
            </a:extLst>
          </p:cNvPr>
          <p:cNvSpPr>
            <a:spLocks noGrp="1"/>
          </p:cNvSpPr>
          <p:nvPr>
            <p:ph type="title"/>
          </p:nvPr>
        </p:nvSpPr>
        <p:spPr/>
        <p:txBody>
          <a:bodyPr>
            <a:normAutofit/>
          </a:bodyPr>
          <a:lstStyle/>
          <a:p>
            <a:r>
              <a:rPr lang="en-US" sz="3200"/>
              <a:t>Automated UW Rules</a:t>
            </a:r>
          </a:p>
        </p:txBody>
      </p:sp>
      <p:sp>
        <p:nvSpPr>
          <p:cNvPr id="2" name="Content Placeholder 1">
            <a:extLst>
              <a:ext uri="{FF2B5EF4-FFF2-40B4-BE49-F238E27FC236}">
                <a16:creationId xmlns:a16="http://schemas.microsoft.com/office/drawing/2014/main" id="{3C6B3EEB-385C-E68A-C429-FF4AE5E06A6E}"/>
              </a:ext>
            </a:extLst>
          </p:cNvPr>
          <p:cNvSpPr>
            <a:spLocks noGrp="1"/>
          </p:cNvSpPr>
          <p:nvPr>
            <p:ph idx="10"/>
          </p:nvPr>
        </p:nvSpPr>
        <p:spPr>
          <a:xfrm>
            <a:off x="6359254" y="1613445"/>
            <a:ext cx="5462877" cy="3046847"/>
          </a:xfrm>
        </p:spPr>
        <p:txBody>
          <a:bodyPr>
            <a:normAutofit fontScale="92500" lnSpcReduction="10000"/>
          </a:bodyPr>
          <a:lstStyle/>
          <a:p>
            <a:r>
              <a:rPr lang="en-US"/>
              <a:t>Determines whether the policy is eligible for an automated workflow, i.e., handed off to the Wholesale Agent (or Retail AM) directly, without the need for an UW review.</a:t>
            </a:r>
          </a:p>
          <a:p>
            <a:r>
              <a:rPr lang="en-US"/>
              <a:t>Rules can be executed at the client level and span across transactions or terms.</a:t>
            </a:r>
          </a:p>
          <a:p>
            <a:r>
              <a:rPr lang="en-US"/>
              <a:t>Ability to override (skip in future year) or approve (re-run next year) each processing criteria.</a:t>
            </a:r>
          </a:p>
          <a:p>
            <a:r>
              <a:rPr lang="en-US"/>
              <a:t>Rules will re-trigger each year (unless overridden), irrespective of whether the attributes have changed or if previous instance was approved.</a:t>
            </a:r>
          </a:p>
        </p:txBody>
      </p:sp>
      <p:sp>
        <p:nvSpPr>
          <p:cNvPr id="3" name="Content Placeholder 2">
            <a:extLst>
              <a:ext uri="{FF2B5EF4-FFF2-40B4-BE49-F238E27FC236}">
                <a16:creationId xmlns:a16="http://schemas.microsoft.com/office/drawing/2014/main" id="{8BAF58A6-FF13-484A-60A2-E3743017A8B0}"/>
              </a:ext>
            </a:extLst>
          </p:cNvPr>
          <p:cNvSpPr>
            <a:spLocks noGrp="1"/>
          </p:cNvSpPr>
          <p:nvPr>
            <p:ph idx="11"/>
          </p:nvPr>
        </p:nvSpPr>
        <p:spPr>
          <a:xfrm>
            <a:off x="480722" y="1147018"/>
            <a:ext cx="5462877" cy="455539"/>
          </a:xfrm>
        </p:spPr>
        <p:txBody>
          <a:bodyPr/>
          <a:lstStyle/>
          <a:p>
            <a:r>
              <a:rPr lang="en-US"/>
              <a:t>Referrals</a:t>
            </a:r>
          </a:p>
        </p:txBody>
      </p:sp>
      <p:sp>
        <p:nvSpPr>
          <p:cNvPr id="4" name="Content Placeholder 3">
            <a:extLst>
              <a:ext uri="{FF2B5EF4-FFF2-40B4-BE49-F238E27FC236}">
                <a16:creationId xmlns:a16="http://schemas.microsoft.com/office/drawing/2014/main" id="{6A047CEB-1886-6D5D-AF62-AF7ACE54F3C6}"/>
              </a:ext>
            </a:extLst>
          </p:cNvPr>
          <p:cNvSpPr>
            <a:spLocks noGrp="1"/>
          </p:cNvSpPr>
          <p:nvPr>
            <p:ph idx="12"/>
          </p:nvPr>
        </p:nvSpPr>
        <p:spPr>
          <a:xfrm>
            <a:off x="6359254" y="1157905"/>
            <a:ext cx="5462877" cy="455540"/>
          </a:xfrm>
        </p:spPr>
        <p:txBody>
          <a:bodyPr/>
          <a:lstStyle/>
          <a:p>
            <a:r>
              <a:rPr lang="en-US"/>
              <a:t>Automated Processing Criteria</a:t>
            </a:r>
          </a:p>
        </p:txBody>
      </p:sp>
      <p:sp>
        <p:nvSpPr>
          <p:cNvPr id="6" name="Content Placeholder 1">
            <a:extLst>
              <a:ext uri="{FF2B5EF4-FFF2-40B4-BE49-F238E27FC236}">
                <a16:creationId xmlns:a16="http://schemas.microsoft.com/office/drawing/2014/main" id="{93422CCA-1F55-1550-08BA-172CBFEBD628}"/>
              </a:ext>
            </a:extLst>
          </p:cNvPr>
          <p:cNvSpPr txBox="1">
            <a:spLocks/>
          </p:cNvSpPr>
          <p:nvPr/>
        </p:nvSpPr>
        <p:spPr>
          <a:xfrm>
            <a:off x="480722" y="5373278"/>
            <a:ext cx="11341405" cy="1191514"/>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0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200150" indent="-28575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a:t>Documented Automated UW rules to be configured as Referral Rules. Existing referral rules should not be duplicated as processing criteria, unless there is a specific need for user override.</a:t>
            </a:r>
          </a:p>
          <a:p>
            <a:r>
              <a:rPr lang="en-US" sz="1900"/>
              <a:t>One of the Automated Processing Criteria would be for all the Referral Rules to pass.</a:t>
            </a:r>
          </a:p>
        </p:txBody>
      </p:sp>
      <p:sp>
        <p:nvSpPr>
          <p:cNvPr id="9" name="Content Placeholder 3">
            <a:extLst>
              <a:ext uri="{FF2B5EF4-FFF2-40B4-BE49-F238E27FC236}">
                <a16:creationId xmlns:a16="http://schemas.microsoft.com/office/drawing/2014/main" id="{C13CEB39-D5EF-760E-1FEB-AF934B4E9636}"/>
              </a:ext>
            </a:extLst>
          </p:cNvPr>
          <p:cNvSpPr txBox="1">
            <a:spLocks/>
          </p:cNvSpPr>
          <p:nvPr/>
        </p:nvSpPr>
        <p:spPr>
          <a:xfrm>
            <a:off x="480722" y="4789015"/>
            <a:ext cx="5462877" cy="455540"/>
          </a:xfrm>
          <a:prstGeom prst="rect">
            <a:avLst/>
          </a:prstGeom>
        </p:spPr>
        <p:txBody>
          <a:bodyPr vert="horz" lIns="91440" tIns="45720" rIns="91440" bIns="45720" rtlCol="0"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600" b="1" kern="1200">
                <a:solidFill>
                  <a:srgbClr val="0070C0"/>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200150" indent="-28575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Recommendation</a:t>
            </a:r>
          </a:p>
        </p:txBody>
      </p:sp>
    </p:spTree>
    <p:extLst>
      <p:ext uri="{BB962C8B-B14F-4D97-AF65-F5344CB8AC3E}">
        <p14:creationId xmlns:p14="http://schemas.microsoft.com/office/powerpoint/2010/main" val="1845327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1EA49-E272-11D6-D441-875E8EC82684}"/>
              </a:ext>
            </a:extLst>
          </p:cNvPr>
          <p:cNvSpPr>
            <a:spLocks noGrp="1"/>
          </p:cNvSpPr>
          <p:nvPr>
            <p:ph type="title"/>
          </p:nvPr>
        </p:nvSpPr>
        <p:spPr/>
        <p:txBody>
          <a:bodyPr/>
          <a:lstStyle/>
          <a:p>
            <a:r>
              <a:rPr lang="en-US"/>
              <a:t>Parking Lot	</a:t>
            </a:r>
          </a:p>
        </p:txBody>
      </p:sp>
      <p:sp>
        <p:nvSpPr>
          <p:cNvPr id="3" name="Content Placeholder 2">
            <a:extLst>
              <a:ext uri="{FF2B5EF4-FFF2-40B4-BE49-F238E27FC236}">
                <a16:creationId xmlns:a16="http://schemas.microsoft.com/office/drawing/2014/main" id="{493D4DC2-244B-2AD9-40E5-DBB5228DA30C}"/>
              </a:ext>
            </a:extLst>
          </p:cNvPr>
          <p:cNvSpPr>
            <a:spLocks noGrp="1"/>
          </p:cNvSpPr>
          <p:nvPr>
            <p:ph idx="10"/>
          </p:nvPr>
        </p:nvSpPr>
        <p:spPr/>
        <p:txBody>
          <a:bodyPr vert="horz" lIns="91440" tIns="45720" rIns="91440" bIns="45720" rtlCol="0" anchor="t">
            <a:normAutofit/>
          </a:bodyPr>
          <a:lstStyle/>
          <a:p>
            <a:r>
              <a:rPr lang="en-US">
                <a:ea typeface="Calibri"/>
                <a:cs typeface="Calibri"/>
              </a:rPr>
              <a:t>Multi-Policy situation (For e.g., TX </a:t>
            </a:r>
            <a:r>
              <a:rPr lang="en-US" err="1">
                <a:ea typeface="Calibri"/>
                <a:cs typeface="Calibri"/>
              </a:rPr>
              <a:t>Homestate</a:t>
            </a:r>
            <a:r>
              <a:rPr lang="en-US">
                <a:ea typeface="Calibri"/>
                <a:cs typeface="Calibri"/>
              </a:rPr>
              <a:t>/</a:t>
            </a:r>
            <a:r>
              <a:rPr lang="en-US" err="1">
                <a:ea typeface="Calibri"/>
                <a:cs typeface="Calibri"/>
              </a:rPr>
              <a:t>Occi</a:t>
            </a:r>
            <a:r>
              <a:rPr lang="en-US">
                <a:ea typeface="Calibri"/>
                <a:cs typeface="Calibri"/>
              </a:rPr>
              <a:t>)</a:t>
            </a:r>
            <a:endParaRPr lang="en-US"/>
          </a:p>
          <a:p>
            <a:pPr lvl="1"/>
            <a:r>
              <a:rPr lang="en-US">
                <a:ea typeface="Calibri"/>
                <a:cs typeface="Calibri"/>
              </a:rPr>
              <a:t>One policy is renewable and the other is not – how do we handle the renewal processing?</a:t>
            </a:r>
          </a:p>
          <a:p>
            <a:pPr lvl="1"/>
            <a:r>
              <a:rPr lang="en-US">
                <a:ea typeface="Calibri"/>
                <a:cs typeface="Calibri"/>
              </a:rPr>
              <a:t>One policy passes the rules and the other does not – how do we handle handing off to the agents?</a:t>
            </a:r>
          </a:p>
          <a:p>
            <a:r>
              <a:rPr lang="en-US">
                <a:ea typeface="Calibri"/>
                <a:cs typeface="Calibri"/>
              </a:rPr>
              <a:t>Dashboard for UWs to track renewal workflows:</a:t>
            </a:r>
          </a:p>
          <a:p>
            <a:pPr lvl="1"/>
            <a:r>
              <a:rPr lang="en-US">
                <a:ea typeface="Calibri"/>
                <a:cs typeface="Calibri"/>
              </a:rPr>
              <a:t>UWs needs visibility into the renewal process for each policy, i.e., past activity and present status to help them track their book of business and follow up as needed.</a:t>
            </a:r>
          </a:p>
          <a:p>
            <a:pPr lvl="1"/>
            <a:r>
              <a:rPr lang="en-US">
                <a:ea typeface="Calibri"/>
                <a:cs typeface="Calibri"/>
              </a:rPr>
              <a:t>Considerations:</a:t>
            </a:r>
          </a:p>
          <a:p>
            <a:pPr lvl="2">
              <a:buFont typeface="Wingdings" panose="020B0604020202020204" pitchFamily="34" charset="0"/>
              <a:buChar char="§"/>
            </a:pPr>
            <a:r>
              <a:rPr lang="en-US">
                <a:ea typeface="Calibri"/>
                <a:cs typeface="Calibri"/>
              </a:rPr>
              <a:t>SDM can support reporting based on the latest status on the policy, it cannot report the historical activity.</a:t>
            </a:r>
          </a:p>
          <a:p>
            <a:pPr lvl="2">
              <a:buFont typeface="Wingdings" panose="020B0604020202020204" pitchFamily="34" charset="0"/>
              <a:buChar char="§"/>
            </a:pPr>
            <a:r>
              <a:rPr lang="en-US" err="1">
                <a:ea typeface="Calibri"/>
                <a:cs typeface="Calibri"/>
              </a:rPr>
              <a:t>Workview</a:t>
            </a:r>
            <a:r>
              <a:rPr lang="en-US">
                <a:ea typeface="Calibri"/>
                <a:cs typeface="Calibri"/>
              </a:rPr>
              <a:t> Metrics are targeted towards providing insights into SLAs, workload, etc. It would not be able to provide any UW/Policy details.</a:t>
            </a:r>
          </a:p>
          <a:p>
            <a:r>
              <a:rPr lang="en-US">
                <a:ea typeface="Calibri"/>
                <a:cs typeface="Calibri"/>
              </a:rPr>
              <a:t>Business needs reporting around what rules failed or DFM pass/fail along the process. This must be associated to a stage within the process (1st processor run vs 2nd processor run vs Agent referred). This is critical for post-evaluation, to measure the project's success.</a:t>
            </a:r>
          </a:p>
          <a:p>
            <a:pPr lvl="1"/>
            <a:endParaRPr lang="en-US">
              <a:ea typeface="Calibri"/>
              <a:cs typeface="Calibri"/>
            </a:endParaRPr>
          </a:p>
          <a:p>
            <a:pPr lvl="1"/>
            <a:endParaRPr lang="en-US">
              <a:ea typeface="Calibri"/>
              <a:cs typeface="Calibri"/>
            </a:endParaRPr>
          </a:p>
        </p:txBody>
      </p:sp>
    </p:spTree>
    <p:extLst>
      <p:ext uri="{BB962C8B-B14F-4D97-AF65-F5344CB8AC3E}">
        <p14:creationId xmlns:p14="http://schemas.microsoft.com/office/powerpoint/2010/main" val="42106417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AT Corporate Slides - Simple Widescreen" id="{DBD3F497-B5D7-4463-8156-546DC0CF07E4}" vid="{FD1AEACB-87BB-4E09-A99B-2540CD07A5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057680D603D84FB0232239E4326063" ma:contentTypeVersion="11" ma:contentTypeDescription="Create a new document." ma:contentTypeScope="" ma:versionID="e902c68d151610fb27a9f7f2816a7e97">
  <xsd:schema xmlns:xsd="http://www.w3.org/2001/XMLSchema" xmlns:xs="http://www.w3.org/2001/XMLSchema" xmlns:p="http://schemas.microsoft.com/office/2006/metadata/properties" xmlns:ns2="5f0b7b56-6d3e-4b5c-8718-ab3343222333" xmlns:ns3="f3749382-d826-4130-b5d8-74a804420bff" targetNamespace="http://schemas.microsoft.com/office/2006/metadata/properties" ma:root="true" ma:fieldsID="b6fe9a3e270bc8904c21b34e9df82a73" ns2:_="" ns3:_="">
    <xsd:import namespace="5f0b7b56-6d3e-4b5c-8718-ab3343222333"/>
    <xsd:import namespace="f3749382-d826-4130-b5d8-74a804420b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0b7b56-6d3e-4b5c-8718-ab33432223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7786b31-1960-4fab-b74e-a78aa444aa6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749382-d826-4130-b5d8-74a804420bf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b9585e1-4cd4-480a-8c1d-5bab7d05d9a7}" ma:internalName="TaxCatchAll" ma:showField="CatchAllData" ma:web="f3749382-d826-4130-b5d8-74a804420bf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3749382-d826-4130-b5d8-74a804420bff" xsi:nil="true"/>
    <lcf76f155ced4ddcb4097134ff3c332f xmlns="5f0b7b56-6d3e-4b5c-8718-ab334322233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B40427-EAF1-4E68-B88D-AE2523831F5D}">
  <ds:schemaRefs>
    <ds:schemaRef ds:uri="5f0b7b56-6d3e-4b5c-8718-ab3343222333"/>
    <ds:schemaRef ds:uri="f3749382-d826-4130-b5d8-74a804420b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97A8F35-D1FE-478D-A3F8-CC62987ECF1B}">
  <ds:schemaRefs>
    <ds:schemaRef ds:uri="018a7939-61a0-43f6-93e7-130d068ab1df"/>
    <ds:schemaRef ds:uri="5f0b7b56-6d3e-4b5c-8718-ab3343222333"/>
    <ds:schemaRef ds:uri="f3749382-d826-4130-b5d8-74a804420b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EECCF4F-68DE-4E91-A5FB-E9E4964036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IAT Corporate Slides - Simple Widescreen</Template>
  <Application>Microsoft Office PowerPoint</Application>
  <PresentationFormat>Widescreen</PresentationFormat>
  <Slides>23</Slides>
  <Notes>2</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Unity Streamlined Renewals – Non-Fleet</vt:lpstr>
      <vt:lpstr>Goal &amp; Agenda</vt:lpstr>
      <vt:lpstr>Transaction Processor – Business Requirements</vt:lpstr>
      <vt:lpstr>Renewal List Identification – System Workflow</vt:lpstr>
      <vt:lpstr>Renewal List Identification – Business Requirements</vt:lpstr>
      <vt:lpstr>Automated Renewal UW Rules - Hierarchy</vt:lpstr>
      <vt:lpstr>Automated Renewal UW Rules – How Referral Behavior Changes</vt:lpstr>
      <vt:lpstr>Automated Renewal UW Rules - Business Requirements</vt:lpstr>
      <vt:lpstr>Pricing Guidance (DFM) - System Workflow</vt:lpstr>
      <vt:lpstr>Pricing Guidance (DFM) - Messaging to Users</vt:lpstr>
      <vt:lpstr>Retail Workflow – Deviations from Wholesale</vt:lpstr>
      <vt:lpstr>Unity to Downstream Data Mapping - Requirements</vt:lpstr>
      <vt:lpstr>Misc. Requirements</vt:lpstr>
      <vt:lpstr>PowerPoint Presentation</vt:lpstr>
      <vt:lpstr>Appendix</vt:lpstr>
      <vt:lpstr>Future State Process Flow – Happy Path</vt:lpstr>
      <vt:lpstr>Future State Process Flow – Alternative Path</vt:lpstr>
      <vt:lpstr>Renewal List - Clarifications</vt:lpstr>
      <vt:lpstr>Automated UW Rules - Clarifications</vt:lpstr>
      <vt:lpstr>Pricing Guidance (DFM) Workflow - Clarifications</vt:lpstr>
      <vt:lpstr>Pricing Guidance (DFM) - Existing Messages for Wholesale Agents</vt:lpstr>
      <vt:lpstr>Automated UW Rules</vt:lpstr>
      <vt:lpstr>Parking Lot </vt:lpstr>
    </vt:vector>
  </TitlesOfParts>
  <Company>IAT Insurance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Uday Gurrapadi</dc:creator>
  <cp:revision>3</cp:revision>
  <dcterms:created xsi:type="dcterms:W3CDTF">2026-03-04T16:34:50Z</dcterms:created>
  <dcterms:modified xsi:type="dcterms:W3CDTF">2026-04-27T10:58:53Z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0x01010073057680D603D84FB0232239E4326063</vt:lpwstr>
  </property>
  <property fmtid="{D5CDD505-2E9C-101B-9397-08002B2CF9AE}" pid="3" name="_dlc_DocIdItemGuid">
    <vt:lpwstr>f0ee98fd-4106-415f-9f55-a1b1860d7915</vt:lpwstr>
  </property>
  <property fmtid="{D5CDD505-2E9C-101B-9397-08002B2CF9AE}" pid="4" name="MediaServiceImageTags">
    <vt:lpwstr/>
  </property>
</Properties>
</file>